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we're 3D printing fingerboards — tiny skateboards for your fingers — with wheels that actually snap on and spin. Two days. The twist: the lab shows PICTURES of the blocks instead of sentence-by-sentence steps. Reading the screenshots carefully is the skill being taught. Day 1: variables and both axle assemblies. Day 2: deck, kicks, wheels, export. Deck spans both days; stop after the prediction slide on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beat: bubble wand done and exported — they know variables, math blocks, loops, and STL. Set the expectation change explicitly: this lab trusts them to read block screenshots the way a builder reads a blueprint. 'Almost right is worse than wrong' because it LOOKS done and fails quietly — a radius off by one prints a wheel that won't snap on. First debugging move all lab: diff your blocks against the picture, parameter by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with a payoff: every variable in the program is named for one of these words, so learning the anatomy IS learning the code. Ask your skaters to confirm the definitions — they'll take the floor happily, and it buys goodwill for the reading-heavy lab. The do-now already primed these words; this slide settles the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idea of the lesson: reuse. The wheel-end (torus pair plus slit boxes) is built once and copied to the axle's other side, then the whole front axle is copied to the rear, then the nose kick is copied and rotated into the tail. Ask: 'why not just build it twice?' — half the work, and one fix fixes both... but only if you fix BEFORE copying. That warning line pays for itself by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millimeters — fingerboard scale, so 60 mm is about the length of a AA battery and change. The table mirrors the lab's Set blocks exactly. The amber-highlighted 5.5 teaches the difference between a preference and a constraint: width and wheelbase are style choices; the wheel bore is an interface between two parts. That idea comes back in every engineering course they'll ever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Notebooks, two minutes, neighbor-check, reveal. The left card teaches that variables only control what they're wired to — wheelbase moves axles; deck length is a separate decision, and a stretched wheelbase under a short deck looks silly, which is a design conversation worth ten seconds. Then release to lab — 'understand your mission for today?' DAY 1 lab is steps 1–9: variables and both axle assemblies, checked against the axles preview at the wrap.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OPENER. Recap: axles done, checked against the preview — and the do-now already asked whether the tail kick gets built or copied (copied from the nose, rotated). The kick's rotation direction is today's sticking point: curved down like a scoop means the rotate went the wrong way; the preview screenshot settles it. The wheels-print-separately point is real manufacturing thinking — moving parts can't be born 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matches Turn It In exactly: the fingerboard .STL in Google Classroom. Rubric's 4: both assemblies with slits, kicks both ends, four separate wheels, and variables that genuinely drive dimensions. Tease the finale: the Spinning Top Battle drops all instructions — their design, size limits, one arena. Last one spinning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width · wheelbase · kick</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read</a:t>
            </a:r>
            <a:pPr algn="ctr" indent="0" marL="0">
              <a:buNone/>
            </a:pPr>
            <a:r>
              <a:rPr lang="en-US" sz="3800" b="1" dirty="0">
                <a:solidFill>
                  <a:srgbClr val="1B3A5C"/>
                </a:solidFill>
                <a:latin typeface="Courier New" pitchFamily="34" charset="0"/>
                <a:ea typeface="Courier New" pitchFamily="34" charset="-122"/>
                <a:cs typeface="Courier New" pitchFamily="34" charset="-120"/>
              </a:rPr>
              <a:t> → </a:t>
            </a:r>
            <a:pPr algn="ctr" indent="0" marL="0">
              <a:buNone/>
            </a:pPr>
            <a:r>
              <a:rPr lang="en-US" sz="3800" b="1" dirty="0">
                <a:solidFill>
                  <a:srgbClr val="3DDC84"/>
                </a:solidFill>
                <a:latin typeface="Courier New" pitchFamily="34" charset="0"/>
                <a:ea typeface="Courier New" pitchFamily="34" charset="-122"/>
                <a:cs typeface="Courier New" pitchFamily="34" charset="-120"/>
              </a:rPr>
              <a:t>build</a:t>
            </a:r>
            <a:pPr algn="ctr" indent="0" marL="0">
              <a:buNone/>
            </a:pPr>
            <a:r>
              <a:rPr lang="en-US" sz="3800" b="1" dirty="0">
                <a:solidFill>
                  <a:srgbClr val="1B3A5C"/>
                </a:solidFill>
                <a:latin typeface="Courier New" pitchFamily="34" charset="0"/>
                <a:ea typeface="Courier New" pitchFamily="34" charset="-122"/>
                <a:cs typeface="Courier New" pitchFamily="34" charset="-120"/>
              </a:rPr>
              <a:t> → </a:t>
            </a:r>
            <a:pPr algn="ctr" indent="0" marL="0">
              <a:buNone/>
            </a:pPr>
            <a:r>
              <a:rPr lang="en-US" sz="3800" b="1" dirty="0">
                <a:solidFill>
                  <a:srgbClr val="F4B740"/>
                </a:solidFill>
                <a:latin typeface="Courier New" pitchFamily="34" charset="0"/>
                <a:ea typeface="Courier New" pitchFamily="34" charset="-122"/>
                <a:cs typeface="Courier New" pitchFamily="34" charset="-120"/>
              </a:rPr>
              <a:t>shred</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sk8board Time!</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A 3D-printed fingerboard, programmed from scratch</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Computer Science 6  •  Tinkercad Codeblocks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training wheels come off</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lab shows you the blocks. Reading them is the work.</a:t>
            </a:r>
            <a:endParaRPr lang="en-US" sz="1700" dirty="0"/>
          </a:p>
        </p:txBody>
      </p:sp>
      <p:sp>
        <p:nvSpPr>
          <p:cNvPr id="4" name="Shape 2"/>
          <p:cNvSpPr/>
          <p:nvPr/>
        </p:nvSpPr>
        <p:spPr>
          <a:xfrm>
            <a:off x="640080" y="2011680"/>
            <a:ext cx="5394960" cy="3291840"/>
          </a:xfrm>
          <a:prstGeom prst="roundRect">
            <a:avLst>
              <a:gd name="adj" fmla="val 2222"/>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What you already own</a:t>
            </a:r>
            <a:endParaRPr lang="en-US" sz="1700" dirty="0"/>
          </a:p>
        </p:txBody>
      </p:sp>
      <p:sp>
        <p:nvSpPr>
          <p:cNvPr id="6" name="Text 4"/>
          <p:cNvSpPr/>
          <p:nvPr/>
        </p:nvSpPr>
        <p:spPr>
          <a:xfrm>
            <a:off x="914400" y="2651760"/>
            <a:ext cx="4846320" cy="246888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Variables and Set blocks. Math blocks. Rotate, Move, Group Selection. Holes that cut. Exporting .STL. Two finished builds' worth of skills.</a:t>
            </a:r>
            <a:endParaRPr lang="en-US" sz="1400" dirty="0"/>
          </a:p>
        </p:txBody>
      </p:sp>
      <p:sp>
        <p:nvSpPr>
          <p:cNvPr id="7" name="Shape 5"/>
          <p:cNvSpPr/>
          <p:nvPr/>
        </p:nvSpPr>
        <p:spPr>
          <a:xfrm>
            <a:off x="6400800" y="2011680"/>
            <a:ext cx="5394960" cy="3291840"/>
          </a:xfrm>
          <a:prstGeom prst="roundRect">
            <a:avLst>
              <a:gd name="adj" fmla="val 2222"/>
            </a:avLst>
          </a:prstGeom>
          <a:solidFill>
            <a:srgbClr val="FFFFFF"/>
          </a:solidFill>
          <a:ln w="12700">
            <a:solidFill>
              <a:srgbClr val="3DDC84"/>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What's new today</a:t>
            </a:r>
            <a:endParaRPr lang="en-US" sz="1700" dirty="0"/>
          </a:p>
        </p:txBody>
      </p:sp>
      <p:sp>
        <p:nvSpPr>
          <p:cNvPr id="9" name="Text 7"/>
          <p:cNvSpPr/>
          <p:nvPr/>
        </p:nvSpPr>
        <p:spPr>
          <a:xfrm>
            <a:off x="6675120" y="2651760"/>
            <a:ext cx="4846320" cy="246888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Instructions as screenshots: a picture of the blocks IS the step. Every parameter in the picture matters. Skimming builds a board that's almost right — which is worse than wrong.</a:t>
            </a:r>
            <a:endParaRPr lang="en-US" sz="1400" dirty="0"/>
          </a:p>
        </p:txBody>
      </p:sp>
      <p:sp>
        <p:nvSpPr>
          <p:cNvPr id="10" name="Text 8"/>
          <p:cNvSpPr/>
          <p:nvPr/>
        </p:nvSpPr>
        <p:spPr>
          <a:xfrm>
            <a:off x="640080" y="5577840"/>
            <a:ext cx="10972800" cy="50292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New tool on the belt: the Copy block. Build a part once, copy it everywhere it's needed.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Skateboard anatomy</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Real boards, real words. Yours is just smaller.</a:t>
            </a:r>
            <a:endParaRPr lang="en-US" sz="1700" dirty="0"/>
          </a:p>
        </p:txBody>
      </p:sp>
      <p:sp>
        <p:nvSpPr>
          <p:cNvPr id="4" name="Shape 2"/>
          <p:cNvSpPr/>
          <p:nvPr/>
        </p:nvSpPr>
        <p:spPr>
          <a:xfrm>
            <a:off x="640080" y="1920240"/>
            <a:ext cx="2651760" cy="640080"/>
          </a:xfrm>
          <a:prstGeom prst="roundRect">
            <a:avLst>
              <a:gd name="adj" fmla="val 11429"/>
            </a:avLst>
          </a:prstGeom>
          <a:solidFill>
            <a:srgbClr val="13324F"/>
          </a:solidFill>
          <a:ln/>
        </p:spPr>
      </p:sp>
      <p:sp>
        <p:nvSpPr>
          <p:cNvPr id="5" name="Text 3"/>
          <p:cNvSpPr/>
          <p:nvPr/>
        </p:nvSpPr>
        <p:spPr>
          <a:xfrm>
            <a:off x="640080" y="1920240"/>
            <a:ext cx="2651760" cy="640080"/>
          </a:xfrm>
          <a:prstGeom prst="rect">
            <a:avLst/>
          </a:prstGeom>
          <a:noFill/>
          <a:ln/>
        </p:spPr>
        <p:txBody>
          <a:bodyPr wrap="square" lIns="0" tIns="0" rIns="0" bIns="0" rtlCol="0" anchor="ctr"/>
          <a:lstStyle/>
          <a:p>
            <a:pPr algn="ctr" indent="0" marL="0">
              <a:buNone/>
            </a:pPr>
            <a:r>
              <a:rPr lang="en-US" sz="1800" b="1" dirty="0">
                <a:solidFill>
                  <a:srgbClr val="3DDC84"/>
                </a:solidFill>
                <a:latin typeface="Courier New" pitchFamily="34" charset="0"/>
                <a:ea typeface="Courier New" pitchFamily="34" charset="-122"/>
                <a:cs typeface="Courier New" pitchFamily="34" charset="-120"/>
              </a:rPr>
              <a:t>deck</a:t>
            </a:r>
            <a:endParaRPr lang="en-US" sz="1800" dirty="0"/>
          </a:p>
        </p:txBody>
      </p:sp>
      <p:sp>
        <p:nvSpPr>
          <p:cNvPr id="6" name="Text 4"/>
          <p:cNvSpPr/>
          <p:nvPr/>
        </p:nvSpPr>
        <p:spPr>
          <a:xfrm>
            <a:off x="3566160" y="1920240"/>
            <a:ext cx="8046720" cy="640080"/>
          </a:xfrm>
          <a:prstGeom prst="rect">
            <a:avLst/>
          </a:prstGeom>
          <a:noFill/>
          <a:ln/>
        </p:spPr>
        <p:txBody>
          <a:bodyPr wrap="square" lIns="0" tIns="0" rIns="0" bIns="0" rtlCol="0" anchor="ctr"/>
          <a:lstStyle/>
          <a:p>
            <a:pPr indent="0" marL="0">
              <a:buNone/>
            </a:pPr>
            <a:r>
              <a:rPr lang="en-US" sz="1500" dirty="0">
                <a:solidFill>
                  <a:srgbClr val="0A1F33"/>
                </a:solidFill>
                <a:latin typeface="Calibri" pitchFamily="34" charset="0"/>
                <a:ea typeface="Calibri" pitchFamily="34" charset="-122"/>
                <a:cs typeface="Calibri" pitchFamily="34" charset="-120"/>
              </a:rPr>
              <a:t>the board you stand on — ours is 60 mm of flat plus curved ends</a:t>
            </a:r>
            <a:endParaRPr lang="en-US" sz="1500" dirty="0"/>
          </a:p>
        </p:txBody>
      </p:sp>
      <p:sp>
        <p:nvSpPr>
          <p:cNvPr id="7" name="Shape 5"/>
          <p:cNvSpPr/>
          <p:nvPr/>
        </p:nvSpPr>
        <p:spPr>
          <a:xfrm>
            <a:off x="640080" y="2697480"/>
            <a:ext cx="2651760" cy="640080"/>
          </a:xfrm>
          <a:prstGeom prst="roundRect">
            <a:avLst>
              <a:gd name="adj" fmla="val 11429"/>
            </a:avLst>
          </a:prstGeom>
          <a:solidFill>
            <a:srgbClr val="13324F"/>
          </a:solidFill>
          <a:ln/>
        </p:spPr>
      </p:sp>
      <p:sp>
        <p:nvSpPr>
          <p:cNvPr id="8" name="Text 6"/>
          <p:cNvSpPr/>
          <p:nvPr/>
        </p:nvSpPr>
        <p:spPr>
          <a:xfrm>
            <a:off x="640080" y="2697480"/>
            <a:ext cx="2651760" cy="640080"/>
          </a:xfrm>
          <a:prstGeom prst="rect">
            <a:avLst/>
          </a:prstGeom>
          <a:noFill/>
          <a:ln/>
        </p:spPr>
        <p:txBody>
          <a:bodyPr wrap="square" lIns="0" tIns="0" rIns="0" bIns="0" rtlCol="0" anchor="ctr"/>
          <a:lstStyle/>
          <a:p>
            <a:pPr algn="ctr" indent="0" marL="0">
              <a:buNone/>
            </a:pPr>
            <a:r>
              <a:rPr lang="en-US" sz="1800" b="1" dirty="0">
                <a:solidFill>
                  <a:srgbClr val="3DDC84"/>
                </a:solidFill>
                <a:latin typeface="Courier New" pitchFamily="34" charset="0"/>
                <a:ea typeface="Courier New" pitchFamily="34" charset="-122"/>
                <a:cs typeface="Courier New" pitchFamily="34" charset="-120"/>
              </a:rPr>
              <a:t>kick</a:t>
            </a:r>
            <a:endParaRPr lang="en-US" sz="1800" dirty="0"/>
          </a:p>
        </p:txBody>
      </p:sp>
      <p:sp>
        <p:nvSpPr>
          <p:cNvPr id="9" name="Text 7"/>
          <p:cNvSpPr/>
          <p:nvPr/>
        </p:nvSpPr>
        <p:spPr>
          <a:xfrm>
            <a:off x="3566160" y="2697480"/>
            <a:ext cx="8046720" cy="640080"/>
          </a:xfrm>
          <a:prstGeom prst="rect">
            <a:avLst/>
          </a:prstGeom>
          <a:noFill/>
          <a:ln/>
        </p:spPr>
        <p:txBody>
          <a:bodyPr wrap="square" lIns="0" tIns="0" rIns="0" bIns="0" rtlCol="0" anchor="ctr"/>
          <a:lstStyle/>
          <a:p>
            <a:pPr indent="0" marL="0">
              <a:buNone/>
            </a:pPr>
            <a:r>
              <a:rPr lang="en-US" sz="1500" dirty="0">
                <a:solidFill>
                  <a:srgbClr val="0A1F33"/>
                </a:solidFill>
                <a:latin typeface="Calibri" pitchFamily="34" charset="0"/>
                <a:ea typeface="Calibri" pitchFamily="34" charset="-122"/>
                <a:cs typeface="Calibri" pitchFamily="34" charset="-120"/>
              </a:rPr>
              <a:t>the upward curve at nose and tail (that's how ollies happen)</a:t>
            </a:r>
            <a:endParaRPr lang="en-US" sz="1500" dirty="0"/>
          </a:p>
        </p:txBody>
      </p:sp>
      <p:sp>
        <p:nvSpPr>
          <p:cNvPr id="10" name="Shape 8"/>
          <p:cNvSpPr/>
          <p:nvPr/>
        </p:nvSpPr>
        <p:spPr>
          <a:xfrm>
            <a:off x="640080" y="3474720"/>
            <a:ext cx="2651760" cy="640080"/>
          </a:xfrm>
          <a:prstGeom prst="roundRect">
            <a:avLst>
              <a:gd name="adj" fmla="val 11429"/>
            </a:avLst>
          </a:prstGeom>
          <a:solidFill>
            <a:srgbClr val="13324F"/>
          </a:solidFill>
          <a:ln/>
        </p:spPr>
      </p:sp>
      <p:sp>
        <p:nvSpPr>
          <p:cNvPr id="11" name="Text 9"/>
          <p:cNvSpPr/>
          <p:nvPr/>
        </p:nvSpPr>
        <p:spPr>
          <a:xfrm>
            <a:off x="640080" y="3474720"/>
            <a:ext cx="2651760" cy="640080"/>
          </a:xfrm>
          <a:prstGeom prst="rect">
            <a:avLst/>
          </a:prstGeom>
          <a:noFill/>
          <a:ln/>
        </p:spPr>
        <p:txBody>
          <a:bodyPr wrap="square" lIns="0" tIns="0" rIns="0" bIns="0" rtlCol="0" anchor="ctr"/>
          <a:lstStyle/>
          <a:p>
            <a:pPr algn="ctr" indent="0" marL="0">
              <a:buNone/>
            </a:pPr>
            <a:r>
              <a:rPr lang="en-US" sz="1800" b="1" dirty="0">
                <a:solidFill>
                  <a:srgbClr val="3DDC84"/>
                </a:solidFill>
                <a:latin typeface="Courier New" pitchFamily="34" charset="0"/>
                <a:ea typeface="Courier New" pitchFamily="34" charset="-122"/>
                <a:cs typeface="Courier New" pitchFamily="34" charset="-120"/>
              </a:rPr>
              <a:t>truck</a:t>
            </a:r>
            <a:endParaRPr lang="en-US" sz="1800" dirty="0"/>
          </a:p>
        </p:txBody>
      </p:sp>
      <p:sp>
        <p:nvSpPr>
          <p:cNvPr id="12" name="Text 10"/>
          <p:cNvSpPr/>
          <p:nvPr/>
        </p:nvSpPr>
        <p:spPr>
          <a:xfrm>
            <a:off x="3566160" y="3474720"/>
            <a:ext cx="8046720" cy="640080"/>
          </a:xfrm>
          <a:prstGeom prst="rect">
            <a:avLst/>
          </a:prstGeom>
          <a:noFill/>
          <a:ln/>
        </p:spPr>
        <p:txBody>
          <a:bodyPr wrap="square" lIns="0" tIns="0" rIns="0" bIns="0" rtlCol="0" anchor="ctr"/>
          <a:lstStyle/>
          <a:p>
            <a:pPr indent="0" marL="0">
              <a:buNone/>
            </a:pPr>
            <a:r>
              <a:rPr lang="en-US" sz="1500" dirty="0">
                <a:solidFill>
                  <a:srgbClr val="0A1F33"/>
                </a:solidFill>
                <a:latin typeface="Calibri" pitchFamily="34" charset="0"/>
                <a:ea typeface="Calibri" pitchFamily="34" charset="-122"/>
                <a:cs typeface="Calibri" pitchFamily="34" charset="-120"/>
              </a:rPr>
              <a:t>the mount that bolts the axle to the deck</a:t>
            </a:r>
            <a:endParaRPr lang="en-US" sz="1500" dirty="0"/>
          </a:p>
        </p:txBody>
      </p:sp>
      <p:sp>
        <p:nvSpPr>
          <p:cNvPr id="13" name="Shape 11"/>
          <p:cNvSpPr/>
          <p:nvPr/>
        </p:nvSpPr>
        <p:spPr>
          <a:xfrm>
            <a:off x="640080" y="4251960"/>
            <a:ext cx="2651760" cy="640080"/>
          </a:xfrm>
          <a:prstGeom prst="roundRect">
            <a:avLst>
              <a:gd name="adj" fmla="val 11429"/>
            </a:avLst>
          </a:prstGeom>
          <a:solidFill>
            <a:srgbClr val="13324F"/>
          </a:solidFill>
          <a:ln/>
        </p:spPr>
      </p:sp>
      <p:sp>
        <p:nvSpPr>
          <p:cNvPr id="14" name="Text 12"/>
          <p:cNvSpPr/>
          <p:nvPr/>
        </p:nvSpPr>
        <p:spPr>
          <a:xfrm>
            <a:off x="640080" y="4251960"/>
            <a:ext cx="2651760" cy="640080"/>
          </a:xfrm>
          <a:prstGeom prst="rect">
            <a:avLst/>
          </a:prstGeom>
          <a:noFill/>
          <a:ln/>
        </p:spPr>
        <p:txBody>
          <a:bodyPr wrap="square" lIns="0" tIns="0" rIns="0" bIns="0" rtlCol="0" anchor="ctr"/>
          <a:lstStyle/>
          <a:p>
            <a:pPr algn="ctr" indent="0" marL="0">
              <a:buNone/>
            </a:pPr>
            <a:r>
              <a:rPr lang="en-US" sz="1800" b="1" dirty="0">
                <a:solidFill>
                  <a:srgbClr val="3DDC84"/>
                </a:solidFill>
                <a:latin typeface="Courier New" pitchFamily="34" charset="0"/>
                <a:ea typeface="Courier New" pitchFamily="34" charset="-122"/>
                <a:cs typeface="Courier New" pitchFamily="34" charset="-120"/>
              </a:rPr>
              <a:t>axle</a:t>
            </a:r>
            <a:endParaRPr lang="en-US" sz="1800" dirty="0"/>
          </a:p>
        </p:txBody>
      </p:sp>
      <p:sp>
        <p:nvSpPr>
          <p:cNvPr id="15" name="Text 13"/>
          <p:cNvSpPr/>
          <p:nvPr/>
        </p:nvSpPr>
        <p:spPr>
          <a:xfrm>
            <a:off x="3566160" y="4251960"/>
            <a:ext cx="8046720" cy="640080"/>
          </a:xfrm>
          <a:prstGeom prst="rect">
            <a:avLst/>
          </a:prstGeom>
          <a:noFill/>
          <a:ln/>
        </p:spPr>
        <p:txBody>
          <a:bodyPr wrap="square" lIns="0" tIns="0" rIns="0" bIns="0" rtlCol="0" anchor="ctr"/>
          <a:lstStyle/>
          <a:p>
            <a:pPr indent="0" marL="0">
              <a:buNone/>
            </a:pPr>
            <a:r>
              <a:rPr lang="en-US" sz="1500" dirty="0">
                <a:solidFill>
                  <a:srgbClr val="0A1F33"/>
                </a:solidFill>
                <a:latin typeface="Calibri" pitchFamily="34" charset="0"/>
                <a:ea typeface="Calibri" pitchFamily="34" charset="-122"/>
                <a:cs typeface="Calibri" pitchFamily="34" charset="-120"/>
              </a:rPr>
              <a:t>the rod the wheels spin on — ours gets slits so wheels snap on</a:t>
            </a:r>
            <a:endParaRPr lang="en-US" sz="1500" dirty="0"/>
          </a:p>
        </p:txBody>
      </p:sp>
      <p:sp>
        <p:nvSpPr>
          <p:cNvPr id="16" name="Shape 14"/>
          <p:cNvSpPr/>
          <p:nvPr/>
        </p:nvSpPr>
        <p:spPr>
          <a:xfrm>
            <a:off x="640080" y="5029200"/>
            <a:ext cx="2651760" cy="640080"/>
          </a:xfrm>
          <a:prstGeom prst="roundRect">
            <a:avLst>
              <a:gd name="adj" fmla="val 11429"/>
            </a:avLst>
          </a:prstGeom>
          <a:solidFill>
            <a:srgbClr val="13324F"/>
          </a:solidFill>
          <a:ln/>
        </p:spPr>
      </p:sp>
      <p:sp>
        <p:nvSpPr>
          <p:cNvPr id="17" name="Text 15"/>
          <p:cNvSpPr/>
          <p:nvPr/>
        </p:nvSpPr>
        <p:spPr>
          <a:xfrm>
            <a:off x="640080" y="5029200"/>
            <a:ext cx="2651760" cy="640080"/>
          </a:xfrm>
          <a:prstGeom prst="rect">
            <a:avLst/>
          </a:prstGeom>
          <a:noFill/>
          <a:ln/>
        </p:spPr>
        <p:txBody>
          <a:bodyPr wrap="square" lIns="0" tIns="0" rIns="0" bIns="0" rtlCol="0" anchor="ctr"/>
          <a:lstStyle/>
          <a:p>
            <a:pPr algn="ctr" indent="0" marL="0">
              <a:buNone/>
            </a:pPr>
            <a:r>
              <a:rPr lang="en-US" sz="1800" b="1" dirty="0">
                <a:solidFill>
                  <a:srgbClr val="3DDC84"/>
                </a:solidFill>
                <a:latin typeface="Courier New" pitchFamily="34" charset="0"/>
                <a:ea typeface="Courier New" pitchFamily="34" charset="-122"/>
                <a:cs typeface="Courier New" pitchFamily="34" charset="-120"/>
              </a:rPr>
              <a:t>wheelbase</a:t>
            </a:r>
            <a:endParaRPr lang="en-US" sz="1800" dirty="0"/>
          </a:p>
        </p:txBody>
      </p:sp>
      <p:sp>
        <p:nvSpPr>
          <p:cNvPr id="18" name="Text 16"/>
          <p:cNvSpPr/>
          <p:nvPr/>
        </p:nvSpPr>
        <p:spPr>
          <a:xfrm>
            <a:off x="3566160" y="5029200"/>
            <a:ext cx="8046720" cy="640080"/>
          </a:xfrm>
          <a:prstGeom prst="rect">
            <a:avLst/>
          </a:prstGeom>
          <a:noFill/>
          <a:ln/>
        </p:spPr>
        <p:txBody>
          <a:bodyPr wrap="square" lIns="0" tIns="0" rIns="0" bIns="0" rtlCol="0" anchor="ctr"/>
          <a:lstStyle/>
          <a:p>
            <a:pPr indent="0" marL="0">
              <a:buNone/>
            </a:pPr>
            <a:r>
              <a:rPr lang="en-US" sz="1500" dirty="0">
                <a:solidFill>
                  <a:srgbClr val="0A1F33"/>
                </a:solidFill>
                <a:latin typeface="Calibri" pitchFamily="34" charset="0"/>
                <a:ea typeface="Calibri" pitchFamily="34" charset="-122"/>
                <a:cs typeface="Calibri" pitchFamily="34" charset="-120"/>
              </a:rPr>
              <a:t>distance between front and rear axles — 45 mm on ours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Build one. Copy the rest.</a:t>
            </a:r>
            <a:endParaRPr lang="en-US" sz="3400" dirty="0"/>
          </a:p>
        </p:txBody>
      </p:sp>
      <p:sp>
        <p:nvSpPr>
          <p:cNvPr id="3" name="Text 1"/>
          <p:cNvSpPr/>
          <p:nvPr/>
        </p:nvSpPr>
        <p:spPr>
          <a:xfrm>
            <a:off x="0" y="2286000"/>
            <a:ext cx="12191695" cy="914400"/>
          </a:xfrm>
          <a:prstGeom prst="rect">
            <a:avLst/>
          </a:prstGeom>
          <a:noFill/>
          <a:ln/>
        </p:spPr>
        <p:txBody>
          <a:bodyPr wrap="square" lIns="0" tIns="0" rIns="0" bIns="0" rtlCol="0" anchor="ctr"/>
          <a:lstStyle/>
          <a:p>
            <a:pPr algn="ctr" indent="0" marL="0">
              <a:buNone/>
            </a:pPr>
            <a:r>
              <a:rPr lang="en-US" sz="3400" b="1" dirty="0">
                <a:solidFill>
                  <a:srgbClr val="3DDC84"/>
                </a:solidFill>
                <a:latin typeface="Courier New" pitchFamily="34" charset="0"/>
                <a:ea typeface="Courier New" pitchFamily="34" charset="-122"/>
                <a:cs typeface="Courier New" pitchFamily="34" charset="-120"/>
              </a:rPr>
              <a:t>wheel-end ×4   </a:t>
            </a:r>
            <a:pPr algn="ctr" indent="0" marL="0">
              <a:buNone/>
            </a:pPr>
            <a:r>
              <a:rPr lang="en-US" sz="3400" b="1" dirty="0">
                <a:solidFill>
                  <a:srgbClr val="F4B740"/>
                </a:solidFill>
                <a:latin typeface="Courier New" pitchFamily="34" charset="0"/>
                <a:ea typeface="Courier New" pitchFamily="34" charset="-122"/>
                <a:cs typeface="Courier New" pitchFamily="34" charset="-120"/>
              </a:rPr>
              <a:t>axle ×2   </a:t>
            </a:r>
            <a:pPr algn="ctr" indent="0" marL="0">
              <a:buNone/>
            </a:pPr>
            <a:r>
              <a:rPr lang="en-US" sz="3400" b="1" dirty="0">
                <a:solidFill>
                  <a:srgbClr val="FFFFFF"/>
                </a:solidFill>
                <a:latin typeface="Courier New" pitchFamily="34" charset="0"/>
                <a:ea typeface="Courier New" pitchFamily="34" charset="-122"/>
                <a:cs typeface="Courier New" pitchFamily="34" charset="-120"/>
              </a:rPr>
              <a:t>kick ×2</a:t>
            </a:r>
            <a:endParaRPr lang="en-US" sz="3400" dirty="0"/>
          </a:p>
        </p:txBody>
      </p:sp>
      <p:sp>
        <p:nvSpPr>
          <p:cNvPr id="4" name="Text 2"/>
          <p:cNvSpPr/>
          <p:nvPr/>
        </p:nvSpPr>
        <p:spPr>
          <a:xfrm>
            <a:off x="0" y="3566160"/>
            <a:ext cx="12191695" cy="457200"/>
          </a:xfrm>
          <a:prstGeom prst="rect">
            <a:avLst/>
          </a:prstGeom>
          <a:noFill/>
          <a:ln/>
        </p:spPr>
        <p:txBody>
          <a:bodyPr wrap="square" lIns="0" tIns="0" rIns="0" bIns="0" rtlCol="0" anchor="ctr"/>
          <a:lstStyle/>
          <a:p>
            <a:pPr algn="ctr" indent="0" marL="0">
              <a:buNone/>
            </a:pPr>
            <a:r>
              <a:rPr lang="en-US" sz="1800" dirty="0">
                <a:solidFill>
                  <a:srgbClr val="C7D2DC"/>
                </a:solidFill>
                <a:latin typeface="Calibri" pitchFamily="34" charset="0"/>
                <a:ea typeface="Calibri" pitchFamily="34" charset="-122"/>
                <a:cs typeface="Calibri" pitchFamily="34" charset="-120"/>
              </a:rPr>
              <a:t>Each of these is built exactly once. The Copy block places the rest.</a:t>
            </a:r>
            <a:endParaRPr lang="en-US" sz="1800" dirty="0"/>
          </a:p>
        </p:txBody>
      </p:sp>
      <p:sp>
        <p:nvSpPr>
          <p:cNvPr id="5" name="Text 3"/>
          <p:cNvSpPr/>
          <p:nvPr/>
        </p:nvSpPr>
        <p:spPr>
          <a:xfrm>
            <a:off x="0" y="4389120"/>
            <a:ext cx="12191695" cy="457200"/>
          </a:xfrm>
          <a:prstGeom prst="rect">
            <a:avLst/>
          </a:prstGeom>
          <a:noFill/>
          <a:ln/>
        </p:spPr>
        <p:txBody>
          <a:bodyPr wrap="square" lIns="0" tIns="0" rIns="0" bIns="0" rtlCol="0" anchor="ctr"/>
          <a:lstStyle/>
          <a:p>
            <a:pPr algn="ctr" indent="0" marL="0">
              <a:buNone/>
            </a:pPr>
            <a:r>
              <a:rPr lang="en-US" sz="1600" i="1" dirty="0">
                <a:solidFill>
                  <a:srgbClr val="5A6B7B"/>
                </a:solidFill>
                <a:latin typeface="Calibri" pitchFamily="34" charset="0"/>
                <a:ea typeface="Calibri" pitchFamily="34" charset="-122"/>
                <a:cs typeface="Calibri" pitchFamily="34" charset="-120"/>
              </a:rPr>
              <a:t>Fix first, copy second — a copy doesn't inherit repairs made after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Six numbers drive the board</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Set them first. Change them later to customize.</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6035040" cy="914400"/>
        </p:xfrm>
        <a:graphic>
          <a:graphicData uri="http://schemas.openxmlformats.org/drawingml/2006/table">
            <a:tbl>
              <a:tblPr/>
              <a:tblGrid>
                <a:gridCol w="3017520"/>
                <a:gridCol w="301752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variable</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47548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width</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20</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7548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deck length</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60</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7548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kick length</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7548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wheelbase</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45</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7548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wheel outer diameter</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75488">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wheel inner diameter</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400" b="1" dirty="0">
                          <a:solidFill>
                            <a:srgbClr val="0A1F33"/>
                          </a:solidFill>
                          <a:latin typeface="Courier New" pitchFamily="34" charset="0"/>
                          <a:ea typeface="Courier New" pitchFamily="34" charset="-122"/>
                          <a:cs typeface="Courier New" pitchFamily="34" charset="-120"/>
                        </a:rPr>
                        <a:t>5.5</a:t>
                      </a:r>
                      <a:endParaRPr lang="en-US" sz="14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r>
            </a:tbl>
          </a:graphicData>
        </a:graphic>
      </p:graphicFrame>
      <p:sp>
        <p:nvSpPr>
          <p:cNvPr id="5" name="Shape 2"/>
          <p:cNvSpPr/>
          <p:nvPr/>
        </p:nvSpPr>
        <p:spPr>
          <a:xfrm>
            <a:off x="7406640" y="2103120"/>
            <a:ext cx="4114800" cy="3566160"/>
          </a:xfrm>
          <a:prstGeom prst="roundRect">
            <a:avLst>
              <a:gd name="adj" fmla="val 2051"/>
            </a:avLst>
          </a:prstGeom>
          <a:solidFill>
            <a:srgbClr val="FFFFFF"/>
          </a:solidFill>
          <a:ln w="12700">
            <a:solidFill>
              <a:srgbClr val="C7D2DC"/>
            </a:solidFill>
            <a:prstDash val="solid"/>
          </a:ln>
        </p:spPr>
      </p:sp>
      <p:sp>
        <p:nvSpPr>
          <p:cNvPr id="6" name="Text 3"/>
          <p:cNvSpPr/>
          <p:nvPr/>
        </p:nvSpPr>
        <p:spPr>
          <a:xfrm>
            <a:off x="7680960" y="2286000"/>
            <a:ext cx="356616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Why 5.5 is highlighted</a:t>
            </a:r>
            <a:endParaRPr lang="en-US" sz="1700" dirty="0"/>
          </a:p>
        </p:txBody>
      </p:sp>
      <p:sp>
        <p:nvSpPr>
          <p:cNvPr id="7" name="Text 4"/>
          <p:cNvSpPr/>
          <p:nvPr/>
        </p:nvSpPr>
        <p:spPr>
          <a:xfrm>
            <a:off x="7680960" y="2743200"/>
            <a:ext cx="3566160" cy="2743200"/>
          </a:xfrm>
          <a:prstGeom prst="rect">
            <a:avLst/>
          </a:prstGeom>
          <a:noFill/>
          <a:ln/>
        </p:spPr>
        <p:txBody>
          <a:bodyPr wrap="square" lIns="0" tIns="0" rIns="0" bIns="0" rtlCol="0" anchor="t"/>
          <a:lstStyle/>
          <a:p>
            <a:pPr indent="0" marL="0">
              <a:buNone/>
            </a:pPr>
            <a:r>
              <a:rPr lang="en-US" sz="1350" dirty="0">
                <a:solidFill>
                  <a:srgbClr val="5A6B7B"/>
                </a:solidFill>
                <a:latin typeface="Calibri" pitchFamily="34" charset="0"/>
                <a:ea typeface="Calibri" pitchFamily="34" charset="-122"/>
                <a:cs typeface="Calibri" pitchFamily="34" charset="-120"/>
              </a:rPr>
              <a:t>The wheel's inner diameter must match the axle it snaps onto. Most of these numbers are taste. That one is a FIT — change it carelessly and the wheels won't snap 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Predict before you build.</a:t>
            </a:r>
            <a:endParaRPr lang="en-US" sz="1700" dirty="0"/>
          </a:p>
        </p:txBody>
      </p:sp>
      <p:sp>
        <p:nvSpPr>
          <p:cNvPr id="4" name="Shape 2"/>
          <p:cNvSpPr/>
          <p:nvPr/>
        </p:nvSpPr>
        <p:spPr>
          <a:xfrm>
            <a:off x="640080" y="2011680"/>
            <a:ext cx="5394960" cy="3566160"/>
          </a:xfrm>
          <a:prstGeom prst="roundRect">
            <a:avLst>
              <a:gd name="adj" fmla="val 2051"/>
            </a:avLst>
          </a:prstGeom>
          <a:solidFill>
            <a:srgbClr val="FFFFFF"/>
          </a:solidFill>
          <a:ln w="12700">
            <a:solidFill>
              <a:srgbClr val="C7D2DC"/>
            </a:solidFill>
            <a:prstDash val="solid"/>
          </a:ln>
        </p:spPr>
      </p:sp>
      <p:sp>
        <p:nvSpPr>
          <p:cNvPr id="5" name="Text 3"/>
          <p:cNvSpPr/>
          <p:nvPr/>
        </p:nvSpPr>
        <p:spPr>
          <a:xfrm>
            <a:off x="91440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Stretch the wheelbase</a:t>
            </a:r>
            <a:endParaRPr lang="en-US" sz="1700" dirty="0"/>
          </a:p>
        </p:txBody>
      </p:sp>
      <p:sp>
        <p:nvSpPr>
          <p:cNvPr id="6" name="Text 4"/>
          <p:cNvSpPr/>
          <p:nvPr/>
        </p:nvSpPr>
        <p:spPr>
          <a:xfrm>
            <a:off x="914400" y="2651760"/>
            <a:ext cx="4846320" cy="274320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wheelbase changes from 45 to 55.</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Which parts of the board move? Does the deck get longer on its own? Why or why not?</a:t>
            </a:r>
            <a:endParaRPr lang="en-US" sz="1400" dirty="0"/>
          </a:p>
        </p:txBody>
      </p:sp>
      <p:sp>
        <p:nvSpPr>
          <p:cNvPr id="7" name="Shape 5"/>
          <p:cNvSpPr/>
          <p:nvPr/>
        </p:nvSpPr>
        <p:spPr>
          <a:xfrm>
            <a:off x="6400800" y="2011680"/>
            <a:ext cx="5394960" cy="3566160"/>
          </a:xfrm>
          <a:prstGeom prst="roundRect">
            <a:avLst>
              <a:gd name="adj" fmla="val 2051"/>
            </a:avLst>
          </a:prstGeom>
          <a:solidFill>
            <a:srgbClr val="FFFFFF"/>
          </a:solidFill>
          <a:ln w="12700">
            <a:solidFill>
              <a:srgbClr val="C7D2DC"/>
            </a:solidFill>
            <a:prstDash val="solid"/>
          </a:ln>
        </p:spPr>
      </p:sp>
      <p:sp>
        <p:nvSpPr>
          <p:cNvPr id="8" name="Text 6"/>
          <p:cNvSpPr/>
          <p:nvPr/>
        </p:nvSpPr>
        <p:spPr>
          <a:xfrm>
            <a:off x="6675120" y="2194560"/>
            <a:ext cx="4846320" cy="4114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Count the builds</a:t>
            </a:r>
            <a:endParaRPr lang="en-US" sz="1700" dirty="0"/>
          </a:p>
        </p:txBody>
      </p:sp>
      <p:sp>
        <p:nvSpPr>
          <p:cNvPr id="9" name="Text 7"/>
          <p:cNvSpPr/>
          <p:nvPr/>
        </p:nvSpPr>
        <p:spPr>
          <a:xfrm>
            <a:off x="6675120" y="2651760"/>
            <a:ext cx="4846320" cy="2743200"/>
          </a:xfrm>
          <a:prstGeom prst="rect">
            <a:avLst/>
          </a:prstGeom>
          <a:noFill/>
          <a:ln/>
        </p:spPr>
        <p:txBody>
          <a:bodyPr wrap="square" lIns="0" tIns="0" rIns="0" bIns="0" rtlCol="0" anchor="t"/>
          <a:lstStyle/>
          <a:p>
            <a:pPr indent="0" marL="0">
              <a:buNone/>
            </a:pPr>
            <a:r>
              <a:rPr lang="en-US" sz="1400" dirty="0">
                <a:solidFill>
                  <a:srgbClr val="5A6B7B"/>
                </a:solidFill>
                <a:latin typeface="Calibri" pitchFamily="34" charset="0"/>
                <a:ea typeface="Calibri" pitchFamily="34" charset="-122"/>
                <a:cs typeface="Calibri" pitchFamily="34" charset="-120"/>
              </a:rPr>
              <a:t>The finished board shows 4 wheel-ends, 2 axles, and 2 kicks.</a:t>
            </a:r>
            <a:endParaRPr lang="en-US" sz="1400" dirty="0"/>
          </a:p>
          <a:p>
            <a:pPr indent="0" marL="0">
              <a:buNone/>
            </a:pPr>
            <a:endParaRPr lang="en-US" sz="1400" dirty="0"/>
          </a:p>
          <a:p>
            <a:pPr indent="0" marL="0">
              <a:buNone/>
            </a:pPr>
            <a:r>
              <a:rPr lang="en-US" sz="1400" dirty="0">
                <a:solidFill>
                  <a:srgbClr val="5A6B7B"/>
                </a:solidFill>
                <a:latin typeface="Calibri" pitchFamily="34" charset="0"/>
                <a:ea typeface="Calibri" pitchFamily="34" charset="-122"/>
                <a:cs typeface="Calibri" pitchFamily="34" charset="-120"/>
              </a:rPr>
              <a:t>How many of each did you actually build from raw shapes?</a:t>
            </a:r>
            <a:endParaRPr lang="en-US" sz="1400" dirty="0"/>
          </a:p>
        </p:txBody>
      </p:sp>
      <p:sp>
        <p:nvSpPr>
          <p:cNvPr id="10" name="Text 8"/>
          <p:cNvSpPr/>
          <p:nvPr/>
        </p:nvSpPr>
        <p:spPr>
          <a:xfrm>
            <a:off x="320040" y="5897880"/>
            <a:ext cx="11521440" cy="365760"/>
          </a:xfrm>
          <a:prstGeom prst="rect">
            <a:avLst/>
          </a:prstGeom>
          <a:noFill/>
          <a:ln/>
        </p:spPr>
        <p:txBody>
          <a:bodyPr wrap="square" lIns="0" tIns="0" rIns="0" bIns="0" rtlCol="0" anchor="ctr"/>
          <a:lstStyle/>
          <a:p>
            <a:pPr algn="ctr" indent="0" marL="0">
              <a:buNone/>
            </a:pPr>
            <a:r>
              <a:rPr lang="en-US" sz="1050" dirty="0">
                <a:solidFill>
                  <a:srgbClr val="5A6B7B"/>
                </a:solidFill>
                <a:latin typeface="Courier New" pitchFamily="34" charset="0"/>
                <a:ea typeface="Courier New" pitchFamily="34" charset="-122"/>
                <a:cs typeface="Courier New" pitchFamily="34" charset="-120"/>
              </a:rPr>
              <a:t>Answers: the two axle assemblies spread apart · the deck stays 60 until YOU change deck length · built once each — Copy did the rest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Day 2: deck, kicks, wheels, export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board comes together today.</a:t>
            </a:r>
            <a:endParaRPr lang="en-US" sz="1700" dirty="0"/>
          </a:p>
        </p:txBody>
      </p:sp>
      <p:sp>
        <p:nvSpPr>
          <p:cNvPr id="4" name="Shape 2"/>
          <p:cNvSpPr/>
          <p:nvPr/>
        </p:nvSpPr>
        <p:spPr>
          <a:xfrm>
            <a:off x="640080" y="1828800"/>
            <a:ext cx="502920" cy="502920"/>
          </a:xfrm>
          <a:prstGeom prst="roundRect">
            <a:avLst>
              <a:gd name="adj" fmla="val 10909"/>
            </a:avLst>
          </a:prstGeom>
          <a:solidFill>
            <a:srgbClr val="3DDC84"/>
          </a:solidFill>
          <a:ln/>
        </p:spPr>
      </p:sp>
      <p:sp>
        <p:nvSpPr>
          <p:cNvPr id="5" name="Text 3"/>
          <p:cNvSpPr/>
          <p:nvPr/>
        </p:nvSpPr>
        <p:spPr>
          <a:xfrm>
            <a:off x="640080" y="18288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1810512"/>
            <a:ext cx="2011680" cy="50292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Deck</a:t>
            </a:r>
            <a:endParaRPr lang="en-US" sz="1700" dirty="0"/>
          </a:p>
        </p:txBody>
      </p:sp>
      <p:sp>
        <p:nvSpPr>
          <p:cNvPr id="7" name="Text 5"/>
          <p:cNvSpPr/>
          <p:nvPr/>
        </p:nvSpPr>
        <p:spPr>
          <a:xfrm>
            <a:off x="3474720" y="1719072"/>
            <a:ext cx="8138160" cy="86868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The flat box, sized by width and deck length, moved on top of the trucks.</a:t>
            </a:r>
            <a:endParaRPr lang="en-US" sz="1350" dirty="0"/>
          </a:p>
        </p:txBody>
      </p:sp>
      <p:sp>
        <p:nvSpPr>
          <p:cNvPr id="8" name="Shape 6"/>
          <p:cNvSpPr/>
          <p:nvPr/>
        </p:nvSpPr>
        <p:spPr>
          <a:xfrm>
            <a:off x="640080" y="2880360"/>
            <a:ext cx="502920" cy="502920"/>
          </a:xfrm>
          <a:prstGeom prst="roundRect">
            <a:avLst>
              <a:gd name="adj" fmla="val 10909"/>
            </a:avLst>
          </a:prstGeom>
          <a:solidFill>
            <a:srgbClr val="3DDC84"/>
          </a:solidFill>
          <a:ln/>
        </p:spPr>
      </p:sp>
      <p:sp>
        <p:nvSpPr>
          <p:cNvPr id="9" name="Text 7"/>
          <p:cNvSpPr/>
          <p:nvPr/>
        </p:nvSpPr>
        <p:spPr>
          <a:xfrm>
            <a:off x="640080" y="28803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371600" y="2862072"/>
            <a:ext cx="2011680" cy="50292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Kicks</a:t>
            </a:r>
            <a:endParaRPr lang="en-US" sz="1700" dirty="0"/>
          </a:p>
        </p:txBody>
      </p:sp>
      <p:sp>
        <p:nvSpPr>
          <p:cNvPr id="11" name="Text 9"/>
          <p:cNvSpPr/>
          <p:nvPr/>
        </p:nvSpPr>
        <p:spPr>
          <a:xfrm>
            <a:off x="3474720" y="2770632"/>
            <a:ext cx="8138160" cy="86868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Build the nose kick — then Copy and rotate it around to make the tail. One build, two kicks.</a:t>
            </a:r>
            <a:endParaRPr lang="en-US" sz="1350" dirty="0"/>
          </a:p>
        </p:txBody>
      </p:sp>
      <p:sp>
        <p:nvSpPr>
          <p:cNvPr id="12" name="Shape 10"/>
          <p:cNvSpPr/>
          <p:nvPr/>
        </p:nvSpPr>
        <p:spPr>
          <a:xfrm>
            <a:off x="640080" y="3931920"/>
            <a:ext cx="502920" cy="502920"/>
          </a:xfrm>
          <a:prstGeom prst="roundRect">
            <a:avLst>
              <a:gd name="adj" fmla="val 10909"/>
            </a:avLst>
          </a:prstGeom>
          <a:solidFill>
            <a:srgbClr val="3DDC84"/>
          </a:solidFill>
          <a:ln/>
        </p:spPr>
      </p:sp>
      <p:sp>
        <p:nvSpPr>
          <p:cNvPr id="13" name="Text 11"/>
          <p:cNvSpPr/>
          <p:nvPr/>
        </p:nvSpPr>
        <p:spPr>
          <a:xfrm>
            <a:off x="640080" y="39319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371600" y="3913632"/>
            <a:ext cx="2011680" cy="50292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Wheels</a:t>
            </a:r>
            <a:endParaRPr lang="en-US" sz="1700" dirty="0"/>
          </a:p>
        </p:txBody>
      </p:sp>
      <p:sp>
        <p:nvSpPr>
          <p:cNvPr id="15" name="Text 13"/>
          <p:cNvSpPr/>
          <p:nvPr/>
        </p:nvSpPr>
        <p:spPr>
          <a:xfrm>
            <a:off x="3474720" y="3822192"/>
            <a:ext cx="8138160" cy="86868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Four tubes, placed BESIDE the board. They print as separate pieces and snap onto the axle slits.</a:t>
            </a:r>
            <a:endParaRPr lang="en-US" sz="1350" dirty="0"/>
          </a:p>
        </p:txBody>
      </p:sp>
      <p:sp>
        <p:nvSpPr>
          <p:cNvPr id="16" name="Shape 14"/>
          <p:cNvSpPr/>
          <p:nvPr/>
        </p:nvSpPr>
        <p:spPr>
          <a:xfrm>
            <a:off x="640080" y="4983480"/>
            <a:ext cx="502920" cy="502920"/>
          </a:xfrm>
          <a:prstGeom prst="roundRect">
            <a:avLst>
              <a:gd name="adj" fmla="val 10909"/>
            </a:avLst>
          </a:prstGeom>
          <a:solidFill>
            <a:srgbClr val="3DDC84"/>
          </a:solidFill>
          <a:ln/>
        </p:spPr>
      </p:sp>
      <p:sp>
        <p:nvSpPr>
          <p:cNvPr id="17" name="Text 15"/>
          <p:cNvSpPr/>
          <p:nvPr/>
        </p:nvSpPr>
        <p:spPr>
          <a:xfrm>
            <a:off x="640080" y="498348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371600" y="4965192"/>
            <a:ext cx="2011680" cy="50292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Export</a:t>
            </a:r>
            <a:endParaRPr lang="en-US" sz="1700" dirty="0"/>
          </a:p>
        </p:txBody>
      </p:sp>
      <p:sp>
        <p:nvSpPr>
          <p:cNvPr id="19" name="Text 17"/>
          <p:cNvSpPr/>
          <p:nvPr/>
        </p:nvSpPr>
        <p:spPr>
          <a:xfrm>
            <a:off x="3474720" y="4873752"/>
            <a:ext cx="8138160" cy="868680"/>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Play one last time, Share → .STL, submit in Google Classroom.</a:t>
            </a:r>
            <a:endParaRPr lang="en-US" sz="1350" dirty="0"/>
          </a:p>
        </p:txBody>
      </p:sp>
      <p:sp>
        <p:nvSpPr>
          <p:cNvPr id="20" name="Text 18"/>
          <p:cNvSpPr/>
          <p:nvPr/>
        </p:nvSpPr>
        <p:spPr>
          <a:xfrm>
            <a:off x="640080" y="5989320"/>
            <a:ext cx="10972800" cy="411480"/>
          </a:xfrm>
          <a:prstGeom prst="rect">
            <a:avLst/>
          </a:prstGeom>
          <a:noFill/>
          <a:ln/>
        </p:spPr>
        <p:txBody>
          <a:bodyPr wrap="square" lIns="0" tIns="0" rIns="0" bIns="0" rtlCol="0" anchor="ctr"/>
          <a:lstStyle/>
          <a:p>
            <a:pPr algn="ctr" indent="0" marL="0">
              <a:buNone/>
            </a:pPr>
            <a:r>
              <a:rPr lang="en-US" sz="1400" b="1" dirty="0">
                <a:solidFill>
                  <a:srgbClr val="0A1F33"/>
                </a:solidFill>
                <a:latin typeface="Calibri" pitchFamily="34" charset="0"/>
                <a:ea typeface="Calibri" pitchFamily="34" charset="-122"/>
                <a:cs typeface="Calibri" pitchFamily="34" charset="-120"/>
              </a:rPr>
              <a:t>Why separate wheels? Printed attached, they'd be fused solid. Separate pieces spin.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0584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194560"/>
            <a:ext cx="502920" cy="502920"/>
          </a:xfrm>
          <a:prstGeom prst="roundRect">
            <a:avLst>
              <a:gd name="adj" fmla="val 10909"/>
            </a:avLst>
          </a:prstGeom>
          <a:solidFill>
            <a:srgbClr val="3DDC84"/>
          </a:solidFill>
          <a:ln/>
        </p:spPr>
      </p:sp>
      <p:sp>
        <p:nvSpPr>
          <p:cNvPr id="4" name="Text 2"/>
          <p:cNvSpPr/>
          <p:nvPr/>
        </p:nvSpPr>
        <p:spPr>
          <a:xfrm>
            <a:off x="731520" y="21945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16712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Two complete axle-and-truck assemblies, a deck with a kick at each end, four separate wheels.</a:t>
            </a:r>
            <a:endParaRPr lang="en-US" sz="1600" dirty="0"/>
          </a:p>
        </p:txBody>
      </p:sp>
      <p:sp>
        <p:nvSpPr>
          <p:cNvPr id="6" name="Shape 4"/>
          <p:cNvSpPr/>
          <p:nvPr/>
        </p:nvSpPr>
        <p:spPr>
          <a:xfrm>
            <a:off x="731520" y="3108960"/>
            <a:ext cx="502920" cy="502920"/>
          </a:xfrm>
          <a:prstGeom prst="roundRect">
            <a:avLst>
              <a:gd name="adj" fmla="val 10909"/>
            </a:avLst>
          </a:prstGeom>
          <a:solidFill>
            <a:srgbClr val="3DDC84"/>
          </a:solidFill>
          <a:ln/>
        </p:spPr>
      </p:sp>
      <p:sp>
        <p:nvSpPr>
          <p:cNvPr id="7" name="Text 5"/>
          <p:cNvSpPr/>
          <p:nvPr/>
        </p:nvSpPr>
        <p:spPr>
          <a:xfrm>
            <a:off x="731520" y="31089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08152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Six variables in charge of the dimensions — change width and the board should follow.</a:t>
            </a:r>
            <a:endParaRPr lang="en-US" sz="1600" dirty="0"/>
          </a:p>
        </p:txBody>
      </p:sp>
      <p:sp>
        <p:nvSpPr>
          <p:cNvPr id="9" name="Shape 7"/>
          <p:cNvSpPr/>
          <p:nvPr/>
        </p:nvSpPr>
        <p:spPr>
          <a:xfrm>
            <a:off x="731520" y="4023360"/>
            <a:ext cx="502920" cy="502920"/>
          </a:xfrm>
          <a:prstGeom prst="roundRect">
            <a:avLst>
              <a:gd name="adj" fmla="val 10909"/>
            </a:avLst>
          </a:prstGeom>
          <a:solidFill>
            <a:srgbClr val="3DDC84"/>
          </a:solidFill>
          <a:ln/>
        </p:spPr>
      </p:sp>
      <p:sp>
        <p:nvSpPr>
          <p:cNvPr id="10" name="Text 8"/>
          <p:cNvSpPr/>
          <p:nvPr/>
        </p:nvSpPr>
        <p:spPr>
          <a:xfrm>
            <a:off x="731520" y="40233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399592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Turn it in: your fingerboard's .STL file, submitted in Google Classroom.</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no screenshots at all. Your own design — and a battle.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2026-08-19T15:28:16Z</dcterms:created>
  <dcterms:modified xsi:type="dcterms:W3CDTF">2026-08-19T15:28:16Z</dcterms:modified>
</cp:coreProperties>
</file>