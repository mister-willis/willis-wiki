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Bridge from extraction: same two skills as the last two labs — extract an algorithm from code, implement code from an algorithm — now applied to the two classic searches. Hook: finding a name in a phone book by reading page one onward works, eventually. Opening to the middle and throwing away half works a few hundred times faster. Deck spans two days: Day 1 through the guessing game; Day 2 opens on binary search's move.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extraction discipline as last lab, friendlier code. Push extractions toward the ALGORITHM (works for any list, any target) and away from the example ('look for 18'). Worth asking: what does this code do when the target ISN'T there? (Silently nothing — a wart students should notice and their binary search will fix tomorrow with an explicit not-found report.)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of Day 1 instruction. Play it live before showing the tiles: class guesses your number aloud, you answer higher/lower, someone counts guesses. Seven, every time, and the room knows why before you say 'binary.' Extract the halving idea from THEIR play — 'why did you all start at 50?' — then release to the linear-extraction lab.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DAY 2 OPENER. Recap the guessing game in one breath, then formalize: low/high fence the live region; middle is where you look; each comparison moves one fence PAST the middle. The ±1 matters — moving TO the middle instead of past it loops forever on missing targets. The while condition low &lt;= high (not &lt;) is the other classic slip; the practice trace catches both.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efficiency beat — AP CSP AAP-4.A's informal counting, made vivid. Have the class halve 1,000,000 on the board until it hits 1 (about 20 steps) so the number is earned, not asserted. Different correct algorithms for the same problem can differ THIS much — and this gap is why the next two labs exist: binary demands sorted data, so sorting had better be worth learning.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lab's warning callout, expanded. Confident nonsense on unsorted data is worse than an error — nothing tells you it's wrong. The italic line is the unit's next cliffhanger; the Day 2 wrap asks it cold and next lab answers it. Don't resolve it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quiet minutes, notebooks, then verify as a class. Trace for 18: low 0 high 6, middle 3 (12), go right; low 4 high 6, middle 5 (25), go left; low 4 high 4, middle 4 (18) — found, 3 comparisons. The target-10 trace lands the termination logic: low ends up greater than high, loop exits, not-found reports. Then release to implementation — the four test cases (first, last, middle, missing) are the mission.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Deliverables mirror Turn It In: the linear search algorithm in the notebook, and the binary search .py file, run and tested before submitting. Rubric's 4 requires the accurate extraction plus evidence of all four test cases. Tease: sorting introduction — students discover they already run a sorting algorithm every time they pick up a hand of cards.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5720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 → 50 → 25 → 13 → 7 → 4 → 2 →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0" y="1554480"/>
            <a:ext cx="12191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5A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linear</a:t>
            </a:r>
            <a:pPr algn="ctr" indent="0" marL="0">
              <a:buNone/>
            </a:pPr>
            <a:r>
              <a:rPr lang="en-US" sz="3800" b="1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·  </a:t>
            </a:r>
            <a:pPr algn="ctr" indent="0" marL="0">
              <a:buNone/>
            </a:pPr>
            <a:r>
              <a:rPr lang="en-US" sz="38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binary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0" y="2286000"/>
            <a:ext cx="121916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Search Algorithms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0" y="338328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ways to find a thing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0" y="585216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School Computer Science  •  Algorithms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Linear search: the code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to back, every item, no exceptions.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6583680" cy="2377440"/>
          </a:xfrm>
          <a:prstGeom prst="roundRect">
            <a:avLst>
              <a:gd name="adj" fmla="val 3077"/>
            </a:avLst>
          </a:prstGeom>
          <a:solidFill>
            <a:srgbClr val="13324F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176272"/>
            <a:ext cx="6035040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DFF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numbers = [12, 7, 25, 3, 18, 42, 9]</a:t>
            </a:r>
            <a:endParaRPr lang="en-US" sz="15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DFF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 = 18</a:t>
            </a:r>
            <a:endParaRPr lang="en-US" sz="1500" dirty="0"/>
          </a:p>
          <a:p>
            <a:pPr indent="0" marL="0">
              <a:lnSpc>
                <a:spcPts val="2100"/>
              </a:lnSpc>
              <a:buNone/>
            </a:pPr>
            <a:endParaRPr lang="en-US" sz="15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DFF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in range(len(numbers)):</a:t>
            </a:r>
            <a:endParaRPr lang="en-US" sz="15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DFF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numbers[i] == target:</a:t>
            </a:r>
            <a:endParaRPr lang="en-US" sz="15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DFF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print("Found at index", i)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589520" y="2011680"/>
            <a:ext cx="402336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21945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“linear”?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863840" y="2670048"/>
            <a:ext cx="347472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the list, double the work — time grows in a straight line with length. It's also the ONLY option when the list is in no particular order.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48463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job: extract this code's algorithm into numbered plain English — precise enough that someone who never saw the code could rewrite it.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guessing game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I'm thinking of a number from 1 to 100. Beat me.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85800" y="2286000"/>
            <a:ext cx="1234440" cy="1234440"/>
          </a:xfrm>
          <a:prstGeom prst="roundRect">
            <a:avLst>
              <a:gd name="adj" fmla="val 5926"/>
            </a:avLst>
          </a:prstGeom>
          <a:solidFill>
            <a:srgbClr val="13324F"/>
          </a:solidFill>
          <a:ln w="12700">
            <a:solidFill>
              <a:srgbClr val="1332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2395728"/>
            <a:ext cx="1234440" cy="641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874520" y="260604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103120" y="2286000"/>
            <a:ext cx="1234440" cy="1234440"/>
          </a:xfrm>
          <a:prstGeom prst="roundRect">
            <a:avLst>
              <a:gd name="adj" fmla="val 5926"/>
            </a:avLst>
          </a:prstGeom>
          <a:solidFill>
            <a:srgbClr val="13324F"/>
          </a:solidFill>
          <a:ln w="12700">
            <a:solidFill>
              <a:srgbClr val="13324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03120" y="2395728"/>
            <a:ext cx="1234440" cy="641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291840" y="260604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520440" y="2286000"/>
            <a:ext cx="1234440" cy="1234440"/>
          </a:xfrm>
          <a:prstGeom prst="roundRect">
            <a:avLst>
              <a:gd name="adj" fmla="val 5926"/>
            </a:avLst>
          </a:prstGeom>
          <a:solidFill>
            <a:srgbClr val="13324F"/>
          </a:solidFill>
          <a:ln w="12700">
            <a:solidFill>
              <a:srgbClr val="1332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0440" y="2395728"/>
            <a:ext cx="1234440" cy="641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709160" y="260604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937760" y="2286000"/>
            <a:ext cx="1234440" cy="1234440"/>
          </a:xfrm>
          <a:prstGeom prst="roundRect">
            <a:avLst>
              <a:gd name="adj" fmla="val 5926"/>
            </a:avLst>
          </a:prstGeom>
          <a:solidFill>
            <a:srgbClr val="13324F"/>
          </a:solidFill>
          <a:ln w="12700">
            <a:solidFill>
              <a:srgbClr val="13324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2395728"/>
            <a:ext cx="1234440" cy="641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126480" y="260604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355080" y="2286000"/>
            <a:ext cx="1234440" cy="1234440"/>
          </a:xfrm>
          <a:prstGeom prst="roundRect">
            <a:avLst>
              <a:gd name="adj" fmla="val 5926"/>
            </a:avLst>
          </a:prstGeom>
          <a:solidFill>
            <a:srgbClr val="13324F"/>
          </a:solidFill>
          <a:ln w="12700">
            <a:solidFill>
              <a:srgbClr val="13324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55080" y="2395728"/>
            <a:ext cx="1234440" cy="641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7543800" y="260604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772400" y="2286000"/>
            <a:ext cx="1234440" cy="1234440"/>
          </a:xfrm>
          <a:prstGeom prst="roundRect">
            <a:avLst>
              <a:gd name="adj" fmla="val 5926"/>
            </a:avLst>
          </a:prstGeom>
          <a:solidFill>
            <a:srgbClr val="13324F"/>
          </a:solidFill>
          <a:ln w="12700">
            <a:solidFill>
              <a:srgbClr val="13324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0" y="2395728"/>
            <a:ext cx="1234440" cy="641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8961120" y="260604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9189720" y="2286000"/>
            <a:ext cx="1234440" cy="1234440"/>
          </a:xfrm>
          <a:prstGeom prst="roundRect">
            <a:avLst>
              <a:gd name="adj" fmla="val 5926"/>
            </a:avLst>
          </a:prstGeom>
          <a:solidFill>
            <a:srgbClr val="13324F"/>
          </a:solidFill>
          <a:ln w="12700">
            <a:solidFill>
              <a:srgbClr val="13324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89720" y="2395728"/>
            <a:ext cx="1234440" cy="641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10378440" y="260604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0607040" y="2286000"/>
            <a:ext cx="1234440" cy="1234440"/>
          </a:xfrm>
          <a:prstGeom prst="roundRect">
            <a:avLst>
              <a:gd name="adj" fmla="val 5926"/>
            </a:avLst>
          </a:prstGeom>
          <a:solidFill>
            <a:srgbClr val="13324F"/>
          </a:solidFill>
          <a:ln w="12700">
            <a:solidFill>
              <a:srgbClr val="13324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607040" y="2395728"/>
            <a:ext cx="1234440" cy="641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640080" y="402336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Guess the middle. Every “higher” or “lower” throws away half of what's left.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guesses always suffice for 100 numbers — count the tiles.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640080" y="51206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have played this. You already know the algorithm. Today it gets a name.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Binary search's move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Halve. Compare. Discard. Repeat.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31520" y="2011680"/>
            <a:ext cx="548640" cy="548640"/>
          </a:xfrm>
          <a:prstGeom prst="roundRect">
            <a:avLst>
              <a:gd name="adj" fmla="val 10000"/>
            </a:avLst>
          </a:prstGeom>
          <a:solidFill>
            <a:srgbClr val="3DDC84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554480" y="1993392"/>
            <a:ext cx="3108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low and high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846320" y="1993392"/>
            <a:ext cx="7040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first and last indexes of a SORTED list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31520" y="2926080"/>
            <a:ext cx="548640" cy="548640"/>
          </a:xfrm>
          <a:prstGeom prst="roundRect">
            <a:avLst>
              <a:gd name="adj" fmla="val 10000"/>
            </a:avLst>
          </a:prstGeom>
          <a:solidFill>
            <a:srgbClr val="3DDC84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926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554480" y="2907792"/>
            <a:ext cx="3108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middle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46320" y="2907792"/>
            <a:ext cx="7040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middle = (low + high) // 2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31520" y="3840480"/>
            <a:ext cx="548640" cy="548640"/>
          </a:xfrm>
          <a:prstGeom prst="roundRect">
            <a:avLst>
              <a:gd name="adj" fmla="val 10000"/>
            </a:avLst>
          </a:prstGeom>
          <a:solidFill>
            <a:srgbClr val="3DDC84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840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554480" y="3822192"/>
            <a:ext cx="3108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and cut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846320" y="3822192"/>
            <a:ext cx="7040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match: done · target smaller: high = middle − 1 · larger: low = middle + 1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31520" y="4754880"/>
            <a:ext cx="548640" cy="548640"/>
          </a:xfrm>
          <a:prstGeom prst="roundRect">
            <a:avLst>
              <a:gd name="adj" fmla="val 10000"/>
            </a:avLst>
          </a:prstGeom>
          <a:solidFill>
            <a:srgbClr val="3DDC84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4754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554480" y="4736592"/>
            <a:ext cx="3108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when low &gt; high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846320" y="4736592"/>
            <a:ext cx="7040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search space is empty — report not found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731520" y="58064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numbered algorithm is in the assignment. Your Python follows it step for step.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count that changes everything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1280160" y="2103120"/>
            <a:ext cx="4480560" cy="2651760"/>
          </a:xfrm>
          <a:prstGeom prst="roundRect">
            <a:avLst>
              <a:gd name="adj" fmla="val 2759"/>
            </a:avLst>
          </a:prstGeom>
          <a:solidFill>
            <a:srgbClr val="13324F"/>
          </a:solidFill>
          <a:ln w="12700">
            <a:solidFill>
              <a:srgbClr val="1332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80160" y="2212848"/>
            <a:ext cx="4480560" cy="1378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4B7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1,000,000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280160" y="3641141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7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— linear, worst case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0" y="2103120"/>
            <a:ext cx="4480560" cy="2651760"/>
          </a:xfrm>
          <a:prstGeom prst="roundRect">
            <a:avLst>
              <a:gd name="adj" fmla="val 2759"/>
            </a:avLst>
          </a:prstGeom>
          <a:solidFill>
            <a:srgbClr val="13324F"/>
          </a:solidFill>
          <a:ln w="12700">
            <a:solidFill>
              <a:srgbClr val="13324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0" y="2212848"/>
            <a:ext cx="4480560" cy="1378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6400800" y="3641141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7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— binary, worst case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0" y="521208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list. Same target. The only difference is the algorithm.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precondition: sorted or nothing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of the algorithm is not decoration.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30352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1945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sorted?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670048"/>
            <a:ext cx="4754880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trick is knowing WHICH half to throw away. Sorted order is that knowledge: smaller values live left of the middle, larger live right. Every discard is a promise the order makes.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17920" y="2011680"/>
            <a:ext cx="530352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F4B7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21945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an unsorted list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92240" y="2670048"/>
            <a:ext cx="4754880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middle tells you nothing about the halves. Binary search runs happily — and returns confident nonsense. Test your program with a SORTED list.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40080" y="52120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raises a question nobody has answered yet: where do sorted lists come from?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turn — trace it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code it, be the algorithm.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667512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194560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18 in  [3, 7, 9, 12, 18, 25, 42]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670048"/>
            <a:ext cx="6126480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sequence of middle VALUES the algorithm examines, and the low/high indexes after each comparison.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comparisons until it finds 18? How does that compare to linear search's count for the same target?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589520" y="2011680"/>
            <a:ext cx="402336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0" y="21945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predict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863840" y="2670048"/>
            <a:ext cx="3474720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list, target 10.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happens, step by step — and how does the algorithm KNOW it's done looking?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58978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Answers: middles 12 → 25 → 18, found in 3 (linear takes 5) · for 10: low passes high, report not found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0584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mission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31520" y="214884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3DDC84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63040" y="2121408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linear search algorithm in your notebook — numbered, plain English, rewritable by a stranger.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306324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3DDC84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063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463040" y="3035808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binary search in Python from the assignment's algorithm, reporting when the target is missing.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31520" y="397764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3DDC84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463040" y="3950208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it four ways before you submit: first item, last item, middle item, missing item.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0" y="6263640"/>
            <a:ext cx="121916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binary search demanded a sorted list. Next lab: where sorted lists come from.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2026-08-19T15:52:16Z</dcterms:created>
  <dcterms:modified xsi:type="dcterms:W3CDTF">2026-08-19T15:52:16Z</dcterms:modified>
</cp:coreProperties>
</file>