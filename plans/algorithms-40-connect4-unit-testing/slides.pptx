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check_move: the library is functionally complete — make_move, check_move, check_win, get_name, and four helpers. Today, before it plays a single tournament game, we find out whether it would survive one. The test program throws more scrutiny at their code than any opponent will manage — and failures found today are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from the lab: a small automated check that verifies one specific piece of code behaves correctly for known inputs. The three cards are the anatomy of every test in the suite. Connect back: the proof boards from labs 20 and 30 were hand-run unit tests; the suite is the same idea, times 14, times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escalation: existence, then correctness on hostile inputs, then exhaustiveness (all 69 lines — the number from lab 20 coming home), then the stress test. The suite finds the library file automatically; students don't edit the test program at all. The copy button in the assignment saves retyping 400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lab's warning callout, promoted to a slide because it's the period's working discipline. A library that won't import fails all 14; a check_win that crashes fails everything downstream of it. Triage order is not a suggestion. This is also real-world debugging method: trust no symptom below the first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diagnosis chain out loud: test name → count → suspect helper → likely bound. 24 is horizontal or diagonal territory, 21 is vertical, per lab 20's counting slide. Students who learn to read the count stop rereading whole functions and start checking the one line that produces off-by-three.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honest: testing raises confidence; it doesn't deliver certainty. Ask: what WOULDN'T this suite catch? (A make_move that always plays column 0 passes every legality test and loses every game — legal is not smart. Strategy isn't unit-testable the same way.) That distinction sets up the tournament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Predict-then-verify, the course's standing pattern. Two minutes in notebooks, no sharing needed — this one is private honesty. Then release to lab: save the test file beside the library, run, triage top to bottom, log each fix (what failed, what changed) in the notebook.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Deliverables mirror Turn It In: the screenshot of the test program's output showing your results. Rubric's 4 is every test PASS on your own named library, including the 10,000-game stress test. This also closes the Connect4 project: the library and the make_move algorithm description are now submitted per the Connect4 assignment. Tease: Monty Hall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PASS  PASS  PASS  FAIL</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3DDC84"/>
                </a:solidFill>
                <a:latin typeface="Courier New" pitchFamily="34" charset="0"/>
                <a:ea typeface="Courier New" pitchFamily="34" charset="-122"/>
                <a:cs typeface="Courier New" pitchFamily="34" charset="-120"/>
              </a:rPr>
              <a:t>10,000</a:t>
            </a:r>
            <a:pPr algn="ctr" indent="0" marL="0">
              <a:buNone/>
            </a:pPr>
            <a:r>
              <a:rPr lang="en-US" sz="3800" b="1" dirty="0">
                <a:solidFill>
                  <a:srgbClr val="5A6B7B"/>
                </a:solidFill>
                <a:latin typeface="Courier New" pitchFamily="34" charset="0"/>
                <a:ea typeface="Courier New" pitchFamily="34" charset="-122"/>
                <a:cs typeface="Courier New" pitchFamily="34" charset="-120"/>
              </a:rPr>
              <a:t> games</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Unit Testing</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Find out in private</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High School Computer Science  •  Algorithms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What a unit test is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One function. One known input. One expected answer.</a:t>
            </a:r>
            <a:endParaRPr lang="en-US" sz="1700" dirty="0"/>
          </a:p>
        </p:txBody>
      </p:sp>
      <p:sp>
        <p:nvSpPr>
          <p:cNvPr id="4" name="Shape 2"/>
          <p:cNvSpPr/>
          <p:nvPr/>
        </p:nvSpPr>
        <p:spPr>
          <a:xfrm>
            <a:off x="640080" y="2011680"/>
            <a:ext cx="3566160" cy="2834640"/>
          </a:xfrm>
          <a:prstGeom prst="roundRect">
            <a:avLst>
              <a:gd name="adj" fmla="val 2581"/>
            </a:avLst>
          </a:prstGeom>
          <a:solidFill>
            <a:srgbClr val="FFFFFF"/>
          </a:solidFill>
          <a:ln w="12700">
            <a:solidFill>
              <a:srgbClr val="C7D2DC"/>
            </a:solidFill>
            <a:prstDash val="solid"/>
          </a:ln>
        </p:spPr>
      </p:sp>
      <p:sp>
        <p:nvSpPr>
          <p:cNvPr id="5" name="Text 3"/>
          <p:cNvSpPr/>
          <p:nvPr/>
        </p:nvSpPr>
        <p:spPr>
          <a:xfrm>
            <a:off x="914400" y="2194560"/>
            <a:ext cx="301752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Feed it</a:t>
            </a:r>
            <a:endParaRPr lang="en-US" sz="1600" dirty="0"/>
          </a:p>
        </p:txBody>
      </p:sp>
      <p:sp>
        <p:nvSpPr>
          <p:cNvPr id="6" name="Text 4"/>
          <p:cNvSpPr/>
          <p:nvPr/>
        </p:nvSpPr>
        <p:spPr>
          <a:xfrm>
            <a:off x="914400" y="2670048"/>
            <a:ext cx="3017520" cy="1993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 hand-built situation: an empty board, a full column, a board with one vertical win.</a:t>
            </a:r>
            <a:endParaRPr lang="en-US" sz="1350" dirty="0"/>
          </a:p>
        </p:txBody>
      </p:sp>
      <p:sp>
        <p:nvSpPr>
          <p:cNvPr id="7" name="Shape 5"/>
          <p:cNvSpPr/>
          <p:nvPr/>
        </p:nvSpPr>
        <p:spPr>
          <a:xfrm>
            <a:off x="4343400" y="2011680"/>
            <a:ext cx="3566160" cy="2834640"/>
          </a:xfrm>
          <a:prstGeom prst="roundRect">
            <a:avLst>
              <a:gd name="adj" fmla="val 2581"/>
            </a:avLst>
          </a:prstGeom>
          <a:solidFill>
            <a:srgbClr val="FFFFFF"/>
          </a:solidFill>
          <a:ln w="12700">
            <a:solidFill>
              <a:srgbClr val="C7D2DC"/>
            </a:solidFill>
            <a:prstDash val="solid"/>
          </a:ln>
        </p:spPr>
      </p:sp>
      <p:sp>
        <p:nvSpPr>
          <p:cNvPr id="8" name="Text 6"/>
          <p:cNvSpPr/>
          <p:nvPr/>
        </p:nvSpPr>
        <p:spPr>
          <a:xfrm>
            <a:off x="4617720" y="2194560"/>
            <a:ext cx="301752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Call it</a:t>
            </a:r>
            <a:endParaRPr lang="en-US" sz="1600" dirty="0"/>
          </a:p>
        </p:txBody>
      </p:sp>
      <p:sp>
        <p:nvSpPr>
          <p:cNvPr id="9" name="Text 7"/>
          <p:cNvSpPr/>
          <p:nvPr/>
        </p:nvSpPr>
        <p:spPr>
          <a:xfrm>
            <a:off x="4617720" y="2670048"/>
            <a:ext cx="3017520" cy="1993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One function, in isolation — not the whole program, not the tournament. Just check_win(state).</a:t>
            </a:r>
            <a:endParaRPr lang="en-US" sz="1350" dirty="0"/>
          </a:p>
        </p:txBody>
      </p:sp>
      <p:sp>
        <p:nvSpPr>
          <p:cNvPr id="10" name="Shape 8"/>
          <p:cNvSpPr/>
          <p:nvPr/>
        </p:nvSpPr>
        <p:spPr>
          <a:xfrm>
            <a:off x="8046720" y="2011680"/>
            <a:ext cx="3566160" cy="2834640"/>
          </a:xfrm>
          <a:prstGeom prst="roundRect">
            <a:avLst>
              <a:gd name="adj" fmla="val 2581"/>
            </a:avLst>
          </a:prstGeom>
          <a:solidFill>
            <a:srgbClr val="FFFFFF"/>
          </a:solidFill>
          <a:ln w="12700">
            <a:solidFill>
              <a:srgbClr val="C7D2DC"/>
            </a:solidFill>
            <a:prstDash val="solid"/>
          </a:ln>
        </p:spPr>
      </p:sp>
      <p:sp>
        <p:nvSpPr>
          <p:cNvPr id="11" name="Text 9"/>
          <p:cNvSpPr/>
          <p:nvPr/>
        </p:nvSpPr>
        <p:spPr>
          <a:xfrm>
            <a:off x="8321040" y="2194560"/>
            <a:ext cx="301752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Check it</a:t>
            </a:r>
            <a:endParaRPr lang="en-US" sz="1600" dirty="0"/>
          </a:p>
        </p:txBody>
      </p:sp>
      <p:sp>
        <p:nvSpPr>
          <p:cNvPr id="12" name="Text 10"/>
          <p:cNvSpPr/>
          <p:nvPr/>
        </p:nvSpPr>
        <p:spPr>
          <a:xfrm>
            <a:off x="8321040" y="2670048"/>
            <a:ext cx="3017520" cy="1993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Compare what came back against what SHOULD have come back. Match: PASS. Anything else: FAIL, with a reason.</a:t>
            </a:r>
            <a:endParaRPr lang="en-US" sz="1350" dirty="0"/>
          </a:p>
        </p:txBody>
      </p:sp>
      <p:sp>
        <p:nvSpPr>
          <p:cNvPr id="13" name="Text 11"/>
          <p:cNvSpPr/>
          <p:nvPr/>
        </p:nvSpPr>
        <p:spPr>
          <a:xfrm>
            <a:off x="640080" y="5212080"/>
            <a:ext cx="10972800" cy="54864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You've been doing this by hand since lab 20. Today it's automated — and merciless.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What the suite throws at you</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Fourteen tests, from “does it import” to ten thousand games.</a:t>
            </a:r>
            <a:endParaRPr lang="en-US" sz="1700" dirty="0"/>
          </a:p>
        </p:txBody>
      </p:sp>
      <p:sp>
        <p:nvSpPr>
          <p:cNvPr id="4" name="Shape 2"/>
          <p:cNvSpPr/>
          <p:nvPr/>
        </p:nvSpPr>
        <p:spPr>
          <a:xfrm>
            <a:off x="731520" y="2011680"/>
            <a:ext cx="548640" cy="548640"/>
          </a:xfrm>
          <a:prstGeom prst="roundRect">
            <a:avLst>
              <a:gd name="adj" fmla="val 10000"/>
            </a:avLst>
          </a:prstGeom>
          <a:solidFill>
            <a:srgbClr val="3DDC84"/>
          </a:solidFill>
          <a:ln/>
        </p:spPr>
      </p:sp>
      <p:sp>
        <p:nvSpPr>
          <p:cNvPr id="5" name="Text 3"/>
          <p:cNvSpPr/>
          <p:nvPr/>
        </p:nvSpPr>
        <p:spPr>
          <a:xfrm>
            <a:off x="731520" y="201168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54480" y="1993392"/>
            <a:ext cx="3840480" cy="585216"/>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Import + signatures</a:t>
            </a:r>
            <a:endParaRPr lang="en-US" sz="1600" dirty="0"/>
          </a:p>
        </p:txBody>
      </p:sp>
      <p:sp>
        <p:nvSpPr>
          <p:cNvPr id="7" name="Text 5"/>
          <p:cNvSpPr/>
          <p:nvPr/>
        </p:nvSpPr>
        <p:spPr>
          <a:xfrm>
            <a:off x="5577840" y="1993392"/>
            <a:ext cx="6309360" cy="585216"/>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your file loads, and all four names match exactly</a:t>
            </a:r>
            <a:endParaRPr lang="en-US" sz="1300" dirty="0"/>
          </a:p>
        </p:txBody>
      </p:sp>
      <p:sp>
        <p:nvSpPr>
          <p:cNvPr id="8" name="Shape 6"/>
          <p:cNvSpPr/>
          <p:nvPr/>
        </p:nvSpPr>
        <p:spPr>
          <a:xfrm>
            <a:off x="731520" y="2971800"/>
            <a:ext cx="548640" cy="548640"/>
          </a:xfrm>
          <a:prstGeom prst="roundRect">
            <a:avLst>
              <a:gd name="adj" fmla="val 10000"/>
            </a:avLst>
          </a:prstGeom>
          <a:solidFill>
            <a:srgbClr val="3DDC84"/>
          </a:solidFill>
          <a:ln/>
        </p:spPr>
      </p:sp>
      <p:sp>
        <p:nvSpPr>
          <p:cNvPr id="9" name="Text 7"/>
          <p:cNvSpPr/>
          <p:nvPr/>
        </p:nvSpPr>
        <p:spPr>
          <a:xfrm>
            <a:off x="731520" y="297180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554480" y="2953512"/>
            <a:ext cx="3840480" cy="585216"/>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check_move</a:t>
            </a:r>
            <a:endParaRPr lang="en-US" sz="1600" dirty="0"/>
          </a:p>
        </p:txBody>
      </p:sp>
      <p:sp>
        <p:nvSpPr>
          <p:cNvPr id="11" name="Text 9"/>
          <p:cNvSpPr/>
          <p:nvPr/>
        </p:nvSpPr>
        <p:spPr>
          <a:xfrm>
            <a:off x="5577840" y="2953512"/>
            <a:ext cx="6309360" cy="585216"/>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both piece types, bad columns, full columns, partial columns</a:t>
            </a:r>
            <a:endParaRPr lang="en-US" sz="1300" dirty="0"/>
          </a:p>
        </p:txBody>
      </p:sp>
      <p:sp>
        <p:nvSpPr>
          <p:cNvPr id="12" name="Shape 10"/>
          <p:cNvSpPr/>
          <p:nvPr/>
        </p:nvSpPr>
        <p:spPr>
          <a:xfrm>
            <a:off x="731520" y="3931920"/>
            <a:ext cx="548640" cy="548640"/>
          </a:xfrm>
          <a:prstGeom prst="roundRect">
            <a:avLst>
              <a:gd name="adj" fmla="val 10000"/>
            </a:avLst>
          </a:prstGeom>
          <a:solidFill>
            <a:srgbClr val="3DDC84"/>
          </a:solidFill>
          <a:ln/>
        </p:spPr>
      </p:sp>
      <p:sp>
        <p:nvSpPr>
          <p:cNvPr id="13" name="Text 11"/>
          <p:cNvSpPr/>
          <p:nvPr/>
        </p:nvSpPr>
        <p:spPr>
          <a:xfrm>
            <a:off x="731520" y="393192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554480" y="3913632"/>
            <a:ext cx="3840480" cy="585216"/>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check_win</a:t>
            </a:r>
            <a:endParaRPr lang="en-US" sz="1600" dirty="0"/>
          </a:p>
        </p:txBody>
      </p:sp>
      <p:sp>
        <p:nvSpPr>
          <p:cNvPr id="15" name="Text 13"/>
          <p:cNvSpPr/>
          <p:nvPr/>
        </p:nvSpPr>
        <p:spPr>
          <a:xfrm>
            <a:off x="5577840" y="3913632"/>
            <a:ext cx="6309360" cy="585216"/>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every one of the 69 winning lines, ties, and 41 in-progress boards</a:t>
            </a:r>
            <a:endParaRPr lang="en-US" sz="1300" dirty="0"/>
          </a:p>
        </p:txBody>
      </p:sp>
      <p:sp>
        <p:nvSpPr>
          <p:cNvPr id="16" name="Shape 14"/>
          <p:cNvSpPr/>
          <p:nvPr/>
        </p:nvSpPr>
        <p:spPr>
          <a:xfrm>
            <a:off x="731520" y="4892040"/>
            <a:ext cx="548640" cy="548640"/>
          </a:xfrm>
          <a:prstGeom prst="roundRect">
            <a:avLst>
              <a:gd name="adj" fmla="val 10000"/>
            </a:avLst>
          </a:prstGeom>
          <a:solidFill>
            <a:srgbClr val="3DDC84"/>
          </a:solidFill>
          <a:ln/>
        </p:spPr>
      </p:sp>
      <p:sp>
        <p:nvSpPr>
          <p:cNvPr id="17" name="Text 15"/>
          <p:cNvSpPr/>
          <p:nvPr/>
        </p:nvSpPr>
        <p:spPr>
          <a:xfrm>
            <a:off x="731520" y="4892040"/>
            <a:ext cx="548640" cy="54864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554480" y="4873752"/>
            <a:ext cx="3840480" cy="585216"/>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make_move</a:t>
            </a:r>
            <a:endParaRPr lang="en-US" sz="1600" dirty="0"/>
          </a:p>
        </p:txBody>
      </p:sp>
      <p:sp>
        <p:nvSpPr>
          <p:cNvPr id="19" name="Text 17"/>
          <p:cNvSpPr/>
          <p:nvPr/>
        </p:nvSpPr>
        <p:spPr>
          <a:xfrm>
            <a:off x="5577840" y="4873752"/>
            <a:ext cx="6309360" cy="585216"/>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10,000 randomly generated games — every move must be legal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Fix failures top to bottom</a:t>
            </a:r>
            <a:endParaRPr lang="en-US" sz="3400" dirty="0"/>
          </a:p>
        </p:txBody>
      </p:sp>
      <p:sp>
        <p:nvSpPr>
          <p:cNvPr id="3" name="Text 1"/>
          <p:cNvSpPr/>
          <p:nvPr/>
        </p:nvSpPr>
        <p:spPr>
          <a:xfrm>
            <a:off x="0" y="2103120"/>
            <a:ext cx="12191695" cy="548640"/>
          </a:xfrm>
          <a:prstGeom prst="rect">
            <a:avLst/>
          </a:prstGeom>
          <a:noFill/>
          <a:ln/>
        </p:spPr>
        <p:txBody>
          <a:bodyPr wrap="square" lIns="0" tIns="0" rIns="0" bIns="0" rtlCol="0" anchor="ctr"/>
          <a:lstStyle/>
          <a:p>
            <a:pPr algn="ctr" indent="0" marL="0">
              <a:buNone/>
            </a:pPr>
            <a:r>
              <a:rPr lang="en-US" sz="2800" b="1" dirty="0">
                <a:solidFill>
                  <a:srgbClr val="F4B740"/>
                </a:solidFill>
                <a:latin typeface="Courier New" pitchFamily="34" charset="0"/>
                <a:ea typeface="Courier New" pitchFamily="34" charset="-122"/>
                <a:cs typeface="Courier New" pitchFamily="34" charset="-120"/>
              </a:rPr>
              <a:t>import fails</a:t>
            </a:r>
            <a:endParaRPr lang="en-US" sz="2800" dirty="0"/>
          </a:p>
        </p:txBody>
      </p:sp>
      <p:sp>
        <p:nvSpPr>
          <p:cNvPr id="4" name="Text 2"/>
          <p:cNvSpPr/>
          <p:nvPr/>
        </p:nvSpPr>
        <p:spPr>
          <a:xfrm>
            <a:off x="0" y="2697480"/>
            <a:ext cx="12191695" cy="457200"/>
          </a:xfrm>
          <a:prstGeom prst="rect">
            <a:avLst/>
          </a:prstGeom>
          <a:noFill/>
          <a:ln/>
        </p:spPr>
        <p:txBody>
          <a:bodyPr wrap="square" lIns="0" tIns="0" rIns="0" bIns="0" rtlCol="0" anchor="ctr"/>
          <a:lstStyle/>
          <a:p>
            <a:pPr algn="ctr" indent="0" marL="0">
              <a:buNone/>
            </a:pPr>
            <a:r>
              <a:rPr lang="en-US" sz="2800" b="1" dirty="0">
                <a:solidFill>
                  <a:srgbClr val="5A6B7B"/>
                </a:solidFill>
                <a:latin typeface="Calibri" pitchFamily="34" charset="0"/>
                <a:ea typeface="Calibri" pitchFamily="34" charset="-122"/>
                <a:cs typeface="Calibri" pitchFamily="34" charset="-120"/>
              </a:rPr>
              <a:t>↓</a:t>
            </a:r>
            <a:endParaRPr lang="en-US" sz="2800" dirty="0"/>
          </a:p>
        </p:txBody>
      </p:sp>
      <p:sp>
        <p:nvSpPr>
          <p:cNvPr id="5" name="Text 3"/>
          <p:cNvSpPr/>
          <p:nvPr/>
        </p:nvSpPr>
        <p:spPr>
          <a:xfrm>
            <a:off x="0" y="3200400"/>
            <a:ext cx="12191695" cy="548640"/>
          </a:xfrm>
          <a:prstGeom prst="rect">
            <a:avLst/>
          </a:prstGeom>
          <a:noFill/>
          <a:ln/>
        </p:spPr>
        <p:txBody>
          <a:bodyPr wrap="square" lIns="0" tIns="0" rIns="0" bIns="0" rtlCol="0" anchor="ctr"/>
          <a:lstStyle/>
          <a:p>
            <a:pPr algn="ctr" indent="0" marL="0">
              <a:buNone/>
            </a:pPr>
            <a:r>
              <a:rPr lang="en-US" sz="2800" b="1" dirty="0">
                <a:solidFill>
                  <a:srgbClr val="C7D2DC"/>
                </a:solidFill>
                <a:latin typeface="Courier New" pitchFamily="34" charset="0"/>
                <a:ea typeface="Courier New" pitchFamily="34" charset="-122"/>
                <a:cs typeface="Courier New" pitchFamily="34" charset="-120"/>
              </a:rPr>
              <a:t>everything after it fails too</a:t>
            </a:r>
            <a:endParaRPr lang="en-US" sz="2800" dirty="0"/>
          </a:p>
        </p:txBody>
      </p:sp>
      <p:sp>
        <p:nvSpPr>
          <p:cNvPr id="6" name="Text 4"/>
          <p:cNvSpPr/>
          <p:nvPr/>
        </p:nvSpPr>
        <p:spPr>
          <a:xfrm>
            <a:off x="0" y="4206240"/>
            <a:ext cx="12191695" cy="1005840"/>
          </a:xfrm>
          <a:prstGeom prst="rect">
            <a:avLst/>
          </a:prstGeom>
          <a:noFill/>
          <a:ln/>
        </p:spPr>
        <p:txBody>
          <a:bodyPr wrap="square" lIns="0" tIns="0" rIns="0" bIns="0" rtlCol="0" anchor="ctr"/>
          <a:lstStyle/>
          <a:p>
            <a:pPr algn="ctr" indent="0" marL="0">
              <a:buNone/>
            </a:pPr>
            <a:r>
              <a:rPr lang="en-US" sz="1700" dirty="0">
                <a:solidFill>
                  <a:srgbClr val="C7D2DC"/>
                </a:solidFill>
                <a:latin typeface="Calibri" pitchFamily="34" charset="0"/>
                <a:ea typeface="Calibri" pitchFamily="34" charset="-122"/>
                <a:cs typeface="Calibri" pitchFamily="34" charset="-120"/>
              </a:rPr>
              <a:t>An earlier failure can cause every later one. Fixing the top FAIL may fix the rest —</a:t>
            </a:r>
            <a:endParaRPr lang="en-US" sz="1700" dirty="0"/>
          </a:p>
          <a:p>
            <a:pPr algn="ctr" indent="0" marL="0">
              <a:buNone/>
            </a:pPr>
            <a:r>
              <a:rPr lang="en-US" sz="1700" dirty="0">
                <a:solidFill>
                  <a:srgbClr val="C7D2DC"/>
                </a:solidFill>
                <a:latin typeface="Calibri" pitchFamily="34" charset="0"/>
                <a:ea typeface="Calibri" pitchFamily="34" charset="-122"/>
                <a:cs typeface="Calibri" pitchFamily="34" charset="-120"/>
              </a:rPr>
              <a:t>fixing a bottom one first proves nothing.</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Reading a FAIL line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symptom names the suspect.</a:t>
            </a:r>
            <a:endParaRPr lang="en-US" sz="1700" dirty="0"/>
          </a:p>
        </p:txBody>
      </p:sp>
      <p:sp>
        <p:nvSpPr>
          <p:cNvPr id="4" name="Shape 2"/>
          <p:cNvSpPr/>
          <p:nvPr/>
        </p:nvSpPr>
        <p:spPr>
          <a:xfrm>
            <a:off x="640080" y="2011680"/>
            <a:ext cx="10881360" cy="1463040"/>
          </a:xfrm>
          <a:prstGeom prst="roundRect">
            <a:avLst>
              <a:gd name="adj" fmla="val 5000"/>
            </a:avLst>
          </a:prstGeom>
          <a:solidFill>
            <a:srgbClr val="13324F"/>
          </a:solidFill>
          <a:ln/>
        </p:spPr>
      </p:sp>
      <p:sp>
        <p:nvSpPr>
          <p:cNvPr id="5" name="Text 3"/>
          <p:cNvSpPr/>
          <p:nvPr/>
        </p:nvSpPr>
        <p:spPr>
          <a:xfrm>
            <a:off x="914400" y="2176272"/>
            <a:ext cx="10332720" cy="1133856"/>
          </a:xfrm>
          <a:prstGeom prst="rect">
            <a:avLst/>
          </a:prstGeom>
          <a:noFill/>
          <a:ln/>
        </p:spPr>
        <p:txBody>
          <a:bodyPr wrap="square" lIns="0" tIns="0" rIns="0" bIns="0" rtlCol="0" anchor="t"/>
          <a:lstStyle/>
          <a:p>
            <a:pPr indent="0" marL="0">
              <a:lnSpc>
                <a:spcPts val="2320"/>
              </a:lnSpc>
              <a:buNone/>
            </a:pPr>
            <a:r>
              <a:rPr lang="en-US" sz="1600" dirty="0">
                <a:solidFill>
                  <a:srgbClr val="DFF6EA"/>
                </a:solidFill>
                <a:latin typeface="Courier New" pitchFamily="34" charset="0"/>
                <a:ea typeface="Courier New" pitchFamily="34" charset="-122"/>
                <a:cs typeface="Courier New" pitchFamily="34" charset="-120"/>
              </a:rPr>
              <a:t>FAIL: check_win() detects all 21 possible vertical wins</a:t>
            </a:r>
            <a:endParaRPr lang="en-US" sz="1600" dirty="0"/>
          </a:p>
          <a:p>
            <a:pPr indent="0" marL="0">
              <a:lnSpc>
                <a:spcPts val="2320"/>
              </a:lnSpc>
              <a:buNone/>
            </a:pPr>
            <a:r>
              <a:rPr lang="en-US" sz="1600" dirty="0">
                <a:solidFill>
                  <a:srgbClr val="DFF6EA"/>
                </a:solidFill>
                <a:latin typeface="Courier New" pitchFamily="34" charset="0"/>
                <a:ea typeface="Courier New" pitchFamily="34" charset="-122"/>
                <a:cs typeface="Courier New" pitchFamily="34" charset="-120"/>
              </a:rPr>
              <a:t>      detected 18/21 possible wins</a:t>
            </a:r>
            <a:endParaRPr lang="en-US" sz="1600" dirty="0"/>
          </a:p>
        </p:txBody>
      </p:sp>
      <p:sp>
        <p:nvSpPr>
          <p:cNvPr id="6" name="Shape 4"/>
          <p:cNvSpPr/>
          <p:nvPr/>
        </p:nvSpPr>
        <p:spPr>
          <a:xfrm>
            <a:off x="640080" y="3749040"/>
            <a:ext cx="5303520" cy="2103120"/>
          </a:xfrm>
          <a:prstGeom prst="roundRect">
            <a:avLst>
              <a:gd name="adj" fmla="val 3478"/>
            </a:avLst>
          </a:prstGeom>
          <a:solidFill>
            <a:srgbClr val="FFFFFF"/>
          </a:solidFill>
          <a:ln w="12700">
            <a:solidFill>
              <a:srgbClr val="C7D2DC"/>
            </a:solidFill>
            <a:prstDash val="solid"/>
          </a:ln>
        </p:spPr>
      </p:sp>
      <p:sp>
        <p:nvSpPr>
          <p:cNvPr id="7" name="Text 5"/>
          <p:cNvSpPr/>
          <p:nvPr/>
        </p:nvSpPr>
        <p:spPr>
          <a:xfrm>
            <a:off x="914400" y="3931920"/>
            <a:ext cx="475488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Which function?</a:t>
            </a:r>
            <a:endParaRPr lang="en-US" sz="1600" dirty="0"/>
          </a:p>
        </p:txBody>
      </p:sp>
      <p:sp>
        <p:nvSpPr>
          <p:cNvPr id="8" name="Text 6"/>
          <p:cNvSpPr/>
          <p:nvPr/>
        </p:nvSpPr>
        <p:spPr>
          <a:xfrm>
            <a:off x="914400" y="4407408"/>
            <a:ext cx="4754880" cy="12618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The test name says check_win — but 21 is the vertical count, so the real suspect is is_vert_win.</a:t>
            </a:r>
            <a:endParaRPr lang="en-US" sz="1350" dirty="0"/>
          </a:p>
        </p:txBody>
      </p:sp>
      <p:sp>
        <p:nvSpPr>
          <p:cNvPr id="9" name="Shape 7"/>
          <p:cNvSpPr/>
          <p:nvPr/>
        </p:nvSpPr>
        <p:spPr>
          <a:xfrm>
            <a:off x="6217920" y="3749040"/>
            <a:ext cx="5303520" cy="2103120"/>
          </a:xfrm>
          <a:prstGeom prst="roundRect">
            <a:avLst>
              <a:gd name="adj" fmla="val 3478"/>
            </a:avLst>
          </a:prstGeom>
          <a:solidFill>
            <a:srgbClr val="FFFFFF"/>
          </a:solidFill>
          <a:ln w="12700">
            <a:solidFill>
              <a:srgbClr val="C7D2DC"/>
            </a:solidFill>
            <a:prstDash val="solid"/>
          </a:ln>
        </p:spPr>
      </p:sp>
      <p:sp>
        <p:nvSpPr>
          <p:cNvPr id="10" name="Text 8"/>
          <p:cNvSpPr/>
          <p:nvPr/>
        </p:nvSpPr>
        <p:spPr>
          <a:xfrm>
            <a:off x="6492240" y="3931920"/>
            <a:ext cx="475488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Which bug?</a:t>
            </a:r>
            <a:endParaRPr lang="en-US" sz="1600" dirty="0"/>
          </a:p>
        </p:txBody>
      </p:sp>
      <p:sp>
        <p:nvSpPr>
          <p:cNvPr id="11" name="Text 9"/>
          <p:cNvSpPr/>
          <p:nvPr/>
        </p:nvSpPr>
        <p:spPr>
          <a:xfrm>
            <a:off x="6492240" y="4407408"/>
            <a:ext cx="4754880" cy="12618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18 of 21 — three wins missed. Three is one column's worth or one bound's worth. Check the bounds before rereading every line.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What PASS does not promise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The tests detect typical errors. They guarantee nothing.</a:t>
            </a:r>
            <a:endParaRPr lang="en-US" sz="1700" dirty="0"/>
          </a:p>
        </p:txBody>
      </p:sp>
      <p:sp>
        <p:nvSpPr>
          <p:cNvPr id="4" name="Shape 2"/>
          <p:cNvSpPr/>
          <p:nvPr/>
        </p:nvSpPr>
        <p:spPr>
          <a:xfrm>
            <a:off x="640080" y="2011680"/>
            <a:ext cx="5303520" cy="3017520"/>
          </a:xfrm>
          <a:prstGeom prst="roundRect">
            <a:avLst>
              <a:gd name="adj" fmla="val 2424"/>
            </a:avLst>
          </a:prstGeom>
          <a:solidFill>
            <a:srgbClr val="FFFFFF"/>
          </a:solidFill>
          <a:ln w="12700">
            <a:solidFill>
              <a:srgbClr val="C7D2DC"/>
            </a:solidFill>
            <a:prstDash val="solid"/>
          </a:ln>
        </p:spPr>
      </p:sp>
      <p:sp>
        <p:nvSpPr>
          <p:cNvPr id="5" name="Text 3"/>
          <p:cNvSpPr/>
          <p:nvPr/>
        </p:nvSpPr>
        <p:spPr>
          <a:xfrm>
            <a:off x="914400" y="2194560"/>
            <a:ext cx="475488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PASS means</a:t>
            </a:r>
            <a:endParaRPr lang="en-US" sz="1600" dirty="0"/>
          </a:p>
        </p:txBody>
      </p:sp>
      <p:sp>
        <p:nvSpPr>
          <p:cNvPr id="6" name="Text 4"/>
          <p:cNvSpPr/>
          <p:nvPr/>
        </p:nvSpPr>
        <p:spPr>
          <a:xfrm>
            <a:off x="914400" y="2670048"/>
            <a:ext cx="4754880" cy="21762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Your library survived every check the suite knows how to make — imports, signatures, all 69 lines, 10,000 random games. That's real evidence.</a:t>
            </a:r>
            <a:endParaRPr lang="en-US" sz="1350" dirty="0"/>
          </a:p>
        </p:txBody>
      </p:sp>
      <p:sp>
        <p:nvSpPr>
          <p:cNvPr id="7" name="Shape 5"/>
          <p:cNvSpPr/>
          <p:nvPr/>
        </p:nvSpPr>
        <p:spPr>
          <a:xfrm>
            <a:off x="6217920" y="2011680"/>
            <a:ext cx="5303520" cy="3017520"/>
          </a:xfrm>
          <a:prstGeom prst="roundRect">
            <a:avLst>
              <a:gd name="adj" fmla="val 2424"/>
            </a:avLst>
          </a:prstGeom>
          <a:solidFill>
            <a:srgbClr val="FFFFFF"/>
          </a:solidFill>
          <a:ln w="12700">
            <a:solidFill>
              <a:srgbClr val="F4B740"/>
            </a:solidFill>
            <a:prstDash val="solid"/>
          </a:ln>
        </p:spPr>
      </p:sp>
      <p:sp>
        <p:nvSpPr>
          <p:cNvPr id="8" name="Text 6"/>
          <p:cNvSpPr/>
          <p:nvPr/>
        </p:nvSpPr>
        <p:spPr>
          <a:xfrm>
            <a:off x="6492240" y="2194560"/>
            <a:ext cx="475488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PASS does not mean</a:t>
            </a:r>
            <a:endParaRPr lang="en-US" sz="1600" dirty="0"/>
          </a:p>
        </p:txBody>
      </p:sp>
      <p:sp>
        <p:nvSpPr>
          <p:cNvPr id="9" name="Text 7"/>
          <p:cNvSpPr/>
          <p:nvPr/>
        </p:nvSpPr>
        <p:spPr>
          <a:xfrm>
            <a:off x="6492240" y="2670048"/>
            <a:ext cx="4754880" cy="217627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Correct in all cases. The lab says it in bold: these tests cannot guarantee your assignment runs correctly in every situation. A clever opponent may still find the case nobody tested.</a:t>
            </a:r>
            <a:endParaRPr lang="en-US" sz="1350" dirty="0"/>
          </a:p>
        </p:txBody>
      </p:sp>
      <p:sp>
        <p:nvSpPr>
          <p:cNvPr id="10" name="Text 8"/>
          <p:cNvSpPr/>
          <p:nvPr/>
        </p:nvSpPr>
        <p:spPr>
          <a:xfrm>
            <a:off x="640080" y="5303520"/>
            <a:ext cx="10972800" cy="502920"/>
          </a:xfrm>
          <a:prstGeom prst="rect">
            <a:avLst/>
          </a:prstGeom>
          <a:noFill/>
          <a:ln/>
        </p:spPr>
        <p:txBody>
          <a:bodyPr wrap="square" lIns="0" tIns="0" rIns="0" bIns="0" rtlCol="0" anchor="ctr"/>
          <a:lstStyle/>
          <a:p>
            <a:pPr algn="ctr" indent="0" marL="0">
              <a:buNone/>
            </a:pPr>
            <a:r>
              <a:rPr lang="en-US" sz="1600" b="1" dirty="0">
                <a:solidFill>
                  <a:srgbClr val="0A1F33"/>
                </a:solidFill>
                <a:latin typeface="Calibri" pitchFamily="34" charset="0"/>
                <a:ea typeface="Calibri" pitchFamily="34" charset="-122"/>
                <a:cs typeface="Calibri" pitchFamily="34" charset="-120"/>
              </a:rPr>
              <a:t>Evidence, not proof. Engineers live on this distinction.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predict your results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In writing, before you run anything.</a:t>
            </a:r>
            <a:endParaRPr lang="en-US" sz="1700" dirty="0"/>
          </a:p>
        </p:txBody>
      </p:sp>
      <p:sp>
        <p:nvSpPr>
          <p:cNvPr id="4" name="Shape 2"/>
          <p:cNvSpPr/>
          <p:nvPr/>
        </p:nvSpPr>
        <p:spPr>
          <a:xfrm>
            <a:off x="640080" y="2011680"/>
            <a:ext cx="5303520" cy="3108960"/>
          </a:xfrm>
          <a:prstGeom prst="roundRect">
            <a:avLst>
              <a:gd name="adj" fmla="val 2353"/>
            </a:avLst>
          </a:prstGeom>
          <a:solidFill>
            <a:srgbClr val="FFFFFF"/>
          </a:solidFill>
          <a:ln w="12700">
            <a:solidFill>
              <a:srgbClr val="C7D2DC"/>
            </a:solidFill>
            <a:prstDash val="solid"/>
          </a:ln>
        </p:spPr>
      </p:sp>
      <p:sp>
        <p:nvSpPr>
          <p:cNvPr id="5" name="Text 3"/>
          <p:cNvSpPr/>
          <p:nvPr/>
        </p:nvSpPr>
        <p:spPr>
          <a:xfrm>
            <a:off x="914400" y="2194560"/>
            <a:ext cx="475488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Two predictions</a:t>
            </a:r>
            <a:endParaRPr lang="en-US" sz="1600" dirty="0"/>
          </a:p>
        </p:txBody>
      </p:sp>
      <p:sp>
        <p:nvSpPr>
          <p:cNvPr id="6" name="Text 4"/>
          <p:cNvSpPr/>
          <p:nvPr/>
        </p:nvSpPr>
        <p:spPr>
          <a:xfrm>
            <a:off x="914400" y="2670048"/>
            <a:ext cx="4754880" cy="22677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1.  Which tests will your library pass on the first run?</a:t>
            </a:r>
            <a:endParaRPr lang="en-US" sz="1350" dirty="0"/>
          </a:p>
          <a:p>
            <a:pPr indent="0" marL="0">
              <a:buNone/>
            </a:pPr>
            <a:endParaRPr lang="en-US" sz="1350" dirty="0"/>
          </a:p>
          <a:p>
            <a:pPr indent="0" marL="0">
              <a:buNone/>
            </a:pPr>
            <a:r>
              <a:rPr lang="en-US" sz="1350" dirty="0">
                <a:solidFill>
                  <a:srgbClr val="5A6B7B"/>
                </a:solidFill>
                <a:latin typeface="Calibri" pitchFamily="34" charset="0"/>
                <a:ea typeface="Calibri" pitchFamily="34" charset="-122"/>
                <a:cs typeface="Calibri" pitchFamily="34" charset="-120"/>
              </a:rPr>
              <a:t>2.  Which of your functions do you trust LEAST — and what specifically worries you about it?</a:t>
            </a:r>
            <a:endParaRPr lang="en-US" sz="1350" dirty="0"/>
          </a:p>
        </p:txBody>
      </p:sp>
      <p:sp>
        <p:nvSpPr>
          <p:cNvPr id="7" name="Shape 5"/>
          <p:cNvSpPr/>
          <p:nvPr/>
        </p:nvSpPr>
        <p:spPr>
          <a:xfrm>
            <a:off x="6217920" y="2011680"/>
            <a:ext cx="5303520" cy="3108960"/>
          </a:xfrm>
          <a:prstGeom prst="roundRect">
            <a:avLst>
              <a:gd name="adj" fmla="val 2353"/>
            </a:avLst>
          </a:prstGeom>
          <a:solidFill>
            <a:srgbClr val="FFFFFF"/>
          </a:solidFill>
          <a:ln w="12700">
            <a:solidFill>
              <a:srgbClr val="C7D2DC"/>
            </a:solidFill>
            <a:prstDash val="solid"/>
          </a:ln>
        </p:spPr>
      </p:sp>
      <p:sp>
        <p:nvSpPr>
          <p:cNvPr id="8" name="Text 6"/>
          <p:cNvSpPr/>
          <p:nvPr/>
        </p:nvSpPr>
        <p:spPr>
          <a:xfrm>
            <a:off x="6492240" y="2194560"/>
            <a:ext cx="4754880" cy="45720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Why bother?</a:t>
            </a:r>
            <a:endParaRPr lang="en-US" sz="1600" dirty="0"/>
          </a:p>
        </p:txBody>
      </p:sp>
      <p:sp>
        <p:nvSpPr>
          <p:cNvPr id="9" name="Text 7"/>
          <p:cNvSpPr/>
          <p:nvPr/>
        </p:nvSpPr>
        <p:spPr>
          <a:xfrm>
            <a:off x="6492240" y="2670048"/>
            <a:ext cx="4754880" cy="22677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 prediction turns test output into a grade for your self-knowledge. Passing a test you feared, or failing one you trusted, is the most useful thing you'll learn today.</a:t>
            </a:r>
            <a:endParaRPr lang="en-US" sz="1350" dirty="0"/>
          </a:p>
        </p:txBody>
      </p:sp>
      <p:sp>
        <p:nvSpPr>
          <p:cNvPr id="10" name="Text 8"/>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100" dirty="0">
                <a:solidFill>
                  <a:srgbClr val="5A6B7B"/>
                </a:solidFill>
                <a:latin typeface="Courier New" pitchFamily="34" charset="0"/>
                <a:ea typeface="Courier New" pitchFamily="34" charset="-122"/>
                <a:cs typeface="Courier New" pitchFamily="34" charset="-120"/>
              </a:rPr>
              <a:t>The suite grades these answers in about ninety seconds.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0584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148840"/>
            <a:ext cx="502920" cy="502920"/>
          </a:xfrm>
          <a:prstGeom prst="roundRect">
            <a:avLst>
              <a:gd name="adj" fmla="val 10909"/>
            </a:avLst>
          </a:prstGeom>
          <a:solidFill>
            <a:srgbClr val="3DDC84"/>
          </a:solidFill>
          <a:ln/>
        </p:spPr>
      </p:sp>
      <p:sp>
        <p:nvSpPr>
          <p:cNvPr id="4" name="Text 2"/>
          <p:cNvSpPr/>
          <p:nvPr/>
        </p:nvSpPr>
        <p:spPr>
          <a:xfrm>
            <a:off x="731520" y="21488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1214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Save test_connect4.py beside your library file and run it — it finds your library by itself.</a:t>
            </a:r>
            <a:endParaRPr lang="en-US" sz="1600" dirty="0"/>
          </a:p>
        </p:txBody>
      </p:sp>
      <p:sp>
        <p:nvSpPr>
          <p:cNvPr id="6" name="Shape 4"/>
          <p:cNvSpPr/>
          <p:nvPr/>
        </p:nvSpPr>
        <p:spPr>
          <a:xfrm>
            <a:off x="731520" y="3063240"/>
            <a:ext cx="502920" cy="502920"/>
          </a:xfrm>
          <a:prstGeom prst="roundRect">
            <a:avLst>
              <a:gd name="adj" fmla="val 10909"/>
            </a:avLst>
          </a:prstGeom>
          <a:solidFill>
            <a:srgbClr val="3DDC84"/>
          </a:solidFill>
          <a:ln/>
        </p:spPr>
      </p:sp>
      <p:sp>
        <p:nvSpPr>
          <p:cNvPr id="7" name="Text 5"/>
          <p:cNvSpPr/>
          <p:nvPr/>
        </p:nvSpPr>
        <p:spPr>
          <a:xfrm>
            <a:off x="731520" y="30632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0358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Fix failures top to bottom, re-running after each fix, until every test reports PASS.</a:t>
            </a:r>
            <a:endParaRPr lang="en-US" sz="1600" dirty="0"/>
          </a:p>
        </p:txBody>
      </p:sp>
      <p:sp>
        <p:nvSpPr>
          <p:cNvPr id="9" name="Shape 7"/>
          <p:cNvSpPr/>
          <p:nvPr/>
        </p:nvSpPr>
        <p:spPr>
          <a:xfrm>
            <a:off x="731520" y="3977640"/>
            <a:ext cx="502920" cy="502920"/>
          </a:xfrm>
          <a:prstGeom prst="roundRect">
            <a:avLst>
              <a:gd name="adj" fmla="val 10909"/>
            </a:avLst>
          </a:prstGeom>
          <a:solidFill>
            <a:srgbClr val="3DDC84"/>
          </a:solidFill>
          <a:ln/>
        </p:spPr>
      </p:sp>
      <p:sp>
        <p:nvSpPr>
          <p:cNvPr id="10" name="Text 8"/>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395020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Turn in: a screenshot of the test output showing your results.</a:t>
            </a:r>
            <a:endParaRPr lang="en-US" sz="16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algorithms in plain English — and a game show that fooled a thousand PhDs.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2026-08-19T15:52:16Z</dcterms:created>
  <dcterms:modified xsi:type="dcterms:W3CDTF">2026-08-19T15:52:16Z</dcterms:modified>
</cp:coreProperties>
</file>