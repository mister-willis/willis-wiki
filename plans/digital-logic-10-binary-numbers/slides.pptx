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7641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Today we crack the code behind every computer: binary. By the end of class you'll understand WHY computers use binary and be able to convert numbers between binary and decimal by hand. In lab you'll practice these conversions, and next lesson we build on binary to explore logic gates — the physical switches that make computation possible. Ask: does anyone know how many different digits a computer actually uses to store everything — photos, music, this slideshow?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fingers is why WE use base 10, but a computer has no fingers — it has switches. Each transistor is either off or on. Because there are only two states, we represent them with two digits: 0 and 1. This is base 2. Emphasize reliability: distinguishing 'off vs on' is far more dependable at billions of operations per second than distinguishing ten different voltage levels would be. One binary digit = one 'bit'. Every file on their phone is ultimately just a huge pattern of these bits.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binary, make the familiar idea explicit. The number 253 isn't three separate digits — each digit is multiplied by its column's value. Rightmost column is ones (10 to the 0), next is tens (10 to the 1), then hundreds (10 to the 2). So 253 = 2x100 + 5x10 + 3x1. Key point to plant: the ONLY thing special about base 10 is that the multiplier is ten. Binary works exactly the same way — we just swap the multiplier to two.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values are the whole game — encourage students to memorize them by doubling: 1, 2, 4, 8, 16, 32, 64, 128. Just like decimal columns were powers of ten, binary columns are powers of two. A group of 8 bits is called a byte. With 8 bits the largest value is 128+64+32+16+8+4+2+1 = 255, and the smallest is 0, giving 256 possible patterns. This is why you see 255 everywhere in computing (e.g. color values 0-255).</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this one live on the board with them. Line the binary number 10110101 under the place values. Wherever there's a 1, the column 'counts' — circle those. Wherever there's a 0, it contributes nothing. Add the active columns: 128 + 32 + 16 + 4 + 1 = 181. That's the whole method: binary to decimal is just addition. Have students check: the two rightmost bits are 0 and 1 → does the number end up odd or even? (Odd, because the 1s place is 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common methods exist (repeated division by 2, and this subtraction method). Subtraction tends to click faster for beginners. Walk down from the largest power of 2 that fits. Ask each question out loud: 'does this power fit in what's left?' Yes → write a 1 and subtract; No → write a 0 and move on. Reading the bits top to bottom gives 101101. Always verify by converting back: 32+8+4+1 = 45. Stress the self-check habit — it catches almost every mistake.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3-4 minutes to attempt these individually, then compare with a neighbor. Circulate. The answers are on the slide (small, at the bottom) — reveal or cover as you prefer. Note 11111111 = 255 ties back to the 'one byte, 0-255' point from earlier. These same skills are what the lab will drill. Once everyone is comfortable converting, we're ready to see what computers DO with these 0s and 1s.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bridging to the next lesson. We can store 0s and 1s — but computing means combining and transforming them. Logic gates do exactly that: tiny circuits that take one or two bits in and produce a bit out. Preview the three fundamental gates: AND, OR, NOT. From just these, you can build addition, comparisons, and memory — everything a processor does. Tell students the lab today cements binary conversion; next class we wire up gates and build a truth table. Encourage them to memorize the powers of 2 before then.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3"/>
        </a:solidFill>
        <a:effectLst/>
      </p:bgPr>
    </p:bg>
    <p:spTree>
      <p:nvGrpSpPr>
        <p:cNvPr id="1" name=""/>
        <p:cNvGrpSpPr/>
        <p:nvPr/>
      </p:nvGrpSpPr>
      <p:grpSpPr>
        <a:xfrm>
          <a:off x="0" y="0"/>
          <a:ext cx="0" cy="0"/>
          <a:chOff x="0" y="0"/>
          <a:chExt cx="0" cy="0"/>
        </a:xfrm>
      </p:grpSpPr>
      <p:sp>
        <p:nvSpPr>
          <p:cNvPr id="2" name="Text 0"/>
          <p:cNvSpPr/>
          <p:nvPr/>
        </p:nvSpPr>
        <p:spPr>
          <a:xfrm>
            <a:off x="0" y="457200"/>
            <a:ext cx="12161520" cy="365760"/>
          </a:xfrm>
          <a:prstGeom prst="rect">
            <a:avLst/>
          </a:prstGeom>
          <a:noFill/>
          <a:ln/>
        </p:spPr>
        <p:txBody>
          <a:bodyPr wrap="square" rtlCol="0" anchor="ctr"/>
          <a:lstStyle/>
          <a:p>
            <a:pPr marL="0" indent="0" algn="ctr">
              <a:buNone/>
            </a:pPr>
            <a:r>
              <a:rPr lang="en-US" sz="1200" kern="0" spc="200" dirty="0">
                <a:solidFill>
                  <a:srgbClr val="13324F"/>
                </a:solidFill>
                <a:latin typeface="Courier New" pitchFamily="34" charset="0"/>
                <a:ea typeface="Courier New" pitchFamily="34" charset="-122"/>
                <a:cs typeface="Courier New" pitchFamily="34" charset="-120"/>
              </a:rPr>
              <a:t>01000010 01001001 01001110 01000001 01010010 01011001</a:t>
            </a:r>
            <a:endParaRPr lang="en-US" sz="1200" dirty="0"/>
          </a:p>
        </p:txBody>
      </p:sp>
      <p:sp>
        <p:nvSpPr>
          <p:cNvPr id="3" name="Text 1"/>
          <p:cNvSpPr/>
          <p:nvPr/>
        </p:nvSpPr>
        <p:spPr>
          <a:xfrm>
            <a:off x="0" y="1554480"/>
            <a:ext cx="12161520" cy="822960"/>
          </a:xfrm>
          <a:prstGeom prst="rect">
            <a:avLst/>
          </a:prstGeom>
          <a:noFill/>
          <a:ln/>
        </p:spPr>
        <p:txBody>
          <a:bodyPr wrap="square" rtlCol="0" anchor="ctr"/>
          <a:lstStyle/>
          <a:p>
            <a:pPr marL="0" indent="0" algn="ctr">
              <a:buNone/>
            </a:pPr>
            <a:r>
              <a:rPr lang="en-US" sz="4000" b="1" kern="0" spc="600" dirty="0">
                <a:solidFill>
                  <a:srgbClr val="5A6B7B"/>
                </a:solidFill>
                <a:latin typeface="Courier New" pitchFamily="34" charset="0"/>
                <a:ea typeface="Courier New" pitchFamily="34" charset="-122"/>
                <a:cs typeface="Courier New" pitchFamily="34" charset="-120"/>
              </a:rPr>
              <a:t>0</a:t>
            </a:r>
            <a:r>
              <a:rPr lang="en-US" sz="4000" b="1" kern="0" spc="600" dirty="0">
                <a:solidFill>
                  <a:srgbClr val="3DDC84"/>
                </a:solidFill>
                <a:latin typeface="Courier New" pitchFamily="34" charset="0"/>
                <a:ea typeface="Courier New" pitchFamily="34" charset="-122"/>
                <a:cs typeface="Courier New" pitchFamily="34" charset="-120"/>
              </a:rPr>
              <a:t>1</a:t>
            </a:r>
            <a:r>
              <a:rPr lang="en-US" sz="4000" b="1" kern="0" spc="600" dirty="0">
                <a:solidFill>
                  <a:srgbClr val="5A6B7B"/>
                </a:solidFill>
                <a:latin typeface="Courier New" pitchFamily="34" charset="0"/>
                <a:ea typeface="Courier New" pitchFamily="34" charset="-122"/>
                <a:cs typeface="Courier New" pitchFamily="34" charset="-120"/>
              </a:rPr>
              <a:t>0</a:t>
            </a:r>
            <a:r>
              <a:rPr lang="en-US" sz="4000" b="1" kern="0" spc="600" dirty="0">
                <a:solidFill>
                  <a:srgbClr val="3DDC84"/>
                </a:solidFill>
                <a:latin typeface="Courier New" pitchFamily="34" charset="0"/>
                <a:ea typeface="Courier New" pitchFamily="34" charset="-122"/>
                <a:cs typeface="Courier New" pitchFamily="34" charset="-120"/>
              </a:rPr>
              <a:t>1</a:t>
            </a:r>
            <a:endParaRPr lang="en-US" sz="4000" dirty="0"/>
          </a:p>
        </p:txBody>
      </p:sp>
      <p:sp>
        <p:nvSpPr>
          <p:cNvPr id="4" name="Text 2"/>
          <p:cNvSpPr/>
          <p:nvPr/>
        </p:nvSpPr>
        <p:spPr>
          <a:xfrm>
            <a:off x="0" y="2286000"/>
            <a:ext cx="12161520" cy="1005840"/>
          </a:xfrm>
          <a:prstGeom prst="rect">
            <a:avLst/>
          </a:prstGeom>
          <a:noFill/>
          <a:ln/>
        </p:spPr>
        <p:txBody>
          <a:bodyPr wrap="square" rtlCol="0" anchor="ctr"/>
          <a:lstStyle/>
          <a:p>
            <a:pPr marL="0" indent="0" algn="ctr">
              <a:buNone/>
            </a:pPr>
            <a:r>
              <a:rPr lang="en-US" sz="5400" b="1" dirty="0">
                <a:solidFill>
                  <a:srgbClr val="FFFFFF"/>
                </a:solidFill>
                <a:latin typeface="Cambria" pitchFamily="34" charset="0"/>
                <a:ea typeface="Cambria" pitchFamily="34" charset="-122"/>
                <a:cs typeface="Cambria" pitchFamily="34" charset="-120"/>
              </a:rPr>
              <a:t>Binary Numbers</a:t>
            </a:r>
            <a:endParaRPr lang="en-US" sz="5400" dirty="0"/>
          </a:p>
        </p:txBody>
      </p:sp>
      <p:sp>
        <p:nvSpPr>
          <p:cNvPr id="5" name="Text 3"/>
          <p:cNvSpPr/>
          <p:nvPr/>
        </p:nvSpPr>
        <p:spPr>
          <a:xfrm>
            <a:off x="0" y="3383280"/>
            <a:ext cx="12161520" cy="548640"/>
          </a:xfrm>
          <a:prstGeom prst="rect">
            <a:avLst/>
          </a:prstGeom>
          <a:noFill/>
          <a:ln/>
        </p:spPr>
        <p:txBody>
          <a:bodyPr wrap="square" rtlCol="0" anchor="ctr"/>
          <a:lstStyle/>
          <a:p>
            <a:pPr marL="0" indent="0" algn="ctr">
              <a:buNone/>
            </a:pPr>
            <a:r>
              <a:rPr lang="en-US" sz="2200" i="1" dirty="0">
                <a:solidFill>
                  <a:srgbClr val="3DDC84"/>
                </a:solidFill>
                <a:latin typeface="Calibri" pitchFamily="34" charset="0"/>
                <a:ea typeface="Calibri" pitchFamily="34" charset="-122"/>
                <a:cs typeface="Calibri" pitchFamily="34" charset="-120"/>
              </a:rPr>
              <a:t>How computers count with just two digits</a:t>
            </a:r>
            <a:endParaRPr lang="en-US" sz="2200" dirty="0"/>
          </a:p>
        </p:txBody>
      </p:sp>
      <p:sp>
        <p:nvSpPr>
          <p:cNvPr id="6" name="Text 4"/>
          <p:cNvSpPr/>
          <p:nvPr/>
        </p:nvSpPr>
        <p:spPr>
          <a:xfrm>
            <a:off x="0" y="5852160"/>
            <a:ext cx="12161520" cy="457200"/>
          </a:xfrm>
          <a:prstGeom prst="rect">
            <a:avLst/>
          </a:prstGeom>
          <a:noFill/>
          <a:ln/>
        </p:spPr>
        <p:txBody>
          <a:bodyPr wrap="square" rtlCol="0" anchor="ctr"/>
          <a:lstStyle/>
          <a:p>
            <a:pPr marL="0" indent="0" algn="ctr">
              <a:buNone/>
            </a:pPr>
            <a:r>
              <a:rPr lang="en-US" sz="1400" dirty="0">
                <a:solidFill>
                  <a:srgbClr val="5A6B7B"/>
                </a:solidFill>
                <a:latin typeface="Calibri" pitchFamily="34" charset="0"/>
                <a:ea typeface="Calibri" pitchFamily="34" charset="-122"/>
                <a:cs typeface="Calibri" pitchFamily="34" charset="-120"/>
              </a:rPr>
              <a:t>High School Computer Science  •  Intro Lesson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822960"/>
          </a:xfrm>
          <a:prstGeom prst="rect">
            <a:avLst/>
          </a:prstGeom>
          <a:noFill/>
          <a:ln/>
        </p:spPr>
        <p:txBody>
          <a:bodyPr wrap="square" rtlCol="0" anchor="ctr"/>
          <a:lstStyle/>
          <a:p>
            <a:pPr marL="0" indent="0">
              <a:buNone/>
            </a:pPr>
            <a:r>
              <a:rPr lang="en-US" sz="3800" b="1" dirty="0">
                <a:solidFill>
                  <a:srgbClr val="0A1F33"/>
                </a:solidFill>
                <a:latin typeface="Cambria" pitchFamily="34" charset="0"/>
                <a:ea typeface="Cambria" pitchFamily="34" charset="-122"/>
                <a:cs typeface="Cambria" pitchFamily="34" charset="-120"/>
              </a:rPr>
              <a:t>Why do computers use binary?</a:t>
            </a:r>
            <a:endParaRPr lang="en-US" sz="3800" dirty="0"/>
          </a:p>
        </p:txBody>
      </p:sp>
      <p:sp>
        <p:nvSpPr>
          <p:cNvPr id="3" name="Text 1"/>
          <p:cNvSpPr/>
          <p:nvPr/>
        </p:nvSpPr>
        <p:spPr>
          <a:xfrm>
            <a:off x="548640" y="1325880"/>
            <a:ext cx="6766560" cy="822960"/>
          </a:xfrm>
          <a:prstGeom prst="rect">
            <a:avLst/>
          </a:prstGeom>
          <a:noFill/>
          <a:ln/>
        </p:spPr>
        <p:txBody>
          <a:bodyPr wrap="square" rtlCol="0" anchor="ctr"/>
          <a:lstStyle/>
          <a:p>
            <a:pPr marL="0" indent="0">
              <a:buNone/>
            </a:pPr>
            <a:r>
              <a:rPr lang="en-US" sz="1700" dirty="0">
                <a:solidFill>
                  <a:srgbClr val="5A6B7B"/>
                </a:solidFill>
                <a:latin typeface="Calibri" pitchFamily="34" charset="0"/>
                <a:ea typeface="Calibri" pitchFamily="34" charset="-122"/>
                <a:cs typeface="Calibri" pitchFamily="34" charset="-120"/>
              </a:rPr>
              <a:t>A computer is built from billions of tiny switches (transistors). A switch has exactly two reliable states:</a:t>
            </a:r>
            <a:endParaRPr lang="en-US" sz="1700" dirty="0"/>
          </a:p>
        </p:txBody>
      </p:sp>
      <p:sp>
        <p:nvSpPr>
          <p:cNvPr id="4" name="Shape 2"/>
          <p:cNvSpPr/>
          <p:nvPr/>
        </p:nvSpPr>
        <p:spPr>
          <a:xfrm>
            <a:off x="548640" y="2377440"/>
            <a:ext cx="3108960" cy="2651760"/>
          </a:xfrm>
          <a:prstGeom prst="roundRect">
            <a:avLst>
              <a:gd name="adj" fmla="val 3448"/>
            </a:avLst>
          </a:prstGeom>
          <a:solidFill>
            <a:srgbClr val="13324F"/>
          </a:solidFill>
          <a:ln/>
          <a:effectLst>
            <a:outerShdw blurRad="101600" dist="38100" dir="5400000" algn="bl" rotWithShape="0">
              <a:srgbClr val="9AA6B2">
                <a:alpha val="50000"/>
              </a:srgbClr>
            </a:outerShdw>
          </a:effectLst>
        </p:spPr>
        <p:txBody>
          <a:bodyPr/>
          <a:lstStyle/>
          <a:p>
            <a:endParaRPr lang="en-US"/>
          </a:p>
        </p:txBody>
      </p:sp>
      <p:sp>
        <p:nvSpPr>
          <p:cNvPr id="5" name="Text 3"/>
          <p:cNvSpPr/>
          <p:nvPr/>
        </p:nvSpPr>
        <p:spPr>
          <a:xfrm>
            <a:off x="548640" y="2514600"/>
            <a:ext cx="3108960" cy="1371600"/>
          </a:xfrm>
          <a:prstGeom prst="rect">
            <a:avLst/>
          </a:prstGeom>
          <a:noFill/>
          <a:ln/>
        </p:spPr>
        <p:txBody>
          <a:bodyPr wrap="square" rtlCol="0" anchor="ctr"/>
          <a:lstStyle/>
          <a:p>
            <a:pPr marL="0" indent="0" algn="ctr">
              <a:buNone/>
            </a:pPr>
            <a:r>
              <a:rPr lang="en-US" sz="8000" b="1" dirty="0">
                <a:solidFill>
                  <a:srgbClr val="FFFFFF"/>
                </a:solidFill>
                <a:latin typeface="Courier New" pitchFamily="34" charset="0"/>
                <a:ea typeface="Courier New" pitchFamily="34" charset="-122"/>
                <a:cs typeface="Courier New" pitchFamily="34" charset="-120"/>
              </a:rPr>
              <a:t>0</a:t>
            </a:r>
            <a:endParaRPr lang="en-US" sz="8000" dirty="0"/>
          </a:p>
        </p:txBody>
      </p:sp>
      <p:sp>
        <p:nvSpPr>
          <p:cNvPr id="6" name="Text 4"/>
          <p:cNvSpPr/>
          <p:nvPr/>
        </p:nvSpPr>
        <p:spPr>
          <a:xfrm>
            <a:off x="548640" y="3794760"/>
            <a:ext cx="3108960" cy="54864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OFF</a:t>
            </a:r>
            <a:endParaRPr lang="en-US" sz="2400" dirty="0"/>
          </a:p>
        </p:txBody>
      </p:sp>
      <p:sp>
        <p:nvSpPr>
          <p:cNvPr id="7" name="Text 5"/>
          <p:cNvSpPr/>
          <p:nvPr/>
        </p:nvSpPr>
        <p:spPr>
          <a:xfrm>
            <a:off x="731520" y="4343400"/>
            <a:ext cx="2743200" cy="548640"/>
          </a:xfrm>
          <a:prstGeom prst="rect">
            <a:avLst/>
          </a:prstGeom>
          <a:noFill/>
          <a:ln/>
        </p:spPr>
        <p:txBody>
          <a:bodyPr wrap="square" rtlCol="0" anchor="ctr"/>
          <a:lstStyle/>
          <a:p>
            <a:pPr marL="0" indent="0" algn="ctr">
              <a:buNone/>
            </a:pPr>
            <a:r>
              <a:rPr lang="en-US" sz="1300" dirty="0">
                <a:solidFill>
                  <a:srgbClr val="C7D2DC"/>
                </a:solidFill>
                <a:latin typeface="Calibri" pitchFamily="34" charset="0"/>
                <a:ea typeface="Calibri" pitchFamily="34" charset="-122"/>
                <a:cs typeface="Calibri" pitchFamily="34" charset="-120"/>
              </a:rPr>
              <a:t>no current  •  low voltage</a:t>
            </a:r>
            <a:endParaRPr lang="en-US" sz="1300" dirty="0"/>
          </a:p>
        </p:txBody>
      </p:sp>
      <p:sp>
        <p:nvSpPr>
          <p:cNvPr id="8" name="Shape 6"/>
          <p:cNvSpPr/>
          <p:nvPr/>
        </p:nvSpPr>
        <p:spPr>
          <a:xfrm>
            <a:off x="3977640" y="2377440"/>
            <a:ext cx="3108960" cy="2651760"/>
          </a:xfrm>
          <a:prstGeom prst="roundRect">
            <a:avLst>
              <a:gd name="adj" fmla="val 3448"/>
            </a:avLst>
          </a:prstGeom>
          <a:solidFill>
            <a:srgbClr val="1E5C3A"/>
          </a:solidFill>
          <a:ln/>
          <a:effectLst>
            <a:outerShdw blurRad="101600" dist="38100" dir="5400000" algn="bl" rotWithShape="0">
              <a:srgbClr val="9AA6B2">
                <a:alpha val="50000"/>
              </a:srgbClr>
            </a:outerShdw>
          </a:effectLst>
        </p:spPr>
        <p:txBody>
          <a:bodyPr/>
          <a:lstStyle/>
          <a:p>
            <a:endParaRPr lang="en-US"/>
          </a:p>
        </p:txBody>
      </p:sp>
      <p:sp>
        <p:nvSpPr>
          <p:cNvPr id="9" name="Text 7"/>
          <p:cNvSpPr/>
          <p:nvPr/>
        </p:nvSpPr>
        <p:spPr>
          <a:xfrm>
            <a:off x="3977640" y="2514600"/>
            <a:ext cx="3108960" cy="1371600"/>
          </a:xfrm>
          <a:prstGeom prst="rect">
            <a:avLst/>
          </a:prstGeom>
          <a:noFill/>
          <a:ln/>
        </p:spPr>
        <p:txBody>
          <a:bodyPr wrap="square" rtlCol="0" anchor="ctr"/>
          <a:lstStyle/>
          <a:p>
            <a:pPr marL="0" indent="0" algn="ctr">
              <a:buNone/>
            </a:pPr>
            <a:r>
              <a:rPr lang="en-US" sz="8000" b="1" dirty="0">
                <a:solidFill>
                  <a:srgbClr val="3DDC84"/>
                </a:solidFill>
                <a:latin typeface="Courier New" pitchFamily="34" charset="0"/>
                <a:ea typeface="Courier New" pitchFamily="34" charset="-122"/>
                <a:cs typeface="Courier New" pitchFamily="34" charset="-120"/>
              </a:rPr>
              <a:t>1</a:t>
            </a:r>
            <a:endParaRPr lang="en-US" sz="8000" dirty="0"/>
          </a:p>
        </p:txBody>
      </p:sp>
      <p:sp>
        <p:nvSpPr>
          <p:cNvPr id="10" name="Text 8"/>
          <p:cNvSpPr/>
          <p:nvPr/>
        </p:nvSpPr>
        <p:spPr>
          <a:xfrm>
            <a:off x="3977640" y="3794760"/>
            <a:ext cx="3108960" cy="54864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ON</a:t>
            </a:r>
            <a:endParaRPr lang="en-US" sz="2400" dirty="0"/>
          </a:p>
        </p:txBody>
      </p:sp>
      <p:sp>
        <p:nvSpPr>
          <p:cNvPr id="11" name="Text 9"/>
          <p:cNvSpPr/>
          <p:nvPr/>
        </p:nvSpPr>
        <p:spPr>
          <a:xfrm>
            <a:off x="4160520" y="4343400"/>
            <a:ext cx="2743200" cy="548640"/>
          </a:xfrm>
          <a:prstGeom prst="rect">
            <a:avLst/>
          </a:prstGeom>
          <a:noFill/>
          <a:ln/>
        </p:spPr>
        <p:txBody>
          <a:bodyPr wrap="square" rtlCol="0" anchor="ctr"/>
          <a:lstStyle/>
          <a:p>
            <a:pPr marL="0" indent="0" algn="ctr">
              <a:buNone/>
            </a:pPr>
            <a:r>
              <a:rPr lang="en-US" sz="1300" dirty="0">
                <a:solidFill>
                  <a:srgbClr val="C7D2DC"/>
                </a:solidFill>
                <a:latin typeface="Calibri" pitchFamily="34" charset="0"/>
                <a:ea typeface="Calibri" pitchFamily="34" charset="-122"/>
                <a:cs typeface="Calibri" pitchFamily="34" charset="-120"/>
              </a:rPr>
              <a:t>current flows  •  high voltage</a:t>
            </a:r>
            <a:endParaRPr lang="en-US" sz="1300" dirty="0"/>
          </a:p>
        </p:txBody>
      </p:sp>
      <p:sp>
        <p:nvSpPr>
          <p:cNvPr id="12" name="Text 10"/>
          <p:cNvSpPr/>
          <p:nvPr/>
        </p:nvSpPr>
        <p:spPr>
          <a:xfrm>
            <a:off x="7772400" y="2468880"/>
            <a:ext cx="3840480" cy="457200"/>
          </a:xfrm>
          <a:prstGeom prst="rect">
            <a:avLst/>
          </a:prstGeom>
          <a:noFill/>
          <a:ln/>
        </p:spPr>
        <p:txBody>
          <a:bodyPr wrap="square" rtlCol="0" anchor="ctr"/>
          <a:lstStyle/>
          <a:p>
            <a:pPr marL="0" indent="0">
              <a:buNone/>
            </a:pPr>
            <a:r>
              <a:rPr lang="en-US" sz="2000" b="1" dirty="0">
                <a:solidFill>
                  <a:srgbClr val="3DDC84"/>
                </a:solidFill>
                <a:latin typeface="Calibri" pitchFamily="34" charset="0"/>
                <a:ea typeface="Calibri" pitchFamily="34" charset="-122"/>
                <a:cs typeface="Calibri" pitchFamily="34" charset="-120"/>
              </a:rPr>
              <a:t>Two states = base 2</a:t>
            </a:r>
            <a:endParaRPr lang="en-US" sz="2000" dirty="0"/>
          </a:p>
        </p:txBody>
      </p:sp>
      <p:sp>
        <p:nvSpPr>
          <p:cNvPr id="13" name="Text 11"/>
          <p:cNvSpPr/>
          <p:nvPr/>
        </p:nvSpPr>
        <p:spPr>
          <a:xfrm>
            <a:off x="7772400" y="2971800"/>
            <a:ext cx="3840480" cy="2103120"/>
          </a:xfrm>
          <a:prstGeom prst="rect">
            <a:avLst/>
          </a:prstGeom>
          <a:noFill/>
          <a:ln/>
        </p:spPr>
        <p:txBody>
          <a:bodyPr wrap="square" rtlCol="0" anchor="t"/>
          <a:lstStyle/>
          <a:p>
            <a:pPr marL="190500" indent="-190500">
              <a:spcAft>
                <a:spcPts val="1000"/>
              </a:spcAft>
              <a:buSzPct val="100000"/>
              <a:buChar char="•"/>
            </a:pPr>
            <a:r>
              <a:rPr lang="en-US" sz="1500" dirty="0">
                <a:solidFill>
                  <a:srgbClr val="0A1F33"/>
                </a:solidFill>
                <a:latin typeface="Calibri" pitchFamily="34" charset="0"/>
                <a:ea typeface="Calibri" pitchFamily="34" charset="-122"/>
                <a:cs typeface="Calibri" pitchFamily="34" charset="-120"/>
              </a:rPr>
              <a:t>Reliable — only two levels to tell apart, so noise rarely flips a bit.</a:t>
            </a:r>
            <a:endParaRPr lang="en-US" sz="1500" dirty="0"/>
          </a:p>
          <a:p>
            <a:pPr marL="190500" indent="-190500">
              <a:spcAft>
                <a:spcPts val="1000"/>
              </a:spcAft>
              <a:buSzPct val="100000"/>
              <a:buChar char="•"/>
            </a:pPr>
            <a:r>
              <a:rPr lang="en-US" sz="1500" dirty="0">
                <a:solidFill>
                  <a:srgbClr val="0A1F33"/>
                </a:solidFill>
                <a:latin typeface="Calibri" pitchFamily="34" charset="0"/>
                <a:ea typeface="Calibri" pitchFamily="34" charset="-122"/>
                <a:cs typeface="Calibri" pitchFamily="34" charset="-120"/>
              </a:rPr>
              <a:t>Simple to build — a switch is cheap and fast.</a:t>
            </a:r>
            <a:endParaRPr lang="en-US" sz="1500" dirty="0"/>
          </a:p>
          <a:p>
            <a:pPr marL="190500" indent="-190500">
              <a:buSzPct val="100000"/>
              <a:buChar char="•"/>
            </a:pPr>
            <a:r>
              <a:rPr lang="en-US" sz="1500" dirty="0">
                <a:solidFill>
                  <a:srgbClr val="0A1F33"/>
                </a:solidFill>
                <a:latin typeface="Calibri" pitchFamily="34" charset="0"/>
                <a:ea typeface="Calibri" pitchFamily="34" charset="-122"/>
                <a:cs typeface="Calibri" pitchFamily="34" charset="-120"/>
              </a:rPr>
              <a:t>Everything — numbers, text, images, sound — is stored as patterns of 0s and 1s.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822960"/>
          </a:xfrm>
          <a:prstGeom prst="rect">
            <a:avLst/>
          </a:prstGeom>
          <a:noFill/>
          <a:ln/>
        </p:spPr>
        <p:txBody>
          <a:bodyPr wrap="square" rtlCol="0" anchor="ctr"/>
          <a:lstStyle/>
          <a:p>
            <a:pPr marL="0" indent="0">
              <a:buNone/>
            </a:pPr>
            <a:r>
              <a:rPr lang="en-US" sz="3800" b="1" dirty="0">
                <a:solidFill>
                  <a:srgbClr val="0A1F33"/>
                </a:solidFill>
                <a:latin typeface="Cambria" pitchFamily="34" charset="0"/>
                <a:ea typeface="Cambria" pitchFamily="34" charset="-122"/>
                <a:cs typeface="Cambria" pitchFamily="34" charset="-120"/>
              </a:rPr>
              <a:t>First, a reminder: place value</a:t>
            </a:r>
            <a:endParaRPr lang="en-US" sz="3800" dirty="0"/>
          </a:p>
        </p:txBody>
      </p:sp>
      <p:sp>
        <p:nvSpPr>
          <p:cNvPr id="3" name="Text 1"/>
          <p:cNvSpPr/>
          <p:nvPr/>
        </p:nvSpPr>
        <p:spPr>
          <a:xfrm>
            <a:off x="548640" y="1325880"/>
            <a:ext cx="10972800" cy="548640"/>
          </a:xfrm>
          <a:prstGeom prst="rect">
            <a:avLst/>
          </a:prstGeom>
          <a:noFill/>
          <a:ln/>
        </p:spPr>
        <p:txBody>
          <a:bodyPr wrap="square" rtlCol="0" anchor="ctr"/>
          <a:lstStyle/>
          <a:p>
            <a:pPr marL="0" indent="0">
              <a:buNone/>
            </a:pPr>
            <a:r>
              <a:rPr lang="en-US" sz="1700" dirty="0">
                <a:solidFill>
                  <a:srgbClr val="5A6B7B"/>
                </a:solidFill>
                <a:latin typeface="Calibri" pitchFamily="34" charset="0"/>
                <a:ea typeface="Calibri" pitchFamily="34" charset="-122"/>
                <a:cs typeface="Calibri" pitchFamily="34" charset="-120"/>
              </a:rPr>
              <a:t>You already use place value every day in base 10. Each column is worth ten times the one to its right.</a:t>
            </a:r>
            <a:endParaRPr lang="en-US" sz="1700" dirty="0"/>
          </a:p>
        </p:txBody>
      </p:sp>
      <p:sp>
        <p:nvSpPr>
          <p:cNvPr id="4" name="Text 2"/>
          <p:cNvSpPr/>
          <p:nvPr/>
        </p:nvSpPr>
        <p:spPr>
          <a:xfrm>
            <a:off x="2926080" y="2286000"/>
            <a:ext cx="1920240" cy="365760"/>
          </a:xfrm>
          <a:prstGeom prst="rect">
            <a:avLst/>
          </a:prstGeom>
          <a:noFill/>
          <a:ln/>
        </p:spPr>
        <p:txBody>
          <a:bodyPr wrap="square" rtlCol="0" anchor="ctr"/>
          <a:lstStyle/>
          <a:p>
            <a:pPr marL="0" indent="0" algn="ctr">
              <a:buNone/>
            </a:pPr>
            <a:r>
              <a:rPr lang="en-US" sz="1500" b="1" dirty="0">
                <a:solidFill>
                  <a:srgbClr val="5A6B7B"/>
                </a:solidFill>
                <a:latin typeface="Calibri" pitchFamily="34" charset="0"/>
                <a:ea typeface="Calibri" pitchFamily="34" charset="-122"/>
                <a:cs typeface="Calibri" pitchFamily="34" charset="-120"/>
              </a:rPr>
              <a:t>100s</a:t>
            </a:r>
            <a:endParaRPr lang="en-US" sz="1500" dirty="0"/>
          </a:p>
        </p:txBody>
      </p:sp>
      <p:sp>
        <p:nvSpPr>
          <p:cNvPr id="5" name="Text 3"/>
          <p:cNvSpPr/>
          <p:nvPr/>
        </p:nvSpPr>
        <p:spPr>
          <a:xfrm>
            <a:off x="2926080" y="2606040"/>
            <a:ext cx="1920240" cy="320040"/>
          </a:xfrm>
          <a:prstGeom prst="rect">
            <a:avLst/>
          </a:prstGeom>
          <a:noFill/>
          <a:ln/>
        </p:spPr>
        <p:txBody>
          <a:bodyPr wrap="square" rtlCol="0" anchor="ctr"/>
          <a:lstStyle/>
          <a:p>
            <a:pPr marL="0" indent="0" algn="ctr">
              <a:buNone/>
            </a:pPr>
            <a:r>
              <a:rPr lang="en-US" sz="1200" dirty="0">
                <a:solidFill>
                  <a:srgbClr val="5A6B7B"/>
                </a:solidFill>
                <a:latin typeface="Calibri" pitchFamily="34" charset="0"/>
                <a:ea typeface="Calibri" pitchFamily="34" charset="-122"/>
                <a:cs typeface="Calibri" pitchFamily="34" charset="-120"/>
              </a:rPr>
              <a:t>10²</a:t>
            </a:r>
            <a:endParaRPr lang="en-US" sz="1200" dirty="0"/>
          </a:p>
        </p:txBody>
      </p:sp>
      <p:sp>
        <p:nvSpPr>
          <p:cNvPr id="6" name="Shape 4"/>
          <p:cNvSpPr/>
          <p:nvPr/>
        </p:nvSpPr>
        <p:spPr>
          <a:xfrm>
            <a:off x="2926080" y="2971800"/>
            <a:ext cx="1920240" cy="1188720"/>
          </a:xfrm>
          <a:prstGeom prst="roundRect">
            <a:avLst>
              <a:gd name="adj" fmla="val 4615"/>
            </a:avLst>
          </a:prstGeom>
          <a:solidFill>
            <a:srgbClr val="13324F"/>
          </a:solidFill>
          <a:ln/>
        </p:spPr>
        <p:txBody>
          <a:bodyPr/>
          <a:lstStyle/>
          <a:p>
            <a:endParaRPr lang="en-US"/>
          </a:p>
        </p:txBody>
      </p:sp>
      <p:sp>
        <p:nvSpPr>
          <p:cNvPr id="7" name="Text 5"/>
          <p:cNvSpPr/>
          <p:nvPr/>
        </p:nvSpPr>
        <p:spPr>
          <a:xfrm>
            <a:off x="2926080" y="2971800"/>
            <a:ext cx="1920240" cy="1188720"/>
          </a:xfrm>
          <a:prstGeom prst="rect">
            <a:avLst/>
          </a:prstGeom>
          <a:noFill/>
          <a:ln/>
        </p:spPr>
        <p:txBody>
          <a:bodyPr wrap="square" lIns="0" tIns="0" rIns="0" bIns="0" rtlCol="0" anchor="ctr"/>
          <a:lstStyle/>
          <a:p>
            <a:pPr marL="0" indent="0" algn="ctr">
              <a:buNone/>
            </a:pPr>
            <a:r>
              <a:rPr lang="en-US" sz="5400" b="1" dirty="0">
                <a:solidFill>
                  <a:srgbClr val="FFFFFF"/>
                </a:solidFill>
                <a:latin typeface="Courier New" pitchFamily="34" charset="0"/>
                <a:ea typeface="Courier New" pitchFamily="34" charset="-122"/>
                <a:cs typeface="Courier New" pitchFamily="34" charset="-120"/>
              </a:rPr>
              <a:t>2</a:t>
            </a:r>
            <a:endParaRPr lang="en-US" sz="5400" dirty="0"/>
          </a:p>
        </p:txBody>
      </p:sp>
      <p:sp>
        <p:nvSpPr>
          <p:cNvPr id="8" name="Text 6"/>
          <p:cNvSpPr/>
          <p:nvPr/>
        </p:nvSpPr>
        <p:spPr>
          <a:xfrm>
            <a:off x="2926080" y="4251960"/>
            <a:ext cx="1920240" cy="457200"/>
          </a:xfrm>
          <a:prstGeom prst="rect">
            <a:avLst/>
          </a:prstGeom>
          <a:noFill/>
          <a:ln/>
        </p:spPr>
        <p:txBody>
          <a:bodyPr wrap="square" rtlCol="0" anchor="ctr"/>
          <a:lstStyle/>
          <a:p>
            <a:pPr marL="0" indent="0" algn="ctr">
              <a:buNone/>
            </a:pPr>
            <a:r>
              <a:rPr lang="en-US" sz="1800" b="1" dirty="0">
                <a:solidFill>
                  <a:srgbClr val="3DDC84"/>
                </a:solidFill>
                <a:latin typeface="Courier New" pitchFamily="34" charset="0"/>
                <a:ea typeface="Courier New" pitchFamily="34" charset="-122"/>
                <a:cs typeface="Courier New" pitchFamily="34" charset="-120"/>
              </a:rPr>
              <a:t>= 200</a:t>
            </a:r>
            <a:endParaRPr lang="en-US" sz="1800" dirty="0"/>
          </a:p>
        </p:txBody>
      </p:sp>
      <p:sp>
        <p:nvSpPr>
          <p:cNvPr id="9" name="Text 7"/>
          <p:cNvSpPr/>
          <p:nvPr/>
        </p:nvSpPr>
        <p:spPr>
          <a:xfrm>
            <a:off x="5166360" y="2286000"/>
            <a:ext cx="1920240" cy="365760"/>
          </a:xfrm>
          <a:prstGeom prst="rect">
            <a:avLst/>
          </a:prstGeom>
          <a:noFill/>
          <a:ln/>
        </p:spPr>
        <p:txBody>
          <a:bodyPr wrap="square" rtlCol="0" anchor="ctr"/>
          <a:lstStyle/>
          <a:p>
            <a:pPr marL="0" indent="0" algn="ctr">
              <a:buNone/>
            </a:pPr>
            <a:r>
              <a:rPr lang="en-US" sz="1500" b="1" dirty="0">
                <a:solidFill>
                  <a:srgbClr val="5A6B7B"/>
                </a:solidFill>
                <a:latin typeface="Calibri" pitchFamily="34" charset="0"/>
                <a:ea typeface="Calibri" pitchFamily="34" charset="-122"/>
                <a:cs typeface="Calibri" pitchFamily="34" charset="-120"/>
              </a:rPr>
              <a:t>10s</a:t>
            </a:r>
            <a:endParaRPr lang="en-US" sz="1500" dirty="0"/>
          </a:p>
        </p:txBody>
      </p:sp>
      <p:sp>
        <p:nvSpPr>
          <p:cNvPr id="10" name="Text 8"/>
          <p:cNvSpPr/>
          <p:nvPr/>
        </p:nvSpPr>
        <p:spPr>
          <a:xfrm>
            <a:off x="5166360" y="2606040"/>
            <a:ext cx="1920240" cy="320040"/>
          </a:xfrm>
          <a:prstGeom prst="rect">
            <a:avLst/>
          </a:prstGeom>
          <a:noFill/>
          <a:ln/>
        </p:spPr>
        <p:txBody>
          <a:bodyPr wrap="square" rtlCol="0" anchor="ctr"/>
          <a:lstStyle/>
          <a:p>
            <a:pPr marL="0" indent="0" algn="ctr">
              <a:buNone/>
            </a:pPr>
            <a:r>
              <a:rPr lang="en-US" sz="1200" dirty="0">
                <a:solidFill>
                  <a:srgbClr val="5A6B7B"/>
                </a:solidFill>
                <a:latin typeface="Calibri" pitchFamily="34" charset="0"/>
                <a:ea typeface="Calibri" pitchFamily="34" charset="-122"/>
                <a:cs typeface="Calibri" pitchFamily="34" charset="-120"/>
              </a:rPr>
              <a:t>10¹</a:t>
            </a:r>
            <a:endParaRPr lang="en-US" sz="1200" dirty="0"/>
          </a:p>
        </p:txBody>
      </p:sp>
      <p:sp>
        <p:nvSpPr>
          <p:cNvPr id="11" name="Shape 9"/>
          <p:cNvSpPr/>
          <p:nvPr/>
        </p:nvSpPr>
        <p:spPr>
          <a:xfrm>
            <a:off x="5166360" y="2971800"/>
            <a:ext cx="1920240" cy="1188720"/>
          </a:xfrm>
          <a:prstGeom prst="roundRect">
            <a:avLst>
              <a:gd name="adj" fmla="val 4615"/>
            </a:avLst>
          </a:prstGeom>
          <a:solidFill>
            <a:srgbClr val="13324F"/>
          </a:solidFill>
          <a:ln/>
        </p:spPr>
        <p:txBody>
          <a:bodyPr/>
          <a:lstStyle/>
          <a:p>
            <a:endParaRPr lang="en-US"/>
          </a:p>
        </p:txBody>
      </p:sp>
      <p:sp>
        <p:nvSpPr>
          <p:cNvPr id="12" name="Text 10"/>
          <p:cNvSpPr/>
          <p:nvPr/>
        </p:nvSpPr>
        <p:spPr>
          <a:xfrm>
            <a:off x="5166360" y="2971800"/>
            <a:ext cx="1920240" cy="1188720"/>
          </a:xfrm>
          <a:prstGeom prst="rect">
            <a:avLst/>
          </a:prstGeom>
          <a:noFill/>
          <a:ln/>
        </p:spPr>
        <p:txBody>
          <a:bodyPr wrap="square" lIns="0" tIns="0" rIns="0" bIns="0" rtlCol="0" anchor="ctr"/>
          <a:lstStyle/>
          <a:p>
            <a:pPr marL="0" indent="0" algn="ctr">
              <a:buNone/>
            </a:pPr>
            <a:r>
              <a:rPr lang="en-US" sz="5400" b="1" dirty="0">
                <a:solidFill>
                  <a:srgbClr val="FFFFFF"/>
                </a:solidFill>
                <a:latin typeface="Courier New" pitchFamily="34" charset="0"/>
                <a:ea typeface="Courier New" pitchFamily="34" charset="-122"/>
                <a:cs typeface="Courier New" pitchFamily="34" charset="-120"/>
              </a:rPr>
              <a:t>5</a:t>
            </a:r>
            <a:endParaRPr lang="en-US" sz="5400" dirty="0"/>
          </a:p>
        </p:txBody>
      </p:sp>
      <p:sp>
        <p:nvSpPr>
          <p:cNvPr id="13" name="Text 11"/>
          <p:cNvSpPr/>
          <p:nvPr/>
        </p:nvSpPr>
        <p:spPr>
          <a:xfrm>
            <a:off x="5166360" y="4251960"/>
            <a:ext cx="1920240" cy="457200"/>
          </a:xfrm>
          <a:prstGeom prst="rect">
            <a:avLst/>
          </a:prstGeom>
          <a:noFill/>
          <a:ln/>
        </p:spPr>
        <p:txBody>
          <a:bodyPr wrap="square" rtlCol="0" anchor="ctr"/>
          <a:lstStyle/>
          <a:p>
            <a:pPr marL="0" indent="0" algn="ctr">
              <a:buNone/>
            </a:pPr>
            <a:r>
              <a:rPr lang="en-US" sz="1800" b="1" dirty="0">
                <a:solidFill>
                  <a:srgbClr val="3DDC84"/>
                </a:solidFill>
                <a:latin typeface="Courier New" pitchFamily="34" charset="0"/>
                <a:ea typeface="Courier New" pitchFamily="34" charset="-122"/>
                <a:cs typeface="Courier New" pitchFamily="34" charset="-120"/>
              </a:rPr>
              <a:t>= 50</a:t>
            </a:r>
            <a:endParaRPr lang="en-US" sz="1800" dirty="0"/>
          </a:p>
        </p:txBody>
      </p:sp>
      <p:sp>
        <p:nvSpPr>
          <p:cNvPr id="14" name="Text 12"/>
          <p:cNvSpPr/>
          <p:nvPr/>
        </p:nvSpPr>
        <p:spPr>
          <a:xfrm>
            <a:off x="7406640" y="2286000"/>
            <a:ext cx="1920240" cy="365760"/>
          </a:xfrm>
          <a:prstGeom prst="rect">
            <a:avLst/>
          </a:prstGeom>
          <a:noFill/>
          <a:ln/>
        </p:spPr>
        <p:txBody>
          <a:bodyPr wrap="square" rtlCol="0" anchor="ctr"/>
          <a:lstStyle/>
          <a:p>
            <a:pPr marL="0" indent="0" algn="ctr">
              <a:buNone/>
            </a:pPr>
            <a:r>
              <a:rPr lang="en-US" sz="1500" b="1" dirty="0">
                <a:solidFill>
                  <a:srgbClr val="5A6B7B"/>
                </a:solidFill>
                <a:latin typeface="Calibri" pitchFamily="34" charset="0"/>
                <a:ea typeface="Calibri" pitchFamily="34" charset="-122"/>
                <a:cs typeface="Calibri" pitchFamily="34" charset="-120"/>
              </a:rPr>
              <a:t>1s</a:t>
            </a:r>
            <a:endParaRPr lang="en-US" sz="1500" dirty="0"/>
          </a:p>
        </p:txBody>
      </p:sp>
      <p:sp>
        <p:nvSpPr>
          <p:cNvPr id="15" name="Text 13"/>
          <p:cNvSpPr/>
          <p:nvPr/>
        </p:nvSpPr>
        <p:spPr>
          <a:xfrm>
            <a:off x="7406640" y="2606040"/>
            <a:ext cx="1920240" cy="320040"/>
          </a:xfrm>
          <a:prstGeom prst="rect">
            <a:avLst/>
          </a:prstGeom>
          <a:noFill/>
          <a:ln/>
        </p:spPr>
        <p:txBody>
          <a:bodyPr wrap="square" rtlCol="0" anchor="ctr"/>
          <a:lstStyle/>
          <a:p>
            <a:pPr marL="0" indent="0" algn="ctr">
              <a:buNone/>
            </a:pPr>
            <a:r>
              <a:rPr lang="en-US" sz="1200" dirty="0">
                <a:solidFill>
                  <a:srgbClr val="5A6B7B"/>
                </a:solidFill>
                <a:latin typeface="Calibri" pitchFamily="34" charset="0"/>
                <a:ea typeface="Calibri" pitchFamily="34" charset="-122"/>
                <a:cs typeface="Calibri" pitchFamily="34" charset="-120"/>
              </a:rPr>
              <a:t>10⁰</a:t>
            </a:r>
            <a:endParaRPr lang="en-US" sz="1200" dirty="0"/>
          </a:p>
        </p:txBody>
      </p:sp>
      <p:sp>
        <p:nvSpPr>
          <p:cNvPr id="16" name="Shape 14"/>
          <p:cNvSpPr/>
          <p:nvPr/>
        </p:nvSpPr>
        <p:spPr>
          <a:xfrm>
            <a:off x="7406640" y="2971800"/>
            <a:ext cx="1920240" cy="1188720"/>
          </a:xfrm>
          <a:prstGeom prst="roundRect">
            <a:avLst>
              <a:gd name="adj" fmla="val 4615"/>
            </a:avLst>
          </a:prstGeom>
          <a:solidFill>
            <a:srgbClr val="13324F"/>
          </a:solidFill>
          <a:ln/>
        </p:spPr>
        <p:txBody>
          <a:bodyPr/>
          <a:lstStyle/>
          <a:p>
            <a:endParaRPr lang="en-US"/>
          </a:p>
        </p:txBody>
      </p:sp>
      <p:sp>
        <p:nvSpPr>
          <p:cNvPr id="17" name="Text 15"/>
          <p:cNvSpPr/>
          <p:nvPr/>
        </p:nvSpPr>
        <p:spPr>
          <a:xfrm>
            <a:off x="7406640" y="2971800"/>
            <a:ext cx="1920240" cy="1188720"/>
          </a:xfrm>
          <a:prstGeom prst="rect">
            <a:avLst/>
          </a:prstGeom>
          <a:noFill/>
          <a:ln/>
        </p:spPr>
        <p:txBody>
          <a:bodyPr wrap="square" lIns="0" tIns="0" rIns="0" bIns="0" rtlCol="0" anchor="ctr"/>
          <a:lstStyle/>
          <a:p>
            <a:pPr marL="0" indent="0" algn="ctr">
              <a:buNone/>
            </a:pPr>
            <a:r>
              <a:rPr lang="en-US" sz="5400" b="1" dirty="0">
                <a:solidFill>
                  <a:srgbClr val="FFFFFF"/>
                </a:solidFill>
                <a:latin typeface="Courier New" pitchFamily="34" charset="0"/>
                <a:ea typeface="Courier New" pitchFamily="34" charset="-122"/>
                <a:cs typeface="Courier New" pitchFamily="34" charset="-120"/>
              </a:rPr>
              <a:t>3</a:t>
            </a:r>
            <a:endParaRPr lang="en-US" sz="5400" dirty="0"/>
          </a:p>
        </p:txBody>
      </p:sp>
      <p:sp>
        <p:nvSpPr>
          <p:cNvPr id="18" name="Text 16"/>
          <p:cNvSpPr/>
          <p:nvPr/>
        </p:nvSpPr>
        <p:spPr>
          <a:xfrm>
            <a:off x="7406640" y="4251960"/>
            <a:ext cx="1920240" cy="457200"/>
          </a:xfrm>
          <a:prstGeom prst="rect">
            <a:avLst/>
          </a:prstGeom>
          <a:noFill/>
          <a:ln/>
        </p:spPr>
        <p:txBody>
          <a:bodyPr wrap="square" rtlCol="0" anchor="ctr"/>
          <a:lstStyle/>
          <a:p>
            <a:pPr marL="0" indent="0" algn="ctr">
              <a:buNone/>
            </a:pPr>
            <a:r>
              <a:rPr lang="en-US" sz="1800" b="1" dirty="0">
                <a:solidFill>
                  <a:srgbClr val="3DDC84"/>
                </a:solidFill>
                <a:latin typeface="Courier New" pitchFamily="34" charset="0"/>
                <a:ea typeface="Courier New" pitchFamily="34" charset="-122"/>
                <a:cs typeface="Courier New" pitchFamily="34" charset="-120"/>
              </a:rPr>
              <a:t>= 3</a:t>
            </a:r>
            <a:endParaRPr lang="en-US" sz="1800" dirty="0"/>
          </a:p>
        </p:txBody>
      </p:sp>
      <p:sp>
        <p:nvSpPr>
          <p:cNvPr id="19" name="Text 17"/>
          <p:cNvSpPr/>
          <p:nvPr/>
        </p:nvSpPr>
        <p:spPr>
          <a:xfrm>
            <a:off x="2926080" y="4983480"/>
            <a:ext cx="6400800" cy="457200"/>
          </a:xfrm>
          <a:prstGeom prst="rect">
            <a:avLst/>
          </a:prstGeom>
          <a:noFill/>
          <a:ln/>
        </p:spPr>
        <p:txBody>
          <a:bodyPr wrap="square" rtlCol="0" anchor="ctr"/>
          <a:lstStyle/>
          <a:p>
            <a:pPr marL="0" indent="0" algn="ctr">
              <a:buNone/>
            </a:pPr>
            <a:r>
              <a:rPr lang="en-US" sz="2000" b="1" kern="0" spc="600" dirty="0">
                <a:solidFill>
                  <a:srgbClr val="5A6B7B"/>
                </a:solidFill>
                <a:latin typeface="Courier New" pitchFamily="34" charset="0"/>
                <a:ea typeface="Courier New" pitchFamily="34" charset="-122"/>
                <a:cs typeface="Courier New" pitchFamily="34" charset="-120"/>
              </a:rPr>
              <a:t>2 5 3</a:t>
            </a:r>
            <a:endParaRPr lang="en-US" sz="2000" dirty="0"/>
          </a:p>
        </p:txBody>
      </p:sp>
      <p:sp>
        <p:nvSpPr>
          <p:cNvPr id="20" name="Text 18"/>
          <p:cNvSpPr/>
          <p:nvPr/>
        </p:nvSpPr>
        <p:spPr>
          <a:xfrm>
            <a:off x="548640" y="5760720"/>
            <a:ext cx="10972800" cy="548640"/>
          </a:xfrm>
          <a:prstGeom prst="rect">
            <a:avLst/>
          </a:prstGeom>
          <a:noFill/>
          <a:ln/>
        </p:spPr>
        <p:txBody>
          <a:bodyPr wrap="square" rtlCol="0" anchor="ctr"/>
          <a:lstStyle/>
          <a:p>
            <a:pPr marL="0" indent="0" algn="ctr">
              <a:buNone/>
            </a:pPr>
            <a:r>
              <a:rPr lang="en-US" sz="2200" b="1" dirty="0">
                <a:solidFill>
                  <a:srgbClr val="0A1F33"/>
                </a:solidFill>
                <a:latin typeface="Courier New" pitchFamily="34" charset="0"/>
                <a:ea typeface="Courier New" pitchFamily="34" charset="-122"/>
                <a:cs typeface="Courier New" pitchFamily="34" charset="-120"/>
              </a:rPr>
              <a:t>200 + 50 + 3  =  253</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F33"/>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82296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Binary place value: powers of 2</a:t>
            </a:r>
            <a:endParaRPr lang="en-US" sz="3800" dirty="0"/>
          </a:p>
        </p:txBody>
      </p:sp>
      <p:sp>
        <p:nvSpPr>
          <p:cNvPr id="3" name="Text 1"/>
          <p:cNvSpPr/>
          <p:nvPr/>
        </p:nvSpPr>
        <p:spPr>
          <a:xfrm>
            <a:off x="548640" y="1325880"/>
            <a:ext cx="10972800" cy="548640"/>
          </a:xfrm>
          <a:prstGeom prst="rect">
            <a:avLst/>
          </a:prstGeom>
          <a:noFill/>
          <a:ln/>
        </p:spPr>
        <p:txBody>
          <a:bodyPr wrap="square" rtlCol="0" anchor="ctr"/>
          <a:lstStyle/>
          <a:p>
            <a:pPr marL="0" indent="0">
              <a:buNone/>
            </a:pPr>
            <a:r>
              <a:rPr lang="en-US" sz="1700" dirty="0">
                <a:solidFill>
                  <a:srgbClr val="C7D2DC"/>
                </a:solidFill>
                <a:latin typeface="Calibri" pitchFamily="34" charset="0"/>
                <a:ea typeface="Calibri" pitchFamily="34" charset="-122"/>
                <a:cs typeface="Calibri" pitchFamily="34" charset="-120"/>
              </a:rPr>
              <a:t>Same idea — but each column is worth TWO times the one to its right. Memorize these:</a:t>
            </a:r>
            <a:endParaRPr lang="en-US" sz="1700" dirty="0"/>
          </a:p>
        </p:txBody>
      </p:sp>
      <p:sp>
        <p:nvSpPr>
          <p:cNvPr id="4" name="Text 2"/>
          <p:cNvSpPr/>
          <p:nvPr/>
        </p:nvSpPr>
        <p:spPr>
          <a:xfrm>
            <a:off x="777240" y="2468880"/>
            <a:ext cx="1280160" cy="365760"/>
          </a:xfrm>
          <a:prstGeom prst="rect">
            <a:avLst/>
          </a:prstGeom>
          <a:noFill/>
          <a:ln/>
        </p:spPr>
        <p:txBody>
          <a:bodyPr wrap="square" rtlCol="0" anchor="ctr"/>
          <a:lstStyle/>
          <a:p>
            <a:pPr marL="0" indent="0" algn="ctr">
              <a:buNone/>
            </a:pPr>
            <a:r>
              <a:rPr lang="en-US" sz="1400" dirty="0">
                <a:solidFill>
                  <a:srgbClr val="3DDC84"/>
                </a:solidFill>
                <a:latin typeface="Calibri" pitchFamily="34" charset="0"/>
                <a:ea typeface="Calibri" pitchFamily="34" charset="-122"/>
                <a:cs typeface="Calibri" pitchFamily="34" charset="-120"/>
              </a:rPr>
              <a:t>2⁷</a:t>
            </a:r>
            <a:endParaRPr lang="en-US" sz="1400" dirty="0"/>
          </a:p>
        </p:txBody>
      </p:sp>
      <p:sp>
        <p:nvSpPr>
          <p:cNvPr id="5" name="Shape 3"/>
          <p:cNvSpPr/>
          <p:nvPr/>
        </p:nvSpPr>
        <p:spPr>
          <a:xfrm>
            <a:off x="777240" y="2880360"/>
            <a:ext cx="1280160" cy="1097280"/>
          </a:xfrm>
          <a:prstGeom prst="roundRect">
            <a:avLst>
              <a:gd name="adj" fmla="val 6667"/>
            </a:avLst>
          </a:prstGeom>
          <a:solidFill>
            <a:srgbClr val="13324F"/>
          </a:solidFill>
          <a:ln w="12700">
            <a:solidFill>
              <a:srgbClr val="3DDC84"/>
            </a:solidFill>
            <a:prstDash val="solid"/>
          </a:ln>
        </p:spPr>
        <p:txBody>
          <a:bodyPr/>
          <a:lstStyle/>
          <a:p>
            <a:endParaRPr lang="en-US"/>
          </a:p>
        </p:txBody>
      </p:sp>
      <p:sp>
        <p:nvSpPr>
          <p:cNvPr id="6" name="Text 4"/>
          <p:cNvSpPr/>
          <p:nvPr/>
        </p:nvSpPr>
        <p:spPr>
          <a:xfrm>
            <a:off x="777240" y="2880360"/>
            <a:ext cx="1280160" cy="109728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128</a:t>
            </a:r>
            <a:endParaRPr lang="en-US" sz="2600" dirty="0"/>
          </a:p>
        </p:txBody>
      </p:sp>
      <p:sp>
        <p:nvSpPr>
          <p:cNvPr id="7" name="Text 5"/>
          <p:cNvSpPr/>
          <p:nvPr/>
        </p:nvSpPr>
        <p:spPr>
          <a:xfrm>
            <a:off x="2176272" y="2468880"/>
            <a:ext cx="1280160" cy="365760"/>
          </a:xfrm>
          <a:prstGeom prst="rect">
            <a:avLst/>
          </a:prstGeom>
          <a:noFill/>
          <a:ln/>
        </p:spPr>
        <p:txBody>
          <a:bodyPr wrap="square" rtlCol="0" anchor="ctr"/>
          <a:lstStyle/>
          <a:p>
            <a:pPr marL="0" indent="0" algn="ctr">
              <a:buNone/>
            </a:pPr>
            <a:r>
              <a:rPr lang="en-US" sz="1400" dirty="0">
                <a:solidFill>
                  <a:srgbClr val="3DDC84"/>
                </a:solidFill>
                <a:latin typeface="Calibri" pitchFamily="34" charset="0"/>
                <a:ea typeface="Calibri" pitchFamily="34" charset="-122"/>
                <a:cs typeface="Calibri" pitchFamily="34" charset="-120"/>
              </a:rPr>
              <a:t>2⁶</a:t>
            </a:r>
            <a:endParaRPr lang="en-US" sz="1400" dirty="0"/>
          </a:p>
        </p:txBody>
      </p:sp>
      <p:sp>
        <p:nvSpPr>
          <p:cNvPr id="8" name="Shape 6"/>
          <p:cNvSpPr/>
          <p:nvPr/>
        </p:nvSpPr>
        <p:spPr>
          <a:xfrm>
            <a:off x="2176272" y="2880360"/>
            <a:ext cx="1280160" cy="1097280"/>
          </a:xfrm>
          <a:prstGeom prst="roundRect">
            <a:avLst>
              <a:gd name="adj" fmla="val 6667"/>
            </a:avLst>
          </a:prstGeom>
          <a:solidFill>
            <a:srgbClr val="13324F"/>
          </a:solidFill>
          <a:ln w="12700">
            <a:solidFill>
              <a:srgbClr val="3DDC84"/>
            </a:solidFill>
            <a:prstDash val="solid"/>
          </a:ln>
        </p:spPr>
        <p:txBody>
          <a:bodyPr/>
          <a:lstStyle/>
          <a:p>
            <a:endParaRPr lang="en-US"/>
          </a:p>
        </p:txBody>
      </p:sp>
      <p:sp>
        <p:nvSpPr>
          <p:cNvPr id="9" name="Text 7"/>
          <p:cNvSpPr/>
          <p:nvPr/>
        </p:nvSpPr>
        <p:spPr>
          <a:xfrm>
            <a:off x="2176272" y="2880360"/>
            <a:ext cx="1280160" cy="109728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64</a:t>
            </a:r>
            <a:endParaRPr lang="en-US" sz="2600" dirty="0"/>
          </a:p>
        </p:txBody>
      </p:sp>
      <p:sp>
        <p:nvSpPr>
          <p:cNvPr id="10" name="Text 8"/>
          <p:cNvSpPr/>
          <p:nvPr/>
        </p:nvSpPr>
        <p:spPr>
          <a:xfrm>
            <a:off x="3575304" y="2468880"/>
            <a:ext cx="1280160" cy="365760"/>
          </a:xfrm>
          <a:prstGeom prst="rect">
            <a:avLst/>
          </a:prstGeom>
          <a:noFill/>
          <a:ln/>
        </p:spPr>
        <p:txBody>
          <a:bodyPr wrap="square" rtlCol="0" anchor="ctr"/>
          <a:lstStyle/>
          <a:p>
            <a:pPr marL="0" indent="0" algn="ctr">
              <a:buNone/>
            </a:pPr>
            <a:r>
              <a:rPr lang="en-US" sz="1400" dirty="0">
                <a:solidFill>
                  <a:srgbClr val="3DDC84"/>
                </a:solidFill>
                <a:latin typeface="Calibri" pitchFamily="34" charset="0"/>
                <a:ea typeface="Calibri" pitchFamily="34" charset="-122"/>
                <a:cs typeface="Calibri" pitchFamily="34" charset="-120"/>
              </a:rPr>
              <a:t>2⁵</a:t>
            </a:r>
            <a:endParaRPr lang="en-US" sz="1400" dirty="0"/>
          </a:p>
        </p:txBody>
      </p:sp>
      <p:sp>
        <p:nvSpPr>
          <p:cNvPr id="11" name="Shape 9"/>
          <p:cNvSpPr/>
          <p:nvPr/>
        </p:nvSpPr>
        <p:spPr>
          <a:xfrm>
            <a:off x="3575304" y="2880360"/>
            <a:ext cx="1280160" cy="1097280"/>
          </a:xfrm>
          <a:prstGeom prst="roundRect">
            <a:avLst>
              <a:gd name="adj" fmla="val 6667"/>
            </a:avLst>
          </a:prstGeom>
          <a:solidFill>
            <a:srgbClr val="13324F"/>
          </a:solidFill>
          <a:ln w="12700">
            <a:solidFill>
              <a:srgbClr val="3DDC84"/>
            </a:solidFill>
            <a:prstDash val="solid"/>
          </a:ln>
        </p:spPr>
        <p:txBody>
          <a:bodyPr/>
          <a:lstStyle/>
          <a:p>
            <a:endParaRPr lang="en-US"/>
          </a:p>
        </p:txBody>
      </p:sp>
      <p:sp>
        <p:nvSpPr>
          <p:cNvPr id="12" name="Text 10"/>
          <p:cNvSpPr/>
          <p:nvPr/>
        </p:nvSpPr>
        <p:spPr>
          <a:xfrm>
            <a:off x="3575304" y="2880360"/>
            <a:ext cx="1280160" cy="109728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32</a:t>
            </a:r>
            <a:endParaRPr lang="en-US" sz="2600" dirty="0"/>
          </a:p>
        </p:txBody>
      </p:sp>
      <p:sp>
        <p:nvSpPr>
          <p:cNvPr id="13" name="Text 11"/>
          <p:cNvSpPr/>
          <p:nvPr/>
        </p:nvSpPr>
        <p:spPr>
          <a:xfrm>
            <a:off x="4974336" y="2468880"/>
            <a:ext cx="1280160" cy="365760"/>
          </a:xfrm>
          <a:prstGeom prst="rect">
            <a:avLst/>
          </a:prstGeom>
          <a:noFill/>
          <a:ln/>
        </p:spPr>
        <p:txBody>
          <a:bodyPr wrap="square" rtlCol="0" anchor="ctr"/>
          <a:lstStyle/>
          <a:p>
            <a:pPr marL="0" indent="0" algn="ctr">
              <a:buNone/>
            </a:pPr>
            <a:r>
              <a:rPr lang="en-US" sz="1400" dirty="0">
                <a:solidFill>
                  <a:srgbClr val="3DDC84"/>
                </a:solidFill>
                <a:latin typeface="Calibri" pitchFamily="34" charset="0"/>
                <a:ea typeface="Calibri" pitchFamily="34" charset="-122"/>
                <a:cs typeface="Calibri" pitchFamily="34" charset="-120"/>
              </a:rPr>
              <a:t>2⁴</a:t>
            </a:r>
            <a:endParaRPr lang="en-US" sz="1400" dirty="0"/>
          </a:p>
        </p:txBody>
      </p:sp>
      <p:sp>
        <p:nvSpPr>
          <p:cNvPr id="14" name="Shape 12"/>
          <p:cNvSpPr/>
          <p:nvPr/>
        </p:nvSpPr>
        <p:spPr>
          <a:xfrm>
            <a:off x="4974336" y="2880360"/>
            <a:ext cx="1280160" cy="1097280"/>
          </a:xfrm>
          <a:prstGeom prst="roundRect">
            <a:avLst>
              <a:gd name="adj" fmla="val 6667"/>
            </a:avLst>
          </a:prstGeom>
          <a:solidFill>
            <a:srgbClr val="13324F"/>
          </a:solidFill>
          <a:ln w="12700">
            <a:solidFill>
              <a:srgbClr val="3DDC84"/>
            </a:solidFill>
            <a:prstDash val="solid"/>
          </a:ln>
        </p:spPr>
        <p:txBody>
          <a:bodyPr/>
          <a:lstStyle/>
          <a:p>
            <a:endParaRPr lang="en-US"/>
          </a:p>
        </p:txBody>
      </p:sp>
      <p:sp>
        <p:nvSpPr>
          <p:cNvPr id="15" name="Text 13"/>
          <p:cNvSpPr/>
          <p:nvPr/>
        </p:nvSpPr>
        <p:spPr>
          <a:xfrm>
            <a:off x="4974336" y="2880360"/>
            <a:ext cx="1280160" cy="109728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16</a:t>
            </a:r>
            <a:endParaRPr lang="en-US" sz="2600" dirty="0"/>
          </a:p>
        </p:txBody>
      </p:sp>
      <p:sp>
        <p:nvSpPr>
          <p:cNvPr id="16" name="Text 14"/>
          <p:cNvSpPr/>
          <p:nvPr/>
        </p:nvSpPr>
        <p:spPr>
          <a:xfrm>
            <a:off x="6373368" y="2468880"/>
            <a:ext cx="1280160" cy="365760"/>
          </a:xfrm>
          <a:prstGeom prst="rect">
            <a:avLst/>
          </a:prstGeom>
          <a:noFill/>
          <a:ln/>
        </p:spPr>
        <p:txBody>
          <a:bodyPr wrap="square" rtlCol="0" anchor="ctr"/>
          <a:lstStyle/>
          <a:p>
            <a:pPr marL="0" indent="0" algn="ctr">
              <a:buNone/>
            </a:pPr>
            <a:r>
              <a:rPr lang="en-US" sz="1400" dirty="0">
                <a:solidFill>
                  <a:srgbClr val="3DDC84"/>
                </a:solidFill>
                <a:latin typeface="Calibri" pitchFamily="34" charset="0"/>
                <a:ea typeface="Calibri" pitchFamily="34" charset="-122"/>
                <a:cs typeface="Calibri" pitchFamily="34" charset="-120"/>
              </a:rPr>
              <a:t>2³</a:t>
            </a:r>
            <a:endParaRPr lang="en-US" sz="1400" dirty="0"/>
          </a:p>
        </p:txBody>
      </p:sp>
      <p:sp>
        <p:nvSpPr>
          <p:cNvPr id="17" name="Shape 15"/>
          <p:cNvSpPr/>
          <p:nvPr/>
        </p:nvSpPr>
        <p:spPr>
          <a:xfrm>
            <a:off x="6373368" y="2880360"/>
            <a:ext cx="1280160" cy="1097280"/>
          </a:xfrm>
          <a:prstGeom prst="roundRect">
            <a:avLst>
              <a:gd name="adj" fmla="val 6667"/>
            </a:avLst>
          </a:prstGeom>
          <a:solidFill>
            <a:srgbClr val="13324F"/>
          </a:solidFill>
          <a:ln w="12700">
            <a:solidFill>
              <a:srgbClr val="3DDC84"/>
            </a:solidFill>
            <a:prstDash val="solid"/>
          </a:ln>
        </p:spPr>
        <p:txBody>
          <a:bodyPr/>
          <a:lstStyle/>
          <a:p>
            <a:endParaRPr lang="en-US"/>
          </a:p>
        </p:txBody>
      </p:sp>
      <p:sp>
        <p:nvSpPr>
          <p:cNvPr id="18" name="Text 16"/>
          <p:cNvSpPr/>
          <p:nvPr/>
        </p:nvSpPr>
        <p:spPr>
          <a:xfrm>
            <a:off x="6373368" y="2880360"/>
            <a:ext cx="1280160" cy="109728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8</a:t>
            </a:r>
            <a:endParaRPr lang="en-US" sz="2600" dirty="0"/>
          </a:p>
        </p:txBody>
      </p:sp>
      <p:sp>
        <p:nvSpPr>
          <p:cNvPr id="19" name="Text 17"/>
          <p:cNvSpPr/>
          <p:nvPr/>
        </p:nvSpPr>
        <p:spPr>
          <a:xfrm>
            <a:off x="7772400" y="2468880"/>
            <a:ext cx="1280160" cy="365760"/>
          </a:xfrm>
          <a:prstGeom prst="rect">
            <a:avLst/>
          </a:prstGeom>
          <a:noFill/>
          <a:ln/>
        </p:spPr>
        <p:txBody>
          <a:bodyPr wrap="square" rtlCol="0" anchor="ctr"/>
          <a:lstStyle/>
          <a:p>
            <a:pPr marL="0" indent="0" algn="ctr">
              <a:buNone/>
            </a:pPr>
            <a:r>
              <a:rPr lang="en-US" sz="1400" dirty="0">
                <a:solidFill>
                  <a:srgbClr val="3DDC84"/>
                </a:solidFill>
                <a:latin typeface="Calibri" pitchFamily="34" charset="0"/>
                <a:ea typeface="Calibri" pitchFamily="34" charset="-122"/>
                <a:cs typeface="Calibri" pitchFamily="34" charset="-120"/>
              </a:rPr>
              <a:t>2²</a:t>
            </a:r>
            <a:endParaRPr lang="en-US" sz="1400" dirty="0"/>
          </a:p>
        </p:txBody>
      </p:sp>
      <p:sp>
        <p:nvSpPr>
          <p:cNvPr id="20" name="Shape 18"/>
          <p:cNvSpPr/>
          <p:nvPr/>
        </p:nvSpPr>
        <p:spPr>
          <a:xfrm>
            <a:off x="7772400" y="2880360"/>
            <a:ext cx="1280160" cy="1097280"/>
          </a:xfrm>
          <a:prstGeom prst="roundRect">
            <a:avLst>
              <a:gd name="adj" fmla="val 6667"/>
            </a:avLst>
          </a:prstGeom>
          <a:solidFill>
            <a:srgbClr val="13324F"/>
          </a:solidFill>
          <a:ln w="12700">
            <a:solidFill>
              <a:srgbClr val="3DDC84"/>
            </a:solidFill>
            <a:prstDash val="solid"/>
          </a:ln>
        </p:spPr>
        <p:txBody>
          <a:bodyPr/>
          <a:lstStyle/>
          <a:p>
            <a:endParaRPr lang="en-US"/>
          </a:p>
        </p:txBody>
      </p:sp>
      <p:sp>
        <p:nvSpPr>
          <p:cNvPr id="21" name="Text 19"/>
          <p:cNvSpPr/>
          <p:nvPr/>
        </p:nvSpPr>
        <p:spPr>
          <a:xfrm>
            <a:off x="7772400" y="2880360"/>
            <a:ext cx="1280160" cy="109728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4</a:t>
            </a:r>
            <a:endParaRPr lang="en-US" sz="2600" dirty="0"/>
          </a:p>
        </p:txBody>
      </p:sp>
      <p:sp>
        <p:nvSpPr>
          <p:cNvPr id="22" name="Text 20"/>
          <p:cNvSpPr/>
          <p:nvPr/>
        </p:nvSpPr>
        <p:spPr>
          <a:xfrm>
            <a:off x="9171432" y="2468880"/>
            <a:ext cx="1280160" cy="365760"/>
          </a:xfrm>
          <a:prstGeom prst="rect">
            <a:avLst/>
          </a:prstGeom>
          <a:noFill/>
          <a:ln/>
        </p:spPr>
        <p:txBody>
          <a:bodyPr wrap="square" rtlCol="0" anchor="ctr"/>
          <a:lstStyle/>
          <a:p>
            <a:pPr marL="0" indent="0" algn="ctr">
              <a:buNone/>
            </a:pPr>
            <a:r>
              <a:rPr lang="en-US" sz="1400" dirty="0">
                <a:solidFill>
                  <a:srgbClr val="3DDC84"/>
                </a:solidFill>
                <a:latin typeface="Calibri" pitchFamily="34" charset="0"/>
                <a:ea typeface="Calibri" pitchFamily="34" charset="-122"/>
                <a:cs typeface="Calibri" pitchFamily="34" charset="-120"/>
              </a:rPr>
              <a:t>2¹</a:t>
            </a:r>
            <a:endParaRPr lang="en-US" sz="1400" dirty="0"/>
          </a:p>
        </p:txBody>
      </p:sp>
      <p:sp>
        <p:nvSpPr>
          <p:cNvPr id="23" name="Shape 21"/>
          <p:cNvSpPr/>
          <p:nvPr/>
        </p:nvSpPr>
        <p:spPr>
          <a:xfrm>
            <a:off x="9171432" y="2880360"/>
            <a:ext cx="1280160" cy="1097280"/>
          </a:xfrm>
          <a:prstGeom prst="roundRect">
            <a:avLst>
              <a:gd name="adj" fmla="val 6667"/>
            </a:avLst>
          </a:prstGeom>
          <a:solidFill>
            <a:srgbClr val="13324F"/>
          </a:solidFill>
          <a:ln w="12700">
            <a:solidFill>
              <a:srgbClr val="3DDC84"/>
            </a:solidFill>
            <a:prstDash val="solid"/>
          </a:ln>
        </p:spPr>
        <p:txBody>
          <a:bodyPr/>
          <a:lstStyle/>
          <a:p>
            <a:endParaRPr lang="en-US"/>
          </a:p>
        </p:txBody>
      </p:sp>
      <p:sp>
        <p:nvSpPr>
          <p:cNvPr id="24" name="Text 22"/>
          <p:cNvSpPr/>
          <p:nvPr/>
        </p:nvSpPr>
        <p:spPr>
          <a:xfrm>
            <a:off x="9171432" y="2880360"/>
            <a:ext cx="1280160" cy="109728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2</a:t>
            </a:r>
            <a:endParaRPr lang="en-US" sz="2600" dirty="0"/>
          </a:p>
        </p:txBody>
      </p:sp>
      <p:sp>
        <p:nvSpPr>
          <p:cNvPr id="25" name="Text 23"/>
          <p:cNvSpPr/>
          <p:nvPr/>
        </p:nvSpPr>
        <p:spPr>
          <a:xfrm>
            <a:off x="10570464" y="2468880"/>
            <a:ext cx="1280160" cy="365760"/>
          </a:xfrm>
          <a:prstGeom prst="rect">
            <a:avLst/>
          </a:prstGeom>
          <a:noFill/>
          <a:ln/>
        </p:spPr>
        <p:txBody>
          <a:bodyPr wrap="square" rtlCol="0" anchor="ctr"/>
          <a:lstStyle/>
          <a:p>
            <a:pPr marL="0" indent="0" algn="ctr">
              <a:buNone/>
            </a:pPr>
            <a:r>
              <a:rPr lang="en-US" sz="1400" dirty="0">
                <a:solidFill>
                  <a:srgbClr val="3DDC84"/>
                </a:solidFill>
                <a:latin typeface="Calibri" pitchFamily="34" charset="0"/>
                <a:ea typeface="Calibri" pitchFamily="34" charset="-122"/>
                <a:cs typeface="Calibri" pitchFamily="34" charset="-120"/>
              </a:rPr>
              <a:t>2⁰</a:t>
            </a:r>
            <a:endParaRPr lang="en-US" sz="1400" dirty="0"/>
          </a:p>
        </p:txBody>
      </p:sp>
      <p:sp>
        <p:nvSpPr>
          <p:cNvPr id="26" name="Shape 24"/>
          <p:cNvSpPr/>
          <p:nvPr/>
        </p:nvSpPr>
        <p:spPr>
          <a:xfrm>
            <a:off x="10570464" y="2880360"/>
            <a:ext cx="1280160" cy="1097280"/>
          </a:xfrm>
          <a:prstGeom prst="roundRect">
            <a:avLst>
              <a:gd name="adj" fmla="val 6667"/>
            </a:avLst>
          </a:prstGeom>
          <a:solidFill>
            <a:srgbClr val="13324F"/>
          </a:solidFill>
          <a:ln w="12700">
            <a:solidFill>
              <a:srgbClr val="3DDC84"/>
            </a:solidFill>
            <a:prstDash val="solid"/>
          </a:ln>
        </p:spPr>
        <p:txBody>
          <a:bodyPr/>
          <a:lstStyle/>
          <a:p>
            <a:endParaRPr lang="en-US"/>
          </a:p>
        </p:txBody>
      </p:sp>
      <p:sp>
        <p:nvSpPr>
          <p:cNvPr id="27" name="Text 25"/>
          <p:cNvSpPr/>
          <p:nvPr/>
        </p:nvSpPr>
        <p:spPr>
          <a:xfrm>
            <a:off x="10570464" y="2880360"/>
            <a:ext cx="1280160" cy="109728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1</a:t>
            </a:r>
            <a:endParaRPr lang="en-US" sz="2600" dirty="0"/>
          </a:p>
        </p:txBody>
      </p:sp>
      <p:sp>
        <p:nvSpPr>
          <p:cNvPr id="28" name="Text 26"/>
          <p:cNvSpPr/>
          <p:nvPr/>
        </p:nvSpPr>
        <p:spPr>
          <a:xfrm>
            <a:off x="777240" y="4297680"/>
            <a:ext cx="10607040" cy="457200"/>
          </a:xfrm>
          <a:prstGeom prst="rect">
            <a:avLst/>
          </a:prstGeom>
          <a:noFill/>
          <a:ln/>
        </p:spPr>
        <p:txBody>
          <a:bodyPr wrap="square" rtlCol="0" anchor="ctr"/>
          <a:lstStyle/>
          <a:p>
            <a:pPr marL="0" indent="0" algn="ctr">
              <a:buNone/>
            </a:pPr>
            <a:r>
              <a:rPr lang="en-US" sz="1600" i="1" dirty="0">
                <a:solidFill>
                  <a:srgbClr val="F4B740"/>
                </a:solidFill>
                <a:latin typeface="Calibri" pitchFamily="34" charset="0"/>
                <a:ea typeface="Calibri" pitchFamily="34" charset="-122"/>
                <a:cs typeface="Calibri" pitchFamily="34" charset="-120"/>
              </a:rPr>
              <a:t>Reading left to right, the columns double each step: 1, 2, 4, 8, 16, 32, 64, 128 …</a:t>
            </a:r>
            <a:endParaRPr lang="en-US" sz="1600" dirty="0"/>
          </a:p>
        </p:txBody>
      </p:sp>
      <p:sp>
        <p:nvSpPr>
          <p:cNvPr id="29" name="Text 27"/>
          <p:cNvSpPr/>
          <p:nvPr/>
        </p:nvSpPr>
        <p:spPr>
          <a:xfrm>
            <a:off x="777240" y="5120640"/>
            <a:ext cx="10607040" cy="5486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8 columns = 8 bits = 1 byte, which can store any value from 0 to 255.</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822960"/>
          </a:xfrm>
          <a:prstGeom prst="rect">
            <a:avLst/>
          </a:prstGeom>
          <a:noFill/>
          <a:ln/>
        </p:spPr>
        <p:txBody>
          <a:bodyPr wrap="square" rtlCol="0" anchor="ctr"/>
          <a:lstStyle/>
          <a:p>
            <a:pPr marL="0" indent="0">
              <a:buNone/>
            </a:pPr>
            <a:r>
              <a:rPr lang="en-US" sz="3800" b="1" dirty="0">
                <a:solidFill>
                  <a:srgbClr val="0A1F33"/>
                </a:solidFill>
                <a:latin typeface="Cambria" pitchFamily="34" charset="0"/>
                <a:ea typeface="Cambria" pitchFamily="34" charset="-122"/>
                <a:cs typeface="Cambria" pitchFamily="34" charset="-120"/>
              </a:rPr>
              <a:t>Binary → Decimal</a:t>
            </a:r>
            <a:endParaRPr lang="en-US" sz="3800" dirty="0"/>
          </a:p>
        </p:txBody>
      </p:sp>
      <p:sp>
        <p:nvSpPr>
          <p:cNvPr id="3" name="Text 1"/>
          <p:cNvSpPr/>
          <p:nvPr/>
        </p:nvSpPr>
        <p:spPr>
          <a:xfrm>
            <a:off x="548640" y="1280160"/>
            <a:ext cx="8229600" cy="457200"/>
          </a:xfrm>
          <a:prstGeom prst="rect">
            <a:avLst/>
          </a:prstGeom>
          <a:noFill/>
          <a:ln/>
        </p:spPr>
        <p:txBody>
          <a:bodyPr wrap="square" rtlCol="0" anchor="ctr"/>
          <a:lstStyle/>
          <a:p>
            <a:pPr marL="0" indent="0">
              <a:buNone/>
            </a:pPr>
            <a:r>
              <a:rPr lang="en-US" sz="1700" dirty="0">
                <a:solidFill>
                  <a:srgbClr val="5A6B7B"/>
                </a:solidFill>
                <a:latin typeface="Calibri" pitchFamily="34" charset="0"/>
                <a:ea typeface="Calibri" pitchFamily="34" charset="-122"/>
                <a:cs typeface="Calibri" pitchFamily="34" charset="-120"/>
              </a:rPr>
              <a:t>Add up the place values wherever there is a 1.</a:t>
            </a:r>
            <a:endParaRPr lang="en-US" sz="1700" dirty="0"/>
          </a:p>
        </p:txBody>
      </p:sp>
      <p:sp>
        <p:nvSpPr>
          <p:cNvPr id="4" name="Text 2"/>
          <p:cNvSpPr/>
          <p:nvPr/>
        </p:nvSpPr>
        <p:spPr>
          <a:xfrm>
            <a:off x="777240" y="2148840"/>
            <a:ext cx="1280160" cy="365760"/>
          </a:xfrm>
          <a:prstGeom prst="rect">
            <a:avLst/>
          </a:prstGeom>
          <a:noFill/>
          <a:ln/>
        </p:spPr>
        <p:txBody>
          <a:bodyPr wrap="square" rtlCol="0" anchor="ctr"/>
          <a:lstStyle/>
          <a:p>
            <a:pPr marL="0" indent="0" algn="ctr">
              <a:buNone/>
            </a:pPr>
            <a:r>
              <a:rPr lang="en-US" sz="1300" dirty="0">
                <a:solidFill>
                  <a:srgbClr val="5A6B7B"/>
                </a:solidFill>
                <a:latin typeface="Calibri" pitchFamily="34" charset="0"/>
                <a:ea typeface="Calibri" pitchFamily="34" charset="-122"/>
                <a:cs typeface="Calibri" pitchFamily="34" charset="-120"/>
              </a:rPr>
              <a:t>128</a:t>
            </a:r>
            <a:endParaRPr lang="en-US" sz="1300" dirty="0"/>
          </a:p>
        </p:txBody>
      </p:sp>
      <p:sp>
        <p:nvSpPr>
          <p:cNvPr id="5" name="Shape 3"/>
          <p:cNvSpPr/>
          <p:nvPr/>
        </p:nvSpPr>
        <p:spPr>
          <a:xfrm>
            <a:off x="777240" y="2560320"/>
            <a:ext cx="1280160" cy="1143000"/>
          </a:xfrm>
          <a:prstGeom prst="roundRect">
            <a:avLst>
              <a:gd name="adj" fmla="val 4800"/>
            </a:avLst>
          </a:prstGeom>
          <a:solidFill>
            <a:srgbClr val="1E5C3A"/>
          </a:solidFill>
          <a:ln/>
        </p:spPr>
        <p:txBody>
          <a:bodyPr/>
          <a:lstStyle/>
          <a:p>
            <a:endParaRPr lang="en-US"/>
          </a:p>
        </p:txBody>
      </p:sp>
      <p:sp>
        <p:nvSpPr>
          <p:cNvPr id="6" name="Text 4"/>
          <p:cNvSpPr/>
          <p:nvPr/>
        </p:nvSpPr>
        <p:spPr>
          <a:xfrm>
            <a:off x="777240" y="2560320"/>
            <a:ext cx="1280160" cy="1143000"/>
          </a:xfrm>
          <a:prstGeom prst="rect">
            <a:avLst/>
          </a:prstGeom>
          <a:noFill/>
          <a:ln/>
        </p:spPr>
        <p:txBody>
          <a:bodyPr wrap="square" lIns="0" tIns="0" rIns="0" bIns="0" rtlCol="0" anchor="ctr"/>
          <a:lstStyle/>
          <a:p>
            <a:pPr marL="0" indent="0" algn="ctr">
              <a:buNone/>
            </a:pPr>
            <a:r>
              <a:rPr lang="en-US" sz="4000" b="1" dirty="0">
                <a:solidFill>
                  <a:srgbClr val="3DDC84"/>
                </a:solidFill>
                <a:latin typeface="Courier New" pitchFamily="34" charset="0"/>
                <a:ea typeface="Courier New" pitchFamily="34" charset="-122"/>
                <a:cs typeface="Courier New" pitchFamily="34" charset="-120"/>
              </a:rPr>
              <a:t>1</a:t>
            </a:r>
            <a:endParaRPr lang="en-US" sz="4000" dirty="0"/>
          </a:p>
        </p:txBody>
      </p:sp>
      <p:sp>
        <p:nvSpPr>
          <p:cNvPr id="7" name="Text 5"/>
          <p:cNvSpPr/>
          <p:nvPr/>
        </p:nvSpPr>
        <p:spPr>
          <a:xfrm>
            <a:off x="777240" y="3794760"/>
            <a:ext cx="1280160" cy="411480"/>
          </a:xfrm>
          <a:prstGeom prst="rect">
            <a:avLst/>
          </a:prstGeom>
          <a:noFill/>
          <a:ln/>
        </p:spPr>
        <p:txBody>
          <a:bodyPr wrap="square" rtlCol="0" anchor="ctr"/>
          <a:lstStyle/>
          <a:p>
            <a:pPr marL="0" indent="0" algn="ctr">
              <a:buNone/>
            </a:pPr>
            <a:r>
              <a:rPr lang="en-US" sz="1600" b="1" dirty="0">
                <a:solidFill>
                  <a:srgbClr val="0A1F33"/>
                </a:solidFill>
                <a:latin typeface="Courier New" pitchFamily="34" charset="0"/>
                <a:ea typeface="Courier New" pitchFamily="34" charset="-122"/>
                <a:cs typeface="Courier New" pitchFamily="34" charset="-120"/>
              </a:rPr>
              <a:t>128</a:t>
            </a:r>
            <a:endParaRPr lang="en-US" sz="1600" dirty="0"/>
          </a:p>
        </p:txBody>
      </p:sp>
      <p:sp>
        <p:nvSpPr>
          <p:cNvPr id="8" name="Text 6"/>
          <p:cNvSpPr/>
          <p:nvPr/>
        </p:nvSpPr>
        <p:spPr>
          <a:xfrm>
            <a:off x="2176272" y="2148840"/>
            <a:ext cx="1280160" cy="365760"/>
          </a:xfrm>
          <a:prstGeom prst="rect">
            <a:avLst/>
          </a:prstGeom>
          <a:noFill/>
          <a:ln/>
        </p:spPr>
        <p:txBody>
          <a:bodyPr wrap="square" rtlCol="0" anchor="ctr"/>
          <a:lstStyle/>
          <a:p>
            <a:pPr marL="0" indent="0" algn="ctr">
              <a:buNone/>
            </a:pPr>
            <a:r>
              <a:rPr lang="en-US" sz="1300" dirty="0">
                <a:solidFill>
                  <a:srgbClr val="5A6B7B"/>
                </a:solidFill>
                <a:latin typeface="Calibri" pitchFamily="34" charset="0"/>
                <a:ea typeface="Calibri" pitchFamily="34" charset="-122"/>
                <a:cs typeface="Calibri" pitchFamily="34" charset="-120"/>
              </a:rPr>
              <a:t>64</a:t>
            </a:r>
            <a:endParaRPr lang="en-US" sz="1300" dirty="0"/>
          </a:p>
        </p:txBody>
      </p:sp>
      <p:sp>
        <p:nvSpPr>
          <p:cNvPr id="9" name="Shape 7"/>
          <p:cNvSpPr/>
          <p:nvPr/>
        </p:nvSpPr>
        <p:spPr>
          <a:xfrm>
            <a:off x="2176272" y="2560320"/>
            <a:ext cx="1280160" cy="1143000"/>
          </a:xfrm>
          <a:prstGeom prst="roundRect">
            <a:avLst>
              <a:gd name="adj" fmla="val 4800"/>
            </a:avLst>
          </a:prstGeom>
          <a:solidFill>
            <a:srgbClr val="D5DEE6"/>
          </a:solidFill>
          <a:ln/>
        </p:spPr>
        <p:txBody>
          <a:bodyPr/>
          <a:lstStyle/>
          <a:p>
            <a:endParaRPr lang="en-US"/>
          </a:p>
        </p:txBody>
      </p:sp>
      <p:sp>
        <p:nvSpPr>
          <p:cNvPr id="10" name="Text 8"/>
          <p:cNvSpPr/>
          <p:nvPr/>
        </p:nvSpPr>
        <p:spPr>
          <a:xfrm>
            <a:off x="2176272" y="2560320"/>
            <a:ext cx="1280160" cy="1143000"/>
          </a:xfrm>
          <a:prstGeom prst="rect">
            <a:avLst/>
          </a:prstGeom>
          <a:noFill/>
          <a:ln/>
        </p:spPr>
        <p:txBody>
          <a:bodyPr wrap="square" lIns="0" tIns="0" rIns="0" bIns="0" rtlCol="0" anchor="ctr"/>
          <a:lstStyle/>
          <a:p>
            <a:pPr marL="0" indent="0" algn="ctr">
              <a:buNone/>
            </a:pPr>
            <a:r>
              <a:rPr lang="en-US" sz="4000" b="1" dirty="0">
                <a:solidFill>
                  <a:srgbClr val="5A6B7B"/>
                </a:solidFill>
                <a:latin typeface="Courier New" pitchFamily="34" charset="0"/>
                <a:ea typeface="Courier New" pitchFamily="34" charset="-122"/>
                <a:cs typeface="Courier New" pitchFamily="34" charset="-120"/>
              </a:rPr>
              <a:t>0</a:t>
            </a:r>
            <a:endParaRPr lang="en-US" sz="4000" dirty="0"/>
          </a:p>
        </p:txBody>
      </p:sp>
      <p:sp>
        <p:nvSpPr>
          <p:cNvPr id="11" name="Text 9"/>
          <p:cNvSpPr/>
          <p:nvPr/>
        </p:nvSpPr>
        <p:spPr>
          <a:xfrm>
            <a:off x="2176272" y="3794760"/>
            <a:ext cx="1280160" cy="411480"/>
          </a:xfrm>
          <a:prstGeom prst="rect">
            <a:avLst/>
          </a:prstGeom>
          <a:noFill/>
          <a:ln/>
        </p:spPr>
        <p:txBody>
          <a:bodyPr wrap="square" rtlCol="0" anchor="ctr"/>
          <a:lstStyle/>
          <a:p>
            <a:pPr marL="0" indent="0" algn="ctr">
              <a:buNone/>
            </a:pPr>
            <a:r>
              <a:rPr lang="en-US" sz="1600" b="1" dirty="0">
                <a:solidFill>
                  <a:srgbClr val="B9C4CE"/>
                </a:solidFill>
                <a:latin typeface="Courier New" pitchFamily="34" charset="0"/>
                <a:ea typeface="Courier New" pitchFamily="34" charset="-122"/>
                <a:cs typeface="Courier New" pitchFamily="34" charset="-120"/>
              </a:rPr>
              <a:t>—</a:t>
            </a:r>
            <a:endParaRPr lang="en-US" sz="1600" dirty="0"/>
          </a:p>
        </p:txBody>
      </p:sp>
      <p:sp>
        <p:nvSpPr>
          <p:cNvPr id="12" name="Text 10"/>
          <p:cNvSpPr/>
          <p:nvPr/>
        </p:nvSpPr>
        <p:spPr>
          <a:xfrm>
            <a:off x="3575304" y="2148840"/>
            <a:ext cx="1280160" cy="365760"/>
          </a:xfrm>
          <a:prstGeom prst="rect">
            <a:avLst/>
          </a:prstGeom>
          <a:noFill/>
          <a:ln/>
        </p:spPr>
        <p:txBody>
          <a:bodyPr wrap="square" rtlCol="0" anchor="ctr"/>
          <a:lstStyle/>
          <a:p>
            <a:pPr marL="0" indent="0" algn="ctr">
              <a:buNone/>
            </a:pPr>
            <a:r>
              <a:rPr lang="en-US" sz="1300" dirty="0">
                <a:solidFill>
                  <a:srgbClr val="5A6B7B"/>
                </a:solidFill>
                <a:latin typeface="Calibri" pitchFamily="34" charset="0"/>
                <a:ea typeface="Calibri" pitchFamily="34" charset="-122"/>
                <a:cs typeface="Calibri" pitchFamily="34" charset="-120"/>
              </a:rPr>
              <a:t>32</a:t>
            </a:r>
            <a:endParaRPr lang="en-US" sz="1300" dirty="0"/>
          </a:p>
        </p:txBody>
      </p:sp>
      <p:sp>
        <p:nvSpPr>
          <p:cNvPr id="13" name="Shape 11"/>
          <p:cNvSpPr/>
          <p:nvPr/>
        </p:nvSpPr>
        <p:spPr>
          <a:xfrm>
            <a:off x="3575304" y="2560320"/>
            <a:ext cx="1280160" cy="1143000"/>
          </a:xfrm>
          <a:prstGeom prst="roundRect">
            <a:avLst>
              <a:gd name="adj" fmla="val 4800"/>
            </a:avLst>
          </a:prstGeom>
          <a:solidFill>
            <a:srgbClr val="1E5C3A"/>
          </a:solidFill>
          <a:ln/>
        </p:spPr>
        <p:txBody>
          <a:bodyPr/>
          <a:lstStyle/>
          <a:p>
            <a:endParaRPr lang="en-US"/>
          </a:p>
        </p:txBody>
      </p:sp>
      <p:sp>
        <p:nvSpPr>
          <p:cNvPr id="14" name="Text 12"/>
          <p:cNvSpPr/>
          <p:nvPr/>
        </p:nvSpPr>
        <p:spPr>
          <a:xfrm>
            <a:off x="3575304" y="2560320"/>
            <a:ext cx="1280160" cy="1143000"/>
          </a:xfrm>
          <a:prstGeom prst="rect">
            <a:avLst/>
          </a:prstGeom>
          <a:noFill/>
          <a:ln/>
        </p:spPr>
        <p:txBody>
          <a:bodyPr wrap="square" lIns="0" tIns="0" rIns="0" bIns="0" rtlCol="0" anchor="ctr"/>
          <a:lstStyle/>
          <a:p>
            <a:pPr marL="0" indent="0" algn="ctr">
              <a:buNone/>
            </a:pPr>
            <a:r>
              <a:rPr lang="en-US" sz="4000" b="1" dirty="0">
                <a:solidFill>
                  <a:srgbClr val="3DDC84"/>
                </a:solidFill>
                <a:latin typeface="Courier New" pitchFamily="34" charset="0"/>
                <a:ea typeface="Courier New" pitchFamily="34" charset="-122"/>
                <a:cs typeface="Courier New" pitchFamily="34" charset="-120"/>
              </a:rPr>
              <a:t>1</a:t>
            </a:r>
            <a:endParaRPr lang="en-US" sz="4000" dirty="0"/>
          </a:p>
        </p:txBody>
      </p:sp>
      <p:sp>
        <p:nvSpPr>
          <p:cNvPr id="15" name="Text 13"/>
          <p:cNvSpPr/>
          <p:nvPr/>
        </p:nvSpPr>
        <p:spPr>
          <a:xfrm>
            <a:off x="3575304" y="3794760"/>
            <a:ext cx="1280160" cy="411480"/>
          </a:xfrm>
          <a:prstGeom prst="rect">
            <a:avLst/>
          </a:prstGeom>
          <a:noFill/>
          <a:ln/>
        </p:spPr>
        <p:txBody>
          <a:bodyPr wrap="square" rtlCol="0" anchor="ctr"/>
          <a:lstStyle/>
          <a:p>
            <a:pPr marL="0" indent="0" algn="ctr">
              <a:buNone/>
            </a:pPr>
            <a:r>
              <a:rPr lang="en-US" sz="1600" b="1" dirty="0">
                <a:solidFill>
                  <a:srgbClr val="0A1F33"/>
                </a:solidFill>
                <a:latin typeface="Courier New" pitchFamily="34" charset="0"/>
                <a:ea typeface="Courier New" pitchFamily="34" charset="-122"/>
                <a:cs typeface="Courier New" pitchFamily="34" charset="-120"/>
              </a:rPr>
              <a:t>32</a:t>
            </a:r>
            <a:endParaRPr lang="en-US" sz="1600" dirty="0"/>
          </a:p>
        </p:txBody>
      </p:sp>
      <p:sp>
        <p:nvSpPr>
          <p:cNvPr id="16" name="Text 14"/>
          <p:cNvSpPr/>
          <p:nvPr/>
        </p:nvSpPr>
        <p:spPr>
          <a:xfrm>
            <a:off x="4974336" y="2148840"/>
            <a:ext cx="1280160" cy="365760"/>
          </a:xfrm>
          <a:prstGeom prst="rect">
            <a:avLst/>
          </a:prstGeom>
          <a:noFill/>
          <a:ln/>
        </p:spPr>
        <p:txBody>
          <a:bodyPr wrap="square" rtlCol="0" anchor="ctr"/>
          <a:lstStyle/>
          <a:p>
            <a:pPr marL="0" indent="0" algn="ctr">
              <a:buNone/>
            </a:pPr>
            <a:r>
              <a:rPr lang="en-US" sz="1300" dirty="0">
                <a:solidFill>
                  <a:srgbClr val="5A6B7B"/>
                </a:solidFill>
                <a:latin typeface="Calibri" pitchFamily="34" charset="0"/>
                <a:ea typeface="Calibri" pitchFamily="34" charset="-122"/>
                <a:cs typeface="Calibri" pitchFamily="34" charset="-120"/>
              </a:rPr>
              <a:t>16</a:t>
            </a:r>
            <a:endParaRPr lang="en-US" sz="1300" dirty="0"/>
          </a:p>
        </p:txBody>
      </p:sp>
      <p:sp>
        <p:nvSpPr>
          <p:cNvPr id="17" name="Shape 15"/>
          <p:cNvSpPr/>
          <p:nvPr/>
        </p:nvSpPr>
        <p:spPr>
          <a:xfrm>
            <a:off x="4974336" y="2560320"/>
            <a:ext cx="1280160" cy="1143000"/>
          </a:xfrm>
          <a:prstGeom prst="roundRect">
            <a:avLst>
              <a:gd name="adj" fmla="val 4800"/>
            </a:avLst>
          </a:prstGeom>
          <a:solidFill>
            <a:srgbClr val="1E5C3A"/>
          </a:solidFill>
          <a:ln/>
        </p:spPr>
        <p:txBody>
          <a:bodyPr/>
          <a:lstStyle/>
          <a:p>
            <a:endParaRPr lang="en-US"/>
          </a:p>
        </p:txBody>
      </p:sp>
      <p:sp>
        <p:nvSpPr>
          <p:cNvPr id="18" name="Text 16"/>
          <p:cNvSpPr/>
          <p:nvPr/>
        </p:nvSpPr>
        <p:spPr>
          <a:xfrm>
            <a:off x="4974336" y="2560320"/>
            <a:ext cx="1280160" cy="1143000"/>
          </a:xfrm>
          <a:prstGeom prst="rect">
            <a:avLst/>
          </a:prstGeom>
          <a:noFill/>
          <a:ln/>
        </p:spPr>
        <p:txBody>
          <a:bodyPr wrap="square" lIns="0" tIns="0" rIns="0" bIns="0" rtlCol="0" anchor="ctr"/>
          <a:lstStyle/>
          <a:p>
            <a:pPr marL="0" indent="0" algn="ctr">
              <a:buNone/>
            </a:pPr>
            <a:r>
              <a:rPr lang="en-US" sz="4000" b="1" dirty="0">
                <a:solidFill>
                  <a:srgbClr val="3DDC84"/>
                </a:solidFill>
                <a:latin typeface="Courier New" pitchFamily="34" charset="0"/>
                <a:ea typeface="Courier New" pitchFamily="34" charset="-122"/>
                <a:cs typeface="Courier New" pitchFamily="34" charset="-120"/>
              </a:rPr>
              <a:t>1</a:t>
            </a:r>
            <a:endParaRPr lang="en-US" sz="4000" dirty="0"/>
          </a:p>
        </p:txBody>
      </p:sp>
      <p:sp>
        <p:nvSpPr>
          <p:cNvPr id="19" name="Text 17"/>
          <p:cNvSpPr/>
          <p:nvPr/>
        </p:nvSpPr>
        <p:spPr>
          <a:xfrm>
            <a:off x="4974336" y="3794760"/>
            <a:ext cx="1280160" cy="411480"/>
          </a:xfrm>
          <a:prstGeom prst="rect">
            <a:avLst/>
          </a:prstGeom>
          <a:noFill/>
          <a:ln/>
        </p:spPr>
        <p:txBody>
          <a:bodyPr wrap="square" rtlCol="0" anchor="ctr"/>
          <a:lstStyle/>
          <a:p>
            <a:pPr marL="0" indent="0" algn="ctr">
              <a:buNone/>
            </a:pPr>
            <a:r>
              <a:rPr lang="en-US" sz="1600" b="1" dirty="0">
                <a:solidFill>
                  <a:srgbClr val="0A1F33"/>
                </a:solidFill>
                <a:latin typeface="Courier New" pitchFamily="34" charset="0"/>
                <a:ea typeface="Courier New" pitchFamily="34" charset="-122"/>
                <a:cs typeface="Courier New" pitchFamily="34" charset="-120"/>
              </a:rPr>
              <a:t>16</a:t>
            </a:r>
            <a:endParaRPr lang="en-US" sz="1600" dirty="0"/>
          </a:p>
        </p:txBody>
      </p:sp>
      <p:sp>
        <p:nvSpPr>
          <p:cNvPr id="20" name="Text 18"/>
          <p:cNvSpPr/>
          <p:nvPr/>
        </p:nvSpPr>
        <p:spPr>
          <a:xfrm>
            <a:off x="6373368" y="2148840"/>
            <a:ext cx="1280160" cy="365760"/>
          </a:xfrm>
          <a:prstGeom prst="rect">
            <a:avLst/>
          </a:prstGeom>
          <a:noFill/>
          <a:ln/>
        </p:spPr>
        <p:txBody>
          <a:bodyPr wrap="square" rtlCol="0" anchor="ctr"/>
          <a:lstStyle/>
          <a:p>
            <a:pPr marL="0" indent="0" algn="ctr">
              <a:buNone/>
            </a:pPr>
            <a:r>
              <a:rPr lang="en-US" sz="1300" dirty="0">
                <a:solidFill>
                  <a:srgbClr val="5A6B7B"/>
                </a:solidFill>
                <a:latin typeface="Calibri" pitchFamily="34" charset="0"/>
                <a:ea typeface="Calibri" pitchFamily="34" charset="-122"/>
                <a:cs typeface="Calibri" pitchFamily="34" charset="-120"/>
              </a:rPr>
              <a:t>8</a:t>
            </a:r>
            <a:endParaRPr lang="en-US" sz="1300" dirty="0"/>
          </a:p>
        </p:txBody>
      </p:sp>
      <p:sp>
        <p:nvSpPr>
          <p:cNvPr id="21" name="Shape 19"/>
          <p:cNvSpPr/>
          <p:nvPr/>
        </p:nvSpPr>
        <p:spPr>
          <a:xfrm>
            <a:off x="6373368" y="2560320"/>
            <a:ext cx="1280160" cy="1143000"/>
          </a:xfrm>
          <a:prstGeom prst="roundRect">
            <a:avLst>
              <a:gd name="adj" fmla="val 4800"/>
            </a:avLst>
          </a:prstGeom>
          <a:solidFill>
            <a:srgbClr val="D5DEE6"/>
          </a:solidFill>
          <a:ln/>
        </p:spPr>
        <p:txBody>
          <a:bodyPr/>
          <a:lstStyle/>
          <a:p>
            <a:endParaRPr lang="en-US"/>
          </a:p>
        </p:txBody>
      </p:sp>
      <p:sp>
        <p:nvSpPr>
          <p:cNvPr id="22" name="Text 20"/>
          <p:cNvSpPr/>
          <p:nvPr/>
        </p:nvSpPr>
        <p:spPr>
          <a:xfrm>
            <a:off x="6373368" y="2560320"/>
            <a:ext cx="1280160" cy="1143000"/>
          </a:xfrm>
          <a:prstGeom prst="rect">
            <a:avLst/>
          </a:prstGeom>
          <a:noFill/>
          <a:ln/>
        </p:spPr>
        <p:txBody>
          <a:bodyPr wrap="square" lIns="0" tIns="0" rIns="0" bIns="0" rtlCol="0" anchor="ctr"/>
          <a:lstStyle/>
          <a:p>
            <a:pPr marL="0" indent="0" algn="ctr">
              <a:buNone/>
            </a:pPr>
            <a:r>
              <a:rPr lang="en-US" sz="4000" b="1" dirty="0">
                <a:solidFill>
                  <a:srgbClr val="5A6B7B"/>
                </a:solidFill>
                <a:latin typeface="Courier New" pitchFamily="34" charset="0"/>
                <a:ea typeface="Courier New" pitchFamily="34" charset="-122"/>
                <a:cs typeface="Courier New" pitchFamily="34" charset="-120"/>
              </a:rPr>
              <a:t>0</a:t>
            </a:r>
            <a:endParaRPr lang="en-US" sz="4000" dirty="0"/>
          </a:p>
        </p:txBody>
      </p:sp>
      <p:sp>
        <p:nvSpPr>
          <p:cNvPr id="23" name="Text 21"/>
          <p:cNvSpPr/>
          <p:nvPr/>
        </p:nvSpPr>
        <p:spPr>
          <a:xfrm>
            <a:off x="6373368" y="3794760"/>
            <a:ext cx="1280160" cy="411480"/>
          </a:xfrm>
          <a:prstGeom prst="rect">
            <a:avLst/>
          </a:prstGeom>
          <a:noFill/>
          <a:ln/>
        </p:spPr>
        <p:txBody>
          <a:bodyPr wrap="square" rtlCol="0" anchor="ctr"/>
          <a:lstStyle/>
          <a:p>
            <a:pPr marL="0" indent="0" algn="ctr">
              <a:buNone/>
            </a:pPr>
            <a:r>
              <a:rPr lang="en-US" sz="1600" b="1" dirty="0">
                <a:solidFill>
                  <a:srgbClr val="B9C4CE"/>
                </a:solidFill>
                <a:latin typeface="Courier New" pitchFamily="34" charset="0"/>
                <a:ea typeface="Courier New" pitchFamily="34" charset="-122"/>
                <a:cs typeface="Courier New" pitchFamily="34" charset="-120"/>
              </a:rPr>
              <a:t>—</a:t>
            </a:r>
            <a:endParaRPr lang="en-US" sz="1600" dirty="0"/>
          </a:p>
        </p:txBody>
      </p:sp>
      <p:sp>
        <p:nvSpPr>
          <p:cNvPr id="24" name="Text 22"/>
          <p:cNvSpPr/>
          <p:nvPr/>
        </p:nvSpPr>
        <p:spPr>
          <a:xfrm>
            <a:off x="7772400" y="2148840"/>
            <a:ext cx="1280160" cy="365760"/>
          </a:xfrm>
          <a:prstGeom prst="rect">
            <a:avLst/>
          </a:prstGeom>
          <a:noFill/>
          <a:ln/>
        </p:spPr>
        <p:txBody>
          <a:bodyPr wrap="square" rtlCol="0" anchor="ctr"/>
          <a:lstStyle/>
          <a:p>
            <a:pPr marL="0" indent="0" algn="ctr">
              <a:buNone/>
            </a:pPr>
            <a:r>
              <a:rPr lang="en-US" sz="1300" dirty="0">
                <a:solidFill>
                  <a:srgbClr val="5A6B7B"/>
                </a:solidFill>
                <a:latin typeface="Calibri" pitchFamily="34" charset="0"/>
                <a:ea typeface="Calibri" pitchFamily="34" charset="-122"/>
                <a:cs typeface="Calibri" pitchFamily="34" charset="-120"/>
              </a:rPr>
              <a:t>4</a:t>
            </a:r>
            <a:endParaRPr lang="en-US" sz="1300" dirty="0"/>
          </a:p>
        </p:txBody>
      </p:sp>
      <p:sp>
        <p:nvSpPr>
          <p:cNvPr id="25" name="Shape 23"/>
          <p:cNvSpPr/>
          <p:nvPr/>
        </p:nvSpPr>
        <p:spPr>
          <a:xfrm>
            <a:off x="7772400" y="2560320"/>
            <a:ext cx="1280160" cy="1143000"/>
          </a:xfrm>
          <a:prstGeom prst="roundRect">
            <a:avLst>
              <a:gd name="adj" fmla="val 4800"/>
            </a:avLst>
          </a:prstGeom>
          <a:solidFill>
            <a:srgbClr val="1E5C3A"/>
          </a:solidFill>
          <a:ln/>
        </p:spPr>
        <p:txBody>
          <a:bodyPr/>
          <a:lstStyle/>
          <a:p>
            <a:endParaRPr lang="en-US"/>
          </a:p>
        </p:txBody>
      </p:sp>
      <p:sp>
        <p:nvSpPr>
          <p:cNvPr id="26" name="Text 24"/>
          <p:cNvSpPr/>
          <p:nvPr/>
        </p:nvSpPr>
        <p:spPr>
          <a:xfrm>
            <a:off x="7772400" y="2560320"/>
            <a:ext cx="1280160" cy="1143000"/>
          </a:xfrm>
          <a:prstGeom prst="rect">
            <a:avLst/>
          </a:prstGeom>
          <a:noFill/>
          <a:ln/>
        </p:spPr>
        <p:txBody>
          <a:bodyPr wrap="square" lIns="0" tIns="0" rIns="0" bIns="0" rtlCol="0" anchor="ctr"/>
          <a:lstStyle/>
          <a:p>
            <a:pPr marL="0" indent="0" algn="ctr">
              <a:buNone/>
            </a:pPr>
            <a:r>
              <a:rPr lang="en-US" sz="4000" b="1" dirty="0">
                <a:solidFill>
                  <a:srgbClr val="3DDC84"/>
                </a:solidFill>
                <a:latin typeface="Courier New" pitchFamily="34" charset="0"/>
                <a:ea typeface="Courier New" pitchFamily="34" charset="-122"/>
                <a:cs typeface="Courier New" pitchFamily="34" charset="-120"/>
              </a:rPr>
              <a:t>1</a:t>
            </a:r>
            <a:endParaRPr lang="en-US" sz="4000" dirty="0"/>
          </a:p>
        </p:txBody>
      </p:sp>
      <p:sp>
        <p:nvSpPr>
          <p:cNvPr id="27" name="Text 25"/>
          <p:cNvSpPr/>
          <p:nvPr/>
        </p:nvSpPr>
        <p:spPr>
          <a:xfrm>
            <a:off x="7772400" y="3794760"/>
            <a:ext cx="1280160" cy="411480"/>
          </a:xfrm>
          <a:prstGeom prst="rect">
            <a:avLst/>
          </a:prstGeom>
          <a:noFill/>
          <a:ln/>
        </p:spPr>
        <p:txBody>
          <a:bodyPr wrap="square" rtlCol="0" anchor="ctr"/>
          <a:lstStyle/>
          <a:p>
            <a:pPr marL="0" indent="0" algn="ctr">
              <a:buNone/>
            </a:pPr>
            <a:r>
              <a:rPr lang="en-US" sz="1600" b="1" dirty="0">
                <a:solidFill>
                  <a:srgbClr val="0A1F33"/>
                </a:solidFill>
                <a:latin typeface="Courier New" pitchFamily="34" charset="0"/>
                <a:ea typeface="Courier New" pitchFamily="34" charset="-122"/>
                <a:cs typeface="Courier New" pitchFamily="34" charset="-120"/>
              </a:rPr>
              <a:t>4</a:t>
            </a:r>
            <a:endParaRPr lang="en-US" sz="1600" dirty="0"/>
          </a:p>
        </p:txBody>
      </p:sp>
      <p:sp>
        <p:nvSpPr>
          <p:cNvPr id="28" name="Text 26"/>
          <p:cNvSpPr/>
          <p:nvPr/>
        </p:nvSpPr>
        <p:spPr>
          <a:xfrm>
            <a:off x="9171432" y="2148840"/>
            <a:ext cx="1280160" cy="365760"/>
          </a:xfrm>
          <a:prstGeom prst="rect">
            <a:avLst/>
          </a:prstGeom>
          <a:noFill/>
          <a:ln/>
        </p:spPr>
        <p:txBody>
          <a:bodyPr wrap="square" rtlCol="0" anchor="ctr"/>
          <a:lstStyle/>
          <a:p>
            <a:pPr marL="0" indent="0" algn="ctr">
              <a:buNone/>
            </a:pPr>
            <a:r>
              <a:rPr lang="en-US" sz="1300" dirty="0">
                <a:solidFill>
                  <a:srgbClr val="5A6B7B"/>
                </a:solidFill>
                <a:latin typeface="Calibri" pitchFamily="34" charset="0"/>
                <a:ea typeface="Calibri" pitchFamily="34" charset="-122"/>
                <a:cs typeface="Calibri" pitchFamily="34" charset="-120"/>
              </a:rPr>
              <a:t>2</a:t>
            </a:r>
            <a:endParaRPr lang="en-US" sz="1300" dirty="0"/>
          </a:p>
        </p:txBody>
      </p:sp>
      <p:sp>
        <p:nvSpPr>
          <p:cNvPr id="29" name="Shape 27"/>
          <p:cNvSpPr/>
          <p:nvPr/>
        </p:nvSpPr>
        <p:spPr>
          <a:xfrm>
            <a:off x="9171432" y="2560320"/>
            <a:ext cx="1280160" cy="1143000"/>
          </a:xfrm>
          <a:prstGeom prst="roundRect">
            <a:avLst>
              <a:gd name="adj" fmla="val 4800"/>
            </a:avLst>
          </a:prstGeom>
          <a:solidFill>
            <a:srgbClr val="D5DEE6"/>
          </a:solidFill>
          <a:ln/>
        </p:spPr>
        <p:txBody>
          <a:bodyPr/>
          <a:lstStyle/>
          <a:p>
            <a:endParaRPr lang="en-US"/>
          </a:p>
        </p:txBody>
      </p:sp>
      <p:sp>
        <p:nvSpPr>
          <p:cNvPr id="30" name="Text 28"/>
          <p:cNvSpPr/>
          <p:nvPr/>
        </p:nvSpPr>
        <p:spPr>
          <a:xfrm>
            <a:off x="9171432" y="2560320"/>
            <a:ext cx="1280160" cy="1143000"/>
          </a:xfrm>
          <a:prstGeom prst="rect">
            <a:avLst/>
          </a:prstGeom>
          <a:noFill/>
          <a:ln/>
        </p:spPr>
        <p:txBody>
          <a:bodyPr wrap="square" lIns="0" tIns="0" rIns="0" bIns="0" rtlCol="0" anchor="ctr"/>
          <a:lstStyle/>
          <a:p>
            <a:pPr marL="0" indent="0" algn="ctr">
              <a:buNone/>
            </a:pPr>
            <a:r>
              <a:rPr lang="en-US" sz="4000" b="1" dirty="0">
                <a:solidFill>
                  <a:srgbClr val="5A6B7B"/>
                </a:solidFill>
                <a:latin typeface="Courier New" pitchFamily="34" charset="0"/>
                <a:ea typeface="Courier New" pitchFamily="34" charset="-122"/>
                <a:cs typeface="Courier New" pitchFamily="34" charset="-120"/>
              </a:rPr>
              <a:t>0</a:t>
            </a:r>
            <a:endParaRPr lang="en-US" sz="4000" dirty="0"/>
          </a:p>
        </p:txBody>
      </p:sp>
      <p:sp>
        <p:nvSpPr>
          <p:cNvPr id="31" name="Text 29"/>
          <p:cNvSpPr/>
          <p:nvPr/>
        </p:nvSpPr>
        <p:spPr>
          <a:xfrm>
            <a:off x="9171432" y="3794760"/>
            <a:ext cx="1280160" cy="411480"/>
          </a:xfrm>
          <a:prstGeom prst="rect">
            <a:avLst/>
          </a:prstGeom>
          <a:noFill/>
          <a:ln/>
        </p:spPr>
        <p:txBody>
          <a:bodyPr wrap="square" rtlCol="0" anchor="ctr"/>
          <a:lstStyle/>
          <a:p>
            <a:pPr marL="0" indent="0" algn="ctr">
              <a:buNone/>
            </a:pPr>
            <a:r>
              <a:rPr lang="en-US" sz="1600" b="1" dirty="0">
                <a:solidFill>
                  <a:srgbClr val="B9C4CE"/>
                </a:solidFill>
                <a:latin typeface="Courier New" pitchFamily="34" charset="0"/>
                <a:ea typeface="Courier New" pitchFamily="34" charset="-122"/>
                <a:cs typeface="Courier New" pitchFamily="34" charset="-120"/>
              </a:rPr>
              <a:t>—</a:t>
            </a:r>
            <a:endParaRPr lang="en-US" sz="1600" dirty="0"/>
          </a:p>
        </p:txBody>
      </p:sp>
      <p:sp>
        <p:nvSpPr>
          <p:cNvPr id="32" name="Text 30"/>
          <p:cNvSpPr/>
          <p:nvPr/>
        </p:nvSpPr>
        <p:spPr>
          <a:xfrm>
            <a:off x="10570464" y="2148840"/>
            <a:ext cx="1280160" cy="365760"/>
          </a:xfrm>
          <a:prstGeom prst="rect">
            <a:avLst/>
          </a:prstGeom>
          <a:noFill/>
          <a:ln/>
        </p:spPr>
        <p:txBody>
          <a:bodyPr wrap="square" rtlCol="0" anchor="ctr"/>
          <a:lstStyle/>
          <a:p>
            <a:pPr marL="0" indent="0" algn="ctr">
              <a:buNone/>
            </a:pPr>
            <a:r>
              <a:rPr lang="en-US" sz="1300" dirty="0">
                <a:solidFill>
                  <a:srgbClr val="5A6B7B"/>
                </a:solidFill>
                <a:latin typeface="Calibri" pitchFamily="34" charset="0"/>
                <a:ea typeface="Calibri" pitchFamily="34" charset="-122"/>
                <a:cs typeface="Calibri" pitchFamily="34" charset="-120"/>
              </a:rPr>
              <a:t>1</a:t>
            </a:r>
            <a:endParaRPr lang="en-US" sz="1300" dirty="0"/>
          </a:p>
        </p:txBody>
      </p:sp>
      <p:sp>
        <p:nvSpPr>
          <p:cNvPr id="33" name="Shape 31"/>
          <p:cNvSpPr/>
          <p:nvPr/>
        </p:nvSpPr>
        <p:spPr>
          <a:xfrm>
            <a:off x="10570464" y="2560320"/>
            <a:ext cx="1280160" cy="1143000"/>
          </a:xfrm>
          <a:prstGeom prst="roundRect">
            <a:avLst>
              <a:gd name="adj" fmla="val 4800"/>
            </a:avLst>
          </a:prstGeom>
          <a:solidFill>
            <a:srgbClr val="1E5C3A"/>
          </a:solidFill>
          <a:ln/>
        </p:spPr>
        <p:txBody>
          <a:bodyPr/>
          <a:lstStyle/>
          <a:p>
            <a:endParaRPr lang="en-US"/>
          </a:p>
        </p:txBody>
      </p:sp>
      <p:sp>
        <p:nvSpPr>
          <p:cNvPr id="34" name="Text 32"/>
          <p:cNvSpPr/>
          <p:nvPr/>
        </p:nvSpPr>
        <p:spPr>
          <a:xfrm>
            <a:off x="10570464" y="2560320"/>
            <a:ext cx="1280160" cy="1143000"/>
          </a:xfrm>
          <a:prstGeom prst="rect">
            <a:avLst/>
          </a:prstGeom>
          <a:noFill/>
          <a:ln/>
        </p:spPr>
        <p:txBody>
          <a:bodyPr wrap="square" lIns="0" tIns="0" rIns="0" bIns="0" rtlCol="0" anchor="ctr"/>
          <a:lstStyle/>
          <a:p>
            <a:pPr marL="0" indent="0" algn="ctr">
              <a:buNone/>
            </a:pPr>
            <a:r>
              <a:rPr lang="en-US" sz="4000" b="1" dirty="0">
                <a:solidFill>
                  <a:srgbClr val="3DDC84"/>
                </a:solidFill>
                <a:latin typeface="Courier New" pitchFamily="34" charset="0"/>
                <a:ea typeface="Courier New" pitchFamily="34" charset="-122"/>
                <a:cs typeface="Courier New" pitchFamily="34" charset="-120"/>
              </a:rPr>
              <a:t>1</a:t>
            </a:r>
            <a:endParaRPr lang="en-US" sz="4000" dirty="0"/>
          </a:p>
        </p:txBody>
      </p:sp>
      <p:sp>
        <p:nvSpPr>
          <p:cNvPr id="35" name="Text 33"/>
          <p:cNvSpPr/>
          <p:nvPr/>
        </p:nvSpPr>
        <p:spPr>
          <a:xfrm>
            <a:off x="10570464" y="3794760"/>
            <a:ext cx="1280160" cy="411480"/>
          </a:xfrm>
          <a:prstGeom prst="rect">
            <a:avLst/>
          </a:prstGeom>
          <a:noFill/>
          <a:ln/>
        </p:spPr>
        <p:txBody>
          <a:bodyPr wrap="square" rtlCol="0" anchor="ctr"/>
          <a:lstStyle/>
          <a:p>
            <a:pPr marL="0" indent="0" algn="ctr">
              <a:buNone/>
            </a:pPr>
            <a:r>
              <a:rPr lang="en-US" sz="1600" b="1" dirty="0">
                <a:solidFill>
                  <a:srgbClr val="0A1F33"/>
                </a:solidFill>
                <a:latin typeface="Courier New" pitchFamily="34" charset="0"/>
                <a:ea typeface="Courier New" pitchFamily="34" charset="-122"/>
                <a:cs typeface="Courier New" pitchFamily="34" charset="-120"/>
              </a:rPr>
              <a:t>1</a:t>
            </a:r>
            <a:endParaRPr lang="en-US" sz="1600" dirty="0"/>
          </a:p>
        </p:txBody>
      </p:sp>
      <p:sp>
        <p:nvSpPr>
          <p:cNvPr id="36" name="Text 34"/>
          <p:cNvSpPr/>
          <p:nvPr/>
        </p:nvSpPr>
        <p:spPr>
          <a:xfrm>
            <a:off x="777240" y="4526280"/>
            <a:ext cx="10607040" cy="457200"/>
          </a:xfrm>
          <a:prstGeom prst="rect">
            <a:avLst/>
          </a:prstGeom>
          <a:noFill/>
          <a:ln/>
        </p:spPr>
        <p:txBody>
          <a:bodyPr wrap="square" rtlCol="0" anchor="ctr"/>
          <a:lstStyle/>
          <a:p>
            <a:pPr marL="0" indent="0" algn="ctr">
              <a:buNone/>
            </a:pPr>
            <a:r>
              <a:rPr lang="en-US" sz="1800" b="1" dirty="0">
                <a:solidFill>
                  <a:srgbClr val="5A6B7B"/>
                </a:solidFill>
                <a:latin typeface="Courier New" pitchFamily="34" charset="0"/>
                <a:ea typeface="Courier New" pitchFamily="34" charset="-122"/>
                <a:cs typeface="Courier New" pitchFamily="34" charset="-120"/>
              </a:rPr>
              <a:t>Binary  10110101</a:t>
            </a:r>
            <a:endParaRPr lang="en-US" sz="1800" dirty="0"/>
          </a:p>
        </p:txBody>
      </p:sp>
      <p:sp>
        <p:nvSpPr>
          <p:cNvPr id="37" name="Shape 35"/>
          <p:cNvSpPr/>
          <p:nvPr/>
        </p:nvSpPr>
        <p:spPr>
          <a:xfrm>
            <a:off x="2743200" y="5120640"/>
            <a:ext cx="6675120" cy="1051560"/>
          </a:xfrm>
          <a:prstGeom prst="roundRect">
            <a:avLst>
              <a:gd name="adj" fmla="val 8696"/>
            </a:avLst>
          </a:prstGeom>
          <a:solidFill>
            <a:srgbClr val="13324F"/>
          </a:solidFill>
          <a:ln/>
        </p:spPr>
        <p:txBody>
          <a:bodyPr/>
          <a:lstStyle/>
          <a:p>
            <a:endParaRPr lang="en-US"/>
          </a:p>
        </p:txBody>
      </p:sp>
      <p:sp>
        <p:nvSpPr>
          <p:cNvPr id="38" name="Text 36"/>
          <p:cNvSpPr/>
          <p:nvPr/>
        </p:nvSpPr>
        <p:spPr>
          <a:xfrm>
            <a:off x="2743200" y="5120640"/>
            <a:ext cx="6675120" cy="1051560"/>
          </a:xfrm>
          <a:prstGeom prst="rect">
            <a:avLst/>
          </a:prstGeom>
          <a:noFill/>
          <a:ln/>
        </p:spPr>
        <p:txBody>
          <a:bodyPr wrap="square" rtlCol="0" anchor="ctr"/>
          <a:lstStyle/>
          <a:p>
            <a:pPr marL="0" indent="0" algn="ctr">
              <a:buNone/>
            </a:pPr>
            <a:r>
              <a:rPr lang="en-US" sz="2400" b="1" dirty="0">
                <a:solidFill>
                  <a:srgbClr val="C7D2DC"/>
                </a:solidFill>
                <a:latin typeface="Courier New" pitchFamily="34" charset="0"/>
                <a:ea typeface="Courier New" pitchFamily="34" charset="-122"/>
                <a:cs typeface="Courier New" pitchFamily="34" charset="-120"/>
              </a:rPr>
              <a:t>128 + 32 + 16 + 4 + 1  =  </a:t>
            </a:r>
            <a:r>
              <a:rPr lang="en-US" sz="2400" b="1" dirty="0">
                <a:solidFill>
                  <a:srgbClr val="3DDC84"/>
                </a:solidFill>
                <a:latin typeface="Courier New" pitchFamily="34" charset="0"/>
                <a:ea typeface="Courier New" pitchFamily="34" charset="-122"/>
                <a:cs typeface="Courier New" pitchFamily="34" charset="-120"/>
              </a:rPr>
              <a:t>181</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822960"/>
          </a:xfrm>
          <a:prstGeom prst="rect">
            <a:avLst/>
          </a:prstGeom>
          <a:noFill/>
          <a:ln/>
        </p:spPr>
        <p:txBody>
          <a:bodyPr wrap="square" rtlCol="0" anchor="ctr"/>
          <a:lstStyle/>
          <a:p>
            <a:pPr marL="0" indent="0">
              <a:buNone/>
            </a:pPr>
            <a:r>
              <a:rPr lang="en-US" sz="3800" b="1" dirty="0">
                <a:solidFill>
                  <a:srgbClr val="0A1F33"/>
                </a:solidFill>
                <a:latin typeface="Cambria" pitchFamily="34" charset="0"/>
                <a:ea typeface="Cambria" pitchFamily="34" charset="-122"/>
                <a:cs typeface="Cambria" pitchFamily="34" charset="-120"/>
              </a:rPr>
              <a:t>Decimal → Binary</a:t>
            </a:r>
            <a:endParaRPr lang="en-US" sz="3800" dirty="0"/>
          </a:p>
        </p:txBody>
      </p:sp>
      <p:sp>
        <p:nvSpPr>
          <p:cNvPr id="3" name="Text 1"/>
          <p:cNvSpPr/>
          <p:nvPr/>
        </p:nvSpPr>
        <p:spPr>
          <a:xfrm>
            <a:off x="548640" y="1280160"/>
            <a:ext cx="10972800" cy="457200"/>
          </a:xfrm>
          <a:prstGeom prst="rect">
            <a:avLst/>
          </a:prstGeom>
          <a:noFill/>
          <a:ln/>
        </p:spPr>
        <p:txBody>
          <a:bodyPr wrap="square" rtlCol="0" anchor="ctr"/>
          <a:lstStyle/>
          <a:p>
            <a:pPr marL="0" indent="0">
              <a:buNone/>
            </a:pPr>
            <a:r>
              <a:rPr lang="en-US" sz="1700" dirty="0">
                <a:solidFill>
                  <a:srgbClr val="5A6B7B"/>
                </a:solidFill>
                <a:latin typeface="Calibri" pitchFamily="34" charset="0"/>
                <a:ea typeface="Calibri" pitchFamily="34" charset="-122"/>
                <a:cs typeface="Calibri" pitchFamily="34" charset="-120"/>
              </a:rPr>
              <a:t>Subtraction method: fit the biggest power of 2 you can, then repeat with the remainder.</a:t>
            </a:r>
            <a:endParaRPr lang="en-US" sz="1700" dirty="0"/>
          </a:p>
        </p:txBody>
      </p:sp>
      <p:sp>
        <p:nvSpPr>
          <p:cNvPr id="4" name="Text 2"/>
          <p:cNvSpPr/>
          <p:nvPr/>
        </p:nvSpPr>
        <p:spPr>
          <a:xfrm>
            <a:off x="548640" y="1874520"/>
            <a:ext cx="5486400" cy="457200"/>
          </a:xfrm>
          <a:prstGeom prst="rect">
            <a:avLst/>
          </a:prstGeom>
          <a:noFill/>
          <a:ln/>
        </p:spPr>
        <p:txBody>
          <a:bodyPr wrap="square" rtlCol="0" anchor="ctr"/>
          <a:lstStyle/>
          <a:p>
            <a:pPr marL="0" indent="0">
              <a:buNone/>
            </a:pPr>
            <a:r>
              <a:rPr lang="en-US" sz="1900" b="1" dirty="0">
                <a:solidFill>
                  <a:srgbClr val="3DDC84"/>
                </a:solidFill>
                <a:latin typeface="Calibri" pitchFamily="34" charset="0"/>
                <a:ea typeface="Calibri" pitchFamily="34" charset="-122"/>
                <a:cs typeface="Calibri" pitchFamily="34" charset="-120"/>
              </a:rPr>
              <a:t>Convert 45 to binary</a:t>
            </a:r>
            <a:endParaRPr lang="en-US" sz="1900" dirty="0"/>
          </a:p>
        </p:txBody>
      </p:sp>
      <p:sp>
        <p:nvSpPr>
          <p:cNvPr id="5" name="Shape 3"/>
          <p:cNvSpPr/>
          <p:nvPr/>
        </p:nvSpPr>
        <p:spPr>
          <a:xfrm>
            <a:off x="548640" y="2468880"/>
            <a:ext cx="457200" cy="429768"/>
          </a:xfrm>
          <a:prstGeom prst="roundRect">
            <a:avLst>
              <a:gd name="adj" fmla="val 10638"/>
            </a:avLst>
          </a:prstGeom>
          <a:solidFill>
            <a:srgbClr val="1E5C3A"/>
          </a:solidFill>
          <a:ln/>
        </p:spPr>
        <p:txBody>
          <a:bodyPr/>
          <a:lstStyle/>
          <a:p>
            <a:endParaRPr lang="en-US"/>
          </a:p>
        </p:txBody>
      </p:sp>
      <p:sp>
        <p:nvSpPr>
          <p:cNvPr id="6" name="Text 4"/>
          <p:cNvSpPr/>
          <p:nvPr/>
        </p:nvSpPr>
        <p:spPr>
          <a:xfrm>
            <a:off x="548640" y="2468880"/>
            <a:ext cx="457200" cy="429768"/>
          </a:xfrm>
          <a:prstGeom prst="rect">
            <a:avLst/>
          </a:prstGeom>
          <a:noFill/>
          <a:ln/>
        </p:spPr>
        <p:txBody>
          <a:bodyPr wrap="square" lIns="0" tIns="0" rIns="0" bIns="0" rtlCol="0" anchor="ctr"/>
          <a:lstStyle/>
          <a:p>
            <a:pPr marL="0" indent="0" algn="ctr">
              <a:buNone/>
            </a:pPr>
            <a:r>
              <a:rPr lang="en-US" sz="1800" b="1" dirty="0">
                <a:solidFill>
                  <a:srgbClr val="3DDC84"/>
                </a:solidFill>
                <a:latin typeface="Courier New" pitchFamily="34" charset="0"/>
                <a:ea typeface="Courier New" pitchFamily="34" charset="-122"/>
                <a:cs typeface="Courier New" pitchFamily="34" charset="-120"/>
              </a:rPr>
              <a:t>1</a:t>
            </a:r>
            <a:endParaRPr lang="en-US" sz="1800" dirty="0"/>
          </a:p>
        </p:txBody>
      </p:sp>
      <p:sp>
        <p:nvSpPr>
          <p:cNvPr id="7" name="Text 5"/>
          <p:cNvSpPr/>
          <p:nvPr/>
        </p:nvSpPr>
        <p:spPr>
          <a:xfrm>
            <a:off x="1188720" y="2468880"/>
            <a:ext cx="3108960" cy="429768"/>
          </a:xfrm>
          <a:prstGeom prst="rect">
            <a:avLst/>
          </a:prstGeom>
          <a:noFill/>
          <a:ln/>
        </p:spPr>
        <p:txBody>
          <a:bodyPr wrap="square" lIns="0" tIns="0" rIns="0" bIns="0" rtlCol="0" anchor="ctr"/>
          <a:lstStyle/>
          <a:p>
            <a:pPr marL="0" indent="0">
              <a:buNone/>
            </a:pPr>
            <a:r>
              <a:rPr lang="en-US" sz="1400" dirty="0">
                <a:solidFill>
                  <a:srgbClr val="0A1F33"/>
                </a:solidFill>
                <a:latin typeface="Calibri" pitchFamily="34" charset="0"/>
                <a:ea typeface="Calibri" pitchFamily="34" charset="-122"/>
                <a:cs typeface="Calibri" pitchFamily="34" charset="-120"/>
              </a:rPr>
              <a:t>Does 32 fit in 45?</a:t>
            </a:r>
            <a:endParaRPr lang="en-US" sz="1400" dirty="0"/>
          </a:p>
        </p:txBody>
      </p:sp>
      <p:sp>
        <p:nvSpPr>
          <p:cNvPr id="8" name="Text 6"/>
          <p:cNvSpPr/>
          <p:nvPr/>
        </p:nvSpPr>
        <p:spPr>
          <a:xfrm>
            <a:off x="4297680" y="2468880"/>
            <a:ext cx="3200400" cy="429768"/>
          </a:xfrm>
          <a:prstGeom prst="rect">
            <a:avLst/>
          </a:prstGeom>
          <a:noFill/>
          <a:ln/>
        </p:spPr>
        <p:txBody>
          <a:bodyPr wrap="square" lIns="0" tIns="0" rIns="0" bIns="0" rtlCol="0" anchor="ctr"/>
          <a:lstStyle/>
          <a:p>
            <a:pPr marL="0" indent="0">
              <a:buNone/>
            </a:pPr>
            <a:r>
              <a:rPr lang="en-US" sz="1400" dirty="0">
                <a:solidFill>
                  <a:srgbClr val="5A6B7B"/>
                </a:solidFill>
                <a:latin typeface="Calibri" pitchFamily="34" charset="0"/>
                <a:ea typeface="Calibri" pitchFamily="34" charset="-122"/>
                <a:cs typeface="Calibri" pitchFamily="34" charset="-120"/>
              </a:rPr>
              <a:t>Yes → 45 − 32 = 13</a:t>
            </a:r>
            <a:endParaRPr lang="en-US" sz="1400" dirty="0"/>
          </a:p>
        </p:txBody>
      </p:sp>
      <p:sp>
        <p:nvSpPr>
          <p:cNvPr id="9" name="Shape 7"/>
          <p:cNvSpPr/>
          <p:nvPr/>
        </p:nvSpPr>
        <p:spPr>
          <a:xfrm>
            <a:off x="548640" y="2971800"/>
            <a:ext cx="457200" cy="429768"/>
          </a:xfrm>
          <a:prstGeom prst="roundRect">
            <a:avLst>
              <a:gd name="adj" fmla="val 10638"/>
            </a:avLst>
          </a:prstGeom>
          <a:solidFill>
            <a:srgbClr val="D5DEE6"/>
          </a:solidFill>
          <a:ln/>
        </p:spPr>
        <p:txBody>
          <a:bodyPr/>
          <a:lstStyle/>
          <a:p>
            <a:endParaRPr lang="en-US"/>
          </a:p>
        </p:txBody>
      </p:sp>
      <p:sp>
        <p:nvSpPr>
          <p:cNvPr id="10" name="Text 8"/>
          <p:cNvSpPr/>
          <p:nvPr/>
        </p:nvSpPr>
        <p:spPr>
          <a:xfrm>
            <a:off x="548640" y="2971800"/>
            <a:ext cx="457200" cy="429768"/>
          </a:xfrm>
          <a:prstGeom prst="rect">
            <a:avLst/>
          </a:prstGeom>
          <a:noFill/>
          <a:ln/>
        </p:spPr>
        <p:txBody>
          <a:bodyPr wrap="square" lIns="0" tIns="0" rIns="0" bIns="0" rtlCol="0" anchor="ctr"/>
          <a:lstStyle/>
          <a:p>
            <a:pPr marL="0" indent="0" algn="ctr">
              <a:buNone/>
            </a:pPr>
            <a:r>
              <a:rPr lang="en-US" sz="1800" b="1" dirty="0">
                <a:solidFill>
                  <a:srgbClr val="5A6B7B"/>
                </a:solidFill>
                <a:latin typeface="Courier New" pitchFamily="34" charset="0"/>
                <a:ea typeface="Courier New" pitchFamily="34" charset="-122"/>
                <a:cs typeface="Courier New" pitchFamily="34" charset="-120"/>
              </a:rPr>
              <a:t>0</a:t>
            </a:r>
            <a:endParaRPr lang="en-US" sz="1800" dirty="0"/>
          </a:p>
        </p:txBody>
      </p:sp>
      <p:sp>
        <p:nvSpPr>
          <p:cNvPr id="11" name="Text 9"/>
          <p:cNvSpPr/>
          <p:nvPr/>
        </p:nvSpPr>
        <p:spPr>
          <a:xfrm>
            <a:off x="1188720" y="2971800"/>
            <a:ext cx="3108960" cy="429768"/>
          </a:xfrm>
          <a:prstGeom prst="rect">
            <a:avLst/>
          </a:prstGeom>
          <a:noFill/>
          <a:ln/>
        </p:spPr>
        <p:txBody>
          <a:bodyPr wrap="square" lIns="0" tIns="0" rIns="0" bIns="0" rtlCol="0" anchor="ctr"/>
          <a:lstStyle/>
          <a:p>
            <a:pPr marL="0" indent="0">
              <a:buNone/>
            </a:pPr>
            <a:r>
              <a:rPr lang="en-US" sz="1400" dirty="0">
                <a:solidFill>
                  <a:srgbClr val="0A1F33"/>
                </a:solidFill>
                <a:latin typeface="Calibri" pitchFamily="34" charset="0"/>
                <a:ea typeface="Calibri" pitchFamily="34" charset="-122"/>
                <a:cs typeface="Calibri" pitchFamily="34" charset="-120"/>
              </a:rPr>
              <a:t>Does 16 fit in 13?</a:t>
            </a:r>
            <a:endParaRPr lang="en-US" sz="1400" dirty="0"/>
          </a:p>
        </p:txBody>
      </p:sp>
      <p:sp>
        <p:nvSpPr>
          <p:cNvPr id="12" name="Text 10"/>
          <p:cNvSpPr/>
          <p:nvPr/>
        </p:nvSpPr>
        <p:spPr>
          <a:xfrm>
            <a:off x="4297680" y="2971800"/>
            <a:ext cx="3200400" cy="429768"/>
          </a:xfrm>
          <a:prstGeom prst="rect">
            <a:avLst/>
          </a:prstGeom>
          <a:noFill/>
          <a:ln/>
        </p:spPr>
        <p:txBody>
          <a:bodyPr wrap="square" lIns="0" tIns="0" rIns="0" bIns="0" rtlCol="0" anchor="ctr"/>
          <a:lstStyle/>
          <a:p>
            <a:pPr marL="0" indent="0">
              <a:buNone/>
            </a:pPr>
            <a:r>
              <a:rPr lang="en-US" sz="1400" dirty="0">
                <a:solidFill>
                  <a:srgbClr val="5A6B7B"/>
                </a:solidFill>
                <a:latin typeface="Calibri" pitchFamily="34" charset="0"/>
                <a:ea typeface="Calibri" pitchFamily="34" charset="-122"/>
                <a:cs typeface="Calibri" pitchFamily="34" charset="-120"/>
              </a:rPr>
              <a:t>No → keep 13</a:t>
            </a:r>
            <a:endParaRPr lang="en-US" sz="1400" dirty="0"/>
          </a:p>
        </p:txBody>
      </p:sp>
      <p:sp>
        <p:nvSpPr>
          <p:cNvPr id="13" name="Shape 11"/>
          <p:cNvSpPr/>
          <p:nvPr/>
        </p:nvSpPr>
        <p:spPr>
          <a:xfrm>
            <a:off x="548640" y="3474720"/>
            <a:ext cx="457200" cy="429768"/>
          </a:xfrm>
          <a:prstGeom prst="roundRect">
            <a:avLst>
              <a:gd name="adj" fmla="val 10638"/>
            </a:avLst>
          </a:prstGeom>
          <a:solidFill>
            <a:srgbClr val="1E5C3A"/>
          </a:solidFill>
          <a:ln/>
        </p:spPr>
        <p:txBody>
          <a:bodyPr/>
          <a:lstStyle/>
          <a:p>
            <a:endParaRPr lang="en-US"/>
          </a:p>
        </p:txBody>
      </p:sp>
      <p:sp>
        <p:nvSpPr>
          <p:cNvPr id="14" name="Text 12"/>
          <p:cNvSpPr/>
          <p:nvPr/>
        </p:nvSpPr>
        <p:spPr>
          <a:xfrm>
            <a:off x="548640" y="3474720"/>
            <a:ext cx="457200" cy="429768"/>
          </a:xfrm>
          <a:prstGeom prst="rect">
            <a:avLst/>
          </a:prstGeom>
          <a:noFill/>
          <a:ln/>
        </p:spPr>
        <p:txBody>
          <a:bodyPr wrap="square" lIns="0" tIns="0" rIns="0" bIns="0" rtlCol="0" anchor="ctr"/>
          <a:lstStyle/>
          <a:p>
            <a:pPr marL="0" indent="0" algn="ctr">
              <a:buNone/>
            </a:pPr>
            <a:r>
              <a:rPr lang="en-US" sz="1800" b="1" dirty="0">
                <a:solidFill>
                  <a:srgbClr val="3DDC84"/>
                </a:solidFill>
                <a:latin typeface="Courier New" pitchFamily="34" charset="0"/>
                <a:ea typeface="Courier New" pitchFamily="34" charset="-122"/>
                <a:cs typeface="Courier New" pitchFamily="34" charset="-120"/>
              </a:rPr>
              <a:t>1</a:t>
            </a:r>
            <a:endParaRPr lang="en-US" sz="1800" dirty="0"/>
          </a:p>
        </p:txBody>
      </p:sp>
      <p:sp>
        <p:nvSpPr>
          <p:cNvPr id="15" name="Text 13"/>
          <p:cNvSpPr/>
          <p:nvPr/>
        </p:nvSpPr>
        <p:spPr>
          <a:xfrm>
            <a:off x="1188720" y="3474720"/>
            <a:ext cx="3108960" cy="429768"/>
          </a:xfrm>
          <a:prstGeom prst="rect">
            <a:avLst/>
          </a:prstGeom>
          <a:noFill/>
          <a:ln/>
        </p:spPr>
        <p:txBody>
          <a:bodyPr wrap="square" lIns="0" tIns="0" rIns="0" bIns="0" rtlCol="0" anchor="ctr"/>
          <a:lstStyle/>
          <a:p>
            <a:pPr marL="0" indent="0">
              <a:buNone/>
            </a:pPr>
            <a:r>
              <a:rPr lang="en-US" sz="1400" dirty="0">
                <a:solidFill>
                  <a:srgbClr val="0A1F33"/>
                </a:solidFill>
                <a:latin typeface="Calibri" pitchFamily="34" charset="0"/>
                <a:ea typeface="Calibri" pitchFamily="34" charset="-122"/>
                <a:cs typeface="Calibri" pitchFamily="34" charset="-120"/>
              </a:rPr>
              <a:t>Does 8 fit in 13?</a:t>
            </a:r>
            <a:endParaRPr lang="en-US" sz="1400" dirty="0"/>
          </a:p>
        </p:txBody>
      </p:sp>
      <p:sp>
        <p:nvSpPr>
          <p:cNvPr id="16" name="Text 14"/>
          <p:cNvSpPr/>
          <p:nvPr/>
        </p:nvSpPr>
        <p:spPr>
          <a:xfrm>
            <a:off x="4297680" y="3474720"/>
            <a:ext cx="3200400" cy="429768"/>
          </a:xfrm>
          <a:prstGeom prst="rect">
            <a:avLst/>
          </a:prstGeom>
          <a:noFill/>
          <a:ln/>
        </p:spPr>
        <p:txBody>
          <a:bodyPr wrap="square" lIns="0" tIns="0" rIns="0" bIns="0" rtlCol="0" anchor="ctr"/>
          <a:lstStyle/>
          <a:p>
            <a:pPr marL="0" indent="0">
              <a:buNone/>
            </a:pPr>
            <a:r>
              <a:rPr lang="en-US" sz="1400" dirty="0">
                <a:solidFill>
                  <a:srgbClr val="5A6B7B"/>
                </a:solidFill>
                <a:latin typeface="Calibri" pitchFamily="34" charset="0"/>
                <a:ea typeface="Calibri" pitchFamily="34" charset="-122"/>
                <a:cs typeface="Calibri" pitchFamily="34" charset="-120"/>
              </a:rPr>
              <a:t>Yes → 13 − 8 = 5</a:t>
            </a:r>
            <a:endParaRPr lang="en-US" sz="1400" dirty="0"/>
          </a:p>
        </p:txBody>
      </p:sp>
      <p:sp>
        <p:nvSpPr>
          <p:cNvPr id="17" name="Shape 15"/>
          <p:cNvSpPr/>
          <p:nvPr/>
        </p:nvSpPr>
        <p:spPr>
          <a:xfrm>
            <a:off x="548640" y="3977640"/>
            <a:ext cx="457200" cy="429768"/>
          </a:xfrm>
          <a:prstGeom prst="roundRect">
            <a:avLst>
              <a:gd name="adj" fmla="val 10638"/>
            </a:avLst>
          </a:prstGeom>
          <a:solidFill>
            <a:srgbClr val="1E5C3A"/>
          </a:solidFill>
          <a:ln/>
        </p:spPr>
        <p:txBody>
          <a:bodyPr/>
          <a:lstStyle/>
          <a:p>
            <a:endParaRPr lang="en-US"/>
          </a:p>
        </p:txBody>
      </p:sp>
      <p:sp>
        <p:nvSpPr>
          <p:cNvPr id="18" name="Text 16"/>
          <p:cNvSpPr/>
          <p:nvPr/>
        </p:nvSpPr>
        <p:spPr>
          <a:xfrm>
            <a:off x="548640" y="3977640"/>
            <a:ext cx="457200" cy="429768"/>
          </a:xfrm>
          <a:prstGeom prst="rect">
            <a:avLst/>
          </a:prstGeom>
          <a:noFill/>
          <a:ln/>
        </p:spPr>
        <p:txBody>
          <a:bodyPr wrap="square" lIns="0" tIns="0" rIns="0" bIns="0" rtlCol="0" anchor="ctr"/>
          <a:lstStyle/>
          <a:p>
            <a:pPr marL="0" indent="0" algn="ctr">
              <a:buNone/>
            </a:pPr>
            <a:r>
              <a:rPr lang="en-US" sz="1800" b="1" dirty="0">
                <a:solidFill>
                  <a:srgbClr val="3DDC84"/>
                </a:solidFill>
                <a:latin typeface="Courier New" pitchFamily="34" charset="0"/>
                <a:ea typeface="Courier New" pitchFamily="34" charset="-122"/>
                <a:cs typeface="Courier New" pitchFamily="34" charset="-120"/>
              </a:rPr>
              <a:t>1</a:t>
            </a:r>
            <a:endParaRPr lang="en-US" sz="1800" dirty="0"/>
          </a:p>
        </p:txBody>
      </p:sp>
      <p:sp>
        <p:nvSpPr>
          <p:cNvPr id="19" name="Text 17"/>
          <p:cNvSpPr/>
          <p:nvPr/>
        </p:nvSpPr>
        <p:spPr>
          <a:xfrm>
            <a:off x="1188720" y="3977640"/>
            <a:ext cx="3108960" cy="429768"/>
          </a:xfrm>
          <a:prstGeom prst="rect">
            <a:avLst/>
          </a:prstGeom>
          <a:noFill/>
          <a:ln/>
        </p:spPr>
        <p:txBody>
          <a:bodyPr wrap="square" lIns="0" tIns="0" rIns="0" bIns="0" rtlCol="0" anchor="ctr"/>
          <a:lstStyle/>
          <a:p>
            <a:pPr marL="0" indent="0">
              <a:buNone/>
            </a:pPr>
            <a:r>
              <a:rPr lang="en-US" sz="1400" dirty="0">
                <a:solidFill>
                  <a:srgbClr val="0A1F33"/>
                </a:solidFill>
                <a:latin typeface="Calibri" pitchFamily="34" charset="0"/>
                <a:ea typeface="Calibri" pitchFamily="34" charset="-122"/>
                <a:cs typeface="Calibri" pitchFamily="34" charset="-120"/>
              </a:rPr>
              <a:t>Does 4 fit in 5?</a:t>
            </a:r>
            <a:endParaRPr lang="en-US" sz="1400" dirty="0"/>
          </a:p>
        </p:txBody>
      </p:sp>
      <p:sp>
        <p:nvSpPr>
          <p:cNvPr id="20" name="Text 18"/>
          <p:cNvSpPr/>
          <p:nvPr/>
        </p:nvSpPr>
        <p:spPr>
          <a:xfrm>
            <a:off x="4297680" y="3977640"/>
            <a:ext cx="3200400" cy="429768"/>
          </a:xfrm>
          <a:prstGeom prst="rect">
            <a:avLst/>
          </a:prstGeom>
          <a:noFill/>
          <a:ln/>
        </p:spPr>
        <p:txBody>
          <a:bodyPr wrap="square" lIns="0" tIns="0" rIns="0" bIns="0" rtlCol="0" anchor="ctr"/>
          <a:lstStyle/>
          <a:p>
            <a:pPr marL="0" indent="0">
              <a:buNone/>
            </a:pPr>
            <a:r>
              <a:rPr lang="en-US" sz="1400" dirty="0">
                <a:solidFill>
                  <a:srgbClr val="5A6B7B"/>
                </a:solidFill>
                <a:latin typeface="Calibri" pitchFamily="34" charset="0"/>
                <a:ea typeface="Calibri" pitchFamily="34" charset="-122"/>
                <a:cs typeface="Calibri" pitchFamily="34" charset="-120"/>
              </a:rPr>
              <a:t>Yes → 5 − 4 = 1</a:t>
            </a:r>
            <a:endParaRPr lang="en-US" sz="1400" dirty="0"/>
          </a:p>
        </p:txBody>
      </p:sp>
      <p:sp>
        <p:nvSpPr>
          <p:cNvPr id="21" name="Shape 19"/>
          <p:cNvSpPr/>
          <p:nvPr/>
        </p:nvSpPr>
        <p:spPr>
          <a:xfrm>
            <a:off x="548640" y="4480560"/>
            <a:ext cx="457200" cy="429768"/>
          </a:xfrm>
          <a:prstGeom prst="roundRect">
            <a:avLst>
              <a:gd name="adj" fmla="val 10638"/>
            </a:avLst>
          </a:prstGeom>
          <a:solidFill>
            <a:srgbClr val="D5DEE6"/>
          </a:solidFill>
          <a:ln/>
        </p:spPr>
        <p:txBody>
          <a:bodyPr/>
          <a:lstStyle/>
          <a:p>
            <a:endParaRPr lang="en-US"/>
          </a:p>
        </p:txBody>
      </p:sp>
      <p:sp>
        <p:nvSpPr>
          <p:cNvPr id="22" name="Text 20"/>
          <p:cNvSpPr/>
          <p:nvPr/>
        </p:nvSpPr>
        <p:spPr>
          <a:xfrm>
            <a:off x="548640" y="4480560"/>
            <a:ext cx="457200" cy="429768"/>
          </a:xfrm>
          <a:prstGeom prst="rect">
            <a:avLst/>
          </a:prstGeom>
          <a:noFill/>
          <a:ln/>
        </p:spPr>
        <p:txBody>
          <a:bodyPr wrap="square" lIns="0" tIns="0" rIns="0" bIns="0" rtlCol="0" anchor="ctr"/>
          <a:lstStyle/>
          <a:p>
            <a:pPr marL="0" indent="0" algn="ctr">
              <a:buNone/>
            </a:pPr>
            <a:r>
              <a:rPr lang="en-US" sz="1800" b="1" dirty="0">
                <a:solidFill>
                  <a:srgbClr val="5A6B7B"/>
                </a:solidFill>
                <a:latin typeface="Courier New" pitchFamily="34" charset="0"/>
                <a:ea typeface="Courier New" pitchFamily="34" charset="-122"/>
                <a:cs typeface="Courier New" pitchFamily="34" charset="-120"/>
              </a:rPr>
              <a:t>0</a:t>
            </a:r>
            <a:endParaRPr lang="en-US" sz="1800" dirty="0"/>
          </a:p>
        </p:txBody>
      </p:sp>
      <p:sp>
        <p:nvSpPr>
          <p:cNvPr id="23" name="Text 21"/>
          <p:cNvSpPr/>
          <p:nvPr/>
        </p:nvSpPr>
        <p:spPr>
          <a:xfrm>
            <a:off x="1188720" y="4480560"/>
            <a:ext cx="3108960" cy="429768"/>
          </a:xfrm>
          <a:prstGeom prst="rect">
            <a:avLst/>
          </a:prstGeom>
          <a:noFill/>
          <a:ln/>
        </p:spPr>
        <p:txBody>
          <a:bodyPr wrap="square" lIns="0" tIns="0" rIns="0" bIns="0" rtlCol="0" anchor="ctr"/>
          <a:lstStyle/>
          <a:p>
            <a:pPr marL="0" indent="0">
              <a:buNone/>
            </a:pPr>
            <a:r>
              <a:rPr lang="en-US" sz="1400" dirty="0">
                <a:solidFill>
                  <a:srgbClr val="0A1F33"/>
                </a:solidFill>
                <a:latin typeface="Calibri" pitchFamily="34" charset="0"/>
                <a:ea typeface="Calibri" pitchFamily="34" charset="-122"/>
                <a:cs typeface="Calibri" pitchFamily="34" charset="-120"/>
              </a:rPr>
              <a:t>Does 2 fit in 1?</a:t>
            </a:r>
            <a:endParaRPr lang="en-US" sz="1400" dirty="0"/>
          </a:p>
        </p:txBody>
      </p:sp>
      <p:sp>
        <p:nvSpPr>
          <p:cNvPr id="24" name="Text 22"/>
          <p:cNvSpPr/>
          <p:nvPr/>
        </p:nvSpPr>
        <p:spPr>
          <a:xfrm>
            <a:off x="4297680" y="4480560"/>
            <a:ext cx="3200400" cy="429768"/>
          </a:xfrm>
          <a:prstGeom prst="rect">
            <a:avLst/>
          </a:prstGeom>
          <a:noFill/>
          <a:ln/>
        </p:spPr>
        <p:txBody>
          <a:bodyPr wrap="square" lIns="0" tIns="0" rIns="0" bIns="0" rtlCol="0" anchor="ctr"/>
          <a:lstStyle/>
          <a:p>
            <a:pPr marL="0" indent="0">
              <a:buNone/>
            </a:pPr>
            <a:r>
              <a:rPr lang="en-US" sz="1400" dirty="0">
                <a:solidFill>
                  <a:srgbClr val="5A6B7B"/>
                </a:solidFill>
                <a:latin typeface="Calibri" pitchFamily="34" charset="0"/>
                <a:ea typeface="Calibri" pitchFamily="34" charset="-122"/>
                <a:cs typeface="Calibri" pitchFamily="34" charset="-120"/>
              </a:rPr>
              <a:t>No → keep 1</a:t>
            </a:r>
            <a:endParaRPr lang="en-US" sz="1400" dirty="0"/>
          </a:p>
        </p:txBody>
      </p:sp>
      <p:sp>
        <p:nvSpPr>
          <p:cNvPr id="25" name="Shape 23"/>
          <p:cNvSpPr/>
          <p:nvPr/>
        </p:nvSpPr>
        <p:spPr>
          <a:xfrm>
            <a:off x="548640" y="4983480"/>
            <a:ext cx="457200" cy="429768"/>
          </a:xfrm>
          <a:prstGeom prst="roundRect">
            <a:avLst>
              <a:gd name="adj" fmla="val 10638"/>
            </a:avLst>
          </a:prstGeom>
          <a:solidFill>
            <a:srgbClr val="1E5C3A"/>
          </a:solidFill>
          <a:ln/>
        </p:spPr>
        <p:txBody>
          <a:bodyPr/>
          <a:lstStyle/>
          <a:p>
            <a:endParaRPr lang="en-US"/>
          </a:p>
        </p:txBody>
      </p:sp>
      <p:sp>
        <p:nvSpPr>
          <p:cNvPr id="26" name="Text 24"/>
          <p:cNvSpPr/>
          <p:nvPr/>
        </p:nvSpPr>
        <p:spPr>
          <a:xfrm>
            <a:off x="548640" y="4983480"/>
            <a:ext cx="457200" cy="429768"/>
          </a:xfrm>
          <a:prstGeom prst="rect">
            <a:avLst/>
          </a:prstGeom>
          <a:noFill/>
          <a:ln/>
        </p:spPr>
        <p:txBody>
          <a:bodyPr wrap="square" lIns="0" tIns="0" rIns="0" bIns="0" rtlCol="0" anchor="ctr"/>
          <a:lstStyle/>
          <a:p>
            <a:pPr marL="0" indent="0" algn="ctr">
              <a:buNone/>
            </a:pPr>
            <a:r>
              <a:rPr lang="en-US" sz="1800" b="1" dirty="0">
                <a:solidFill>
                  <a:srgbClr val="3DDC84"/>
                </a:solidFill>
                <a:latin typeface="Courier New" pitchFamily="34" charset="0"/>
                <a:ea typeface="Courier New" pitchFamily="34" charset="-122"/>
                <a:cs typeface="Courier New" pitchFamily="34" charset="-120"/>
              </a:rPr>
              <a:t>1</a:t>
            </a:r>
            <a:endParaRPr lang="en-US" sz="1800" dirty="0"/>
          </a:p>
        </p:txBody>
      </p:sp>
      <p:sp>
        <p:nvSpPr>
          <p:cNvPr id="27" name="Text 25"/>
          <p:cNvSpPr/>
          <p:nvPr/>
        </p:nvSpPr>
        <p:spPr>
          <a:xfrm>
            <a:off x="1188720" y="4983480"/>
            <a:ext cx="3108960" cy="429768"/>
          </a:xfrm>
          <a:prstGeom prst="rect">
            <a:avLst/>
          </a:prstGeom>
          <a:noFill/>
          <a:ln/>
        </p:spPr>
        <p:txBody>
          <a:bodyPr wrap="square" lIns="0" tIns="0" rIns="0" bIns="0" rtlCol="0" anchor="ctr"/>
          <a:lstStyle/>
          <a:p>
            <a:pPr marL="0" indent="0">
              <a:buNone/>
            </a:pPr>
            <a:r>
              <a:rPr lang="en-US" sz="1400" dirty="0">
                <a:solidFill>
                  <a:srgbClr val="0A1F33"/>
                </a:solidFill>
                <a:latin typeface="Calibri" pitchFamily="34" charset="0"/>
                <a:ea typeface="Calibri" pitchFamily="34" charset="-122"/>
                <a:cs typeface="Calibri" pitchFamily="34" charset="-120"/>
              </a:rPr>
              <a:t>Does 1 fit in 1?</a:t>
            </a:r>
            <a:endParaRPr lang="en-US" sz="1400" dirty="0"/>
          </a:p>
        </p:txBody>
      </p:sp>
      <p:sp>
        <p:nvSpPr>
          <p:cNvPr id="28" name="Text 26"/>
          <p:cNvSpPr/>
          <p:nvPr/>
        </p:nvSpPr>
        <p:spPr>
          <a:xfrm>
            <a:off x="4297680" y="4983480"/>
            <a:ext cx="3200400" cy="429768"/>
          </a:xfrm>
          <a:prstGeom prst="rect">
            <a:avLst/>
          </a:prstGeom>
          <a:noFill/>
          <a:ln/>
        </p:spPr>
        <p:txBody>
          <a:bodyPr wrap="square" lIns="0" tIns="0" rIns="0" bIns="0" rtlCol="0" anchor="ctr"/>
          <a:lstStyle/>
          <a:p>
            <a:pPr marL="0" indent="0">
              <a:buNone/>
            </a:pPr>
            <a:r>
              <a:rPr lang="en-US" sz="1400" dirty="0">
                <a:solidFill>
                  <a:srgbClr val="5A6B7B"/>
                </a:solidFill>
                <a:latin typeface="Calibri" pitchFamily="34" charset="0"/>
                <a:ea typeface="Calibri" pitchFamily="34" charset="-122"/>
                <a:cs typeface="Calibri" pitchFamily="34" charset="-120"/>
              </a:rPr>
              <a:t>Yes → 1 − 1 = 0</a:t>
            </a:r>
            <a:endParaRPr lang="en-US" sz="1400" dirty="0"/>
          </a:p>
        </p:txBody>
      </p:sp>
      <p:sp>
        <p:nvSpPr>
          <p:cNvPr id="29" name="Shape 27"/>
          <p:cNvSpPr/>
          <p:nvPr/>
        </p:nvSpPr>
        <p:spPr>
          <a:xfrm>
            <a:off x="7955280" y="2468880"/>
            <a:ext cx="3657600" cy="3017520"/>
          </a:xfrm>
          <a:prstGeom prst="roundRect">
            <a:avLst>
              <a:gd name="adj" fmla="val 3030"/>
            </a:avLst>
          </a:prstGeom>
          <a:solidFill>
            <a:srgbClr val="13324F"/>
          </a:solidFill>
          <a:ln/>
        </p:spPr>
        <p:txBody>
          <a:bodyPr/>
          <a:lstStyle/>
          <a:p>
            <a:endParaRPr lang="en-US"/>
          </a:p>
        </p:txBody>
      </p:sp>
      <p:sp>
        <p:nvSpPr>
          <p:cNvPr id="30" name="Text 28"/>
          <p:cNvSpPr/>
          <p:nvPr/>
        </p:nvSpPr>
        <p:spPr>
          <a:xfrm>
            <a:off x="7955280" y="2651760"/>
            <a:ext cx="3657600" cy="457200"/>
          </a:xfrm>
          <a:prstGeom prst="rect">
            <a:avLst/>
          </a:prstGeom>
          <a:noFill/>
          <a:ln/>
        </p:spPr>
        <p:txBody>
          <a:bodyPr wrap="square" rtlCol="0" anchor="ctr"/>
          <a:lstStyle/>
          <a:p>
            <a:pPr marL="0" indent="0" algn="ctr">
              <a:buNone/>
            </a:pPr>
            <a:r>
              <a:rPr lang="en-US" sz="1800" b="1" dirty="0">
                <a:solidFill>
                  <a:srgbClr val="C7D2DC"/>
                </a:solidFill>
                <a:latin typeface="Calibri" pitchFamily="34" charset="0"/>
                <a:ea typeface="Calibri" pitchFamily="34" charset="-122"/>
                <a:cs typeface="Calibri" pitchFamily="34" charset="-120"/>
              </a:rPr>
              <a:t>Result</a:t>
            </a:r>
            <a:endParaRPr lang="en-US" sz="1800" dirty="0"/>
          </a:p>
        </p:txBody>
      </p:sp>
      <p:sp>
        <p:nvSpPr>
          <p:cNvPr id="31" name="Text 29"/>
          <p:cNvSpPr/>
          <p:nvPr/>
        </p:nvSpPr>
        <p:spPr>
          <a:xfrm>
            <a:off x="7955280" y="3200400"/>
            <a:ext cx="3657600" cy="914400"/>
          </a:xfrm>
          <a:prstGeom prst="rect">
            <a:avLst/>
          </a:prstGeom>
          <a:noFill/>
          <a:ln/>
        </p:spPr>
        <p:txBody>
          <a:bodyPr wrap="square" rtlCol="0" anchor="ctr"/>
          <a:lstStyle/>
          <a:p>
            <a:pPr marL="0" indent="0" algn="ctr">
              <a:buNone/>
            </a:pPr>
            <a:r>
              <a:rPr lang="en-US" sz="5200" b="1" dirty="0">
                <a:solidFill>
                  <a:srgbClr val="3DDC84"/>
                </a:solidFill>
                <a:latin typeface="Courier New" pitchFamily="34" charset="0"/>
                <a:ea typeface="Courier New" pitchFamily="34" charset="-122"/>
                <a:cs typeface="Courier New" pitchFamily="34" charset="-120"/>
              </a:rPr>
              <a:t>101101</a:t>
            </a:r>
            <a:endParaRPr lang="en-US" sz="5200" dirty="0"/>
          </a:p>
        </p:txBody>
      </p:sp>
      <p:sp>
        <p:nvSpPr>
          <p:cNvPr id="32" name="Text 30"/>
          <p:cNvSpPr/>
          <p:nvPr/>
        </p:nvSpPr>
        <p:spPr>
          <a:xfrm>
            <a:off x="7955280" y="4297680"/>
            <a:ext cx="3657600" cy="457200"/>
          </a:xfrm>
          <a:prstGeom prst="rect">
            <a:avLst/>
          </a:prstGeom>
          <a:noFill/>
          <a:ln/>
        </p:spPr>
        <p:txBody>
          <a:bodyPr wrap="square" rtlCol="0" anchor="ctr"/>
          <a:lstStyle/>
          <a:p>
            <a:pPr marL="0" indent="0" algn="ctr">
              <a:buNone/>
            </a:pPr>
            <a:r>
              <a:rPr lang="en-US" sz="1600" dirty="0">
                <a:solidFill>
                  <a:srgbClr val="FFFFFF"/>
                </a:solidFill>
                <a:latin typeface="Courier New" pitchFamily="34" charset="0"/>
                <a:ea typeface="Courier New" pitchFamily="34" charset="-122"/>
                <a:cs typeface="Courier New" pitchFamily="34" charset="-120"/>
              </a:rPr>
              <a:t>45 = 32 + 8 + 4 + 1</a:t>
            </a:r>
            <a:endParaRPr lang="en-US" sz="1600" dirty="0"/>
          </a:p>
        </p:txBody>
      </p:sp>
      <p:sp>
        <p:nvSpPr>
          <p:cNvPr id="33" name="Text 31"/>
          <p:cNvSpPr/>
          <p:nvPr/>
        </p:nvSpPr>
        <p:spPr>
          <a:xfrm>
            <a:off x="7955280" y="4892040"/>
            <a:ext cx="3657600" cy="457200"/>
          </a:xfrm>
          <a:prstGeom prst="rect">
            <a:avLst/>
          </a:prstGeom>
          <a:noFill/>
          <a:ln/>
        </p:spPr>
        <p:txBody>
          <a:bodyPr wrap="square" rtlCol="0" anchor="ctr"/>
          <a:lstStyle/>
          <a:p>
            <a:pPr marL="0" indent="0" algn="ctr">
              <a:buNone/>
            </a:pPr>
            <a:r>
              <a:rPr lang="en-US" sz="1400" i="1" dirty="0">
                <a:solidFill>
                  <a:srgbClr val="F4B740"/>
                </a:solidFill>
                <a:latin typeface="Calibri" pitchFamily="34" charset="0"/>
                <a:ea typeface="Calibri" pitchFamily="34" charset="-122"/>
                <a:cs typeface="Calibri" pitchFamily="34" charset="-120"/>
              </a:rPr>
              <a:t>Check by adding it back!</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F33"/>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82296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Your turn — before lab</a:t>
            </a:r>
            <a:endParaRPr lang="en-US" sz="3800" dirty="0"/>
          </a:p>
        </p:txBody>
      </p:sp>
      <p:sp>
        <p:nvSpPr>
          <p:cNvPr id="3" name="Text 1"/>
          <p:cNvSpPr/>
          <p:nvPr/>
        </p:nvSpPr>
        <p:spPr>
          <a:xfrm>
            <a:off x="548640" y="1325880"/>
            <a:ext cx="10972800" cy="457200"/>
          </a:xfrm>
          <a:prstGeom prst="rect">
            <a:avLst/>
          </a:prstGeom>
          <a:noFill/>
          <a:ln/>
        </p:spPr>
        <p:txBody>
          <a:bodyPr wrap="square" rtlCol="0" anchor="ctr"/>
          <a:lstStyle/>
          <a:p>
            <a:pPr marL="0" indent="0">
              <a:buNone/>
            </a:pPr>
            <a:r>
              <a:rPr lang="en-US" sz="1600" dirty="0">
                <a:solidFill>
                  <a:srgbClr val="F4B740"/>
                </a:solidFill>
                <a:latin typeface="Calibri" pitchFamily="34" charset="0"/>
                <a:ea typeface="Calibri" pitchFamily="34" charset="-122"/>
                <a:cs typeface="Calibri" pitchFamily="34" charset="-120"/>
              </a:rPr>
              <a:t>Try these with the powers of 2:  128  64  32  16  8  4  2  1</a:t>
            </a:r>
            <a:endParaRPr lang="en-US" sz="1600" dirty="0"/>
          </a:p>
        </p:txBody>
      </p:sp>
      <p:sp>
        <p:nvSpPr>
          <p:cNvPr id="4" name="Shape 2"/>
          <p:cNvSpPr/>
          <p:nvPr/>
        </p:nvSpPr>
        <p:spPr>
          <a:xfrm>
            <a:off x="640080" y="2103120"/>
            <a:ext cx="5394960" cy="3566160"/>
          </a:xfrm>
          <a:prstGeom prst="roundRect">
            <a:avLst>
              <a:gd name="adj" fmla="val 2564"/>
            </a:avLst>
          </a:prstGeom>
          <a:solidFill>
            <a:srgbClr val="13324F"/>
          </a:solidFill>
          <a:ln/>
        </p:spPr>
        <p:txBody>
          <a:bodyPr/>
          <a:lstStyle/>
          <a:p>
            <a:endParaRPr lang="en-US"/>
          </a:p>
        </p:txBody>
      </p:sp>
      <p:sp>
        <p:nvSpPr>
          <p:cNvPr id="5" name="Text 3"/>
          <p:cNvSpPr/>
          <p:nvPr/>
        </p:nvSpPr>
        <p:spPr>
          <a:xfrm>
            <a:off x="640080" y="2286000"/>
            <a:ext cx="5394960" cy="548640"/>
          </a:xfrm>
          <a:prstGeom prst="rect">
            <a:avLst/>
          </a:prstGeom>
          <a:noFill/>
          <a:ln/>
        </p:spPr>
        <p:txBody>
          <a:bodyPr wrap="square" rtlCol="0" anchor="ctr"/>
          <a:lstStyle/>
          <a:p>
            <a:pPr marL="0" indent="0" algn="ctr">
              <a:buNone/>
            </a:pPr>
            <a:r>
              <a:rPr lang="en-US" sz="2000" b="1" dirty="0">
                <a:solidFill>
                  <a:srgbClr val="3DDC84"/>
                </a:solidFill>
                <a:latin typeface="Calibri" pitchFamily="34" charset="0"/>
                <a:ea typeface="Calibri" pitchFamily="34" charset="-122"/>
                <a:cs typeface="Calibri" pitchFamily="34" charset="-120"/>
              </a:rPr>
              <a:t>Binary → Decimal</a:t>
            </a:r>
            <a:endParaRPr lang="en-US" sz="2000" dirty="0"/>
          </a:p>
        </p:txBody>
      </p:sp>
      <p:sp>
        <p:nvSpPr>
          <p:cNvPr id="6" name="Text 4"/>
          <p:cNvSpPr/>
          <p:nvPr/>
        </p:nvSpPr>
        <p:spPr>
          <a:xfrm>
            <a:off x="1097280" y="2971800"/>
            <a:ext cx="457200" cy="640080"/>
          </a:xfrm>
          <a:prstGeom prst="rect">
            <a:avLst/>
          </a:prstGeom>
          <a:noFill/>
          <a:ln/>
        </p:spPr>
        <p:txBody>
          <a:bodyPr wrap="square" lIns="0" tIns="0" rIns="0" bIns="0" rtlCol="0" anchor="ctr"/>
          <a:lstStyle/>
          <a:p>
            <a:pPr marL="0" indent="0">
              <a:buNone/>
            </a:pPr>
            <a:r>
              <a:rPr lang="en-US" sz="2000" b="1" dirty="0">
                <a:solidFill>
                  <a:srgbClr val="5A6B7B"/>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554480" y="2971800"/>
            <a:ext cx="3931920" cy="640080"/>
          </a:xfrm>
          <a:prstGeom prst="rect">
            <a:avLst/>
          </a:prstGeom>
          <a:noFill/>
          <a:ln/>
        </p:spPr>
        <p:txBody>
          <a:bodyPr wrap="square" lIns="0" tIns="0" rIns="0" bIns="0" rtlCol="0" anchor="ctr"/>
          <a:lstStyle/>
          <a:p>
            <a:pPr marL="0" indent="0">
              <a:buNone/>
            </a:pPr>
            <a:r>
              <a:rPr lang="en-US" sz="2600" b="1" dirty="0">
                <a:solidFill>
                  <a:srgbClr val="FFFFFF"/>
                </a:solidFill>
                <a:latin typeface="Courier New" pitchFamily="34" charset="0"/>
                <a:ea typeface="Courier New" pitchFamily="34" charset="-122"/>
                <a:cs typeface="Courier New" pitchFamily="34" charset="-120"/>
              </a:rPr>
              <a:t>1010</a:t>
            </a:r>
            <a:endParaRPr lang="en-US" sz="2600" dirty="0"/>
          </a:p>
        </p:txBody>
      </p:sp>
      <p:sp>
        <p:nvSpPr>
          <p:cNvPr id="8" name="Text 6"/>
          <p:cNvSpPr/>
          <p:nvPr/>
        </p:nvSpPr>
        <p:spPr>
          <a:xfrm>
            <a:off x="1097280" y="3840480"/>
            <a:ext cx="457200" cy="640080"/>
          </a:xfrm>
          <a:prstGeom prst="rect">
            <a:avLst/>
          </a:prstGeom>
          <a:noFill/>
          <a:ln/>
        </p:spPr>
        <p:txBody>
          <a:bodyPr wrap="square" lIns="0" tIns="0" rIns="0" bIns="0" rtlCol="0" anchor="ctr"/>
          <a:lstStyle/>
          <a:p>
            <a:pPr marL="0" indent="0">
              <a:buNone/>
            </a:pPr>
            <a:r>
              <a:rPr lang="en-US" sz="2000" b="1" dirty="0">
                <a:solidFill>
                  <a:srgbClr val="5A6B7B"/>
                </a:solidFill>
                <a:latin typeface="Calibri" pitchFamily="34" charset="0"/>
                <a:ea typeface="Calibri" pitchFamily="34" charset="-122"/>
                <a:cs typeface="Calibri" pitchFamily="34" charset="-120"/>
              </a:rPr>
              <a:t>2.</a:t>
            </a:r>
            <a:endParaRPr lang="en-US" sz="2000" dirty="0"/>
          </a:p>
        </p:txBody>
      </p:sp>
      <p:sp>
        <p:nvSpPr>
          <p:cNvPr id="9" name="Text 7"/>
          <p:cNvSpPr/>
          <p:nvPr/>
        </p:nvSpPr>
        <p:spPr>
          <a:xfrm>
            <a:off x="1554480" y="3840480"/>
            <a:ext cx="3931920" cy="640080"/>
          </a:xfrm>
          <a:prstGeom prst="rect">
            <a:avLst/>
          </a:prstGeom>
          <a:noFill/>
          <a:ln/>
        </p:spPr>
        <p:txBody>
          <a:bodyPr wrap="square" lIns="0" tIns="0" rIns="0" bIns="0" rtlCol="0" anchor="ctr"/>
          <a:lstStyle/>
          <a:p>
            <a:pPr marL="0" indent="0">
              <a:buNone/>
            </a:pPr>
            <a:r>
              <a:rPr lang="en-US" sz="2600" b="1" dirty="0">
                <a:solidFill>
                  <a:srgbClr val="FFFFFF"/>
                </a:solidFill>
                <a:latin typeface="Courier New" pitchFamily="34" charset="0"/>
                <a:ea typeface="Courier New" pitchFamily="34" charset="-122"/>
                <a:cs typeface="Courier New" pitchFamily="34" charset="-120"/>
              </a:rPr>
              <a:t>110011</a:t>
            </a:r>
            <a:endParaRPr lang="en-US" sz="2600" dirty="0"/>
          </a:p>
        </p:txBody>
      </p:sp>
      <p:sp>
        <p:nvSpPr>
          <p:cNvPr id="10" name="Text 8"/>
          <p:cNvSpPr/>
          <p:nvPr/>
        </p:nvSpPr>
        <p:spPr>
          <a:xfrm>
            <a:off x="1097280" y="4709160"/>
            <a:ext cx="457200" cy="640080"/>
          </a:xfrm>
          <a:prstGeom prst="rect">
            <a:avLst/>
          </a:prstGeom>
          <a:noFill/>
          <a:ln/>
        </p:spPr>
        <p:txBody>
          <a:bodyPr wrap="square" lIns="0" tIns="0" rIns="0" bIns="0" rtlCol="0" anchor="ctr"/>
          <a:lstStyle/>
          <a:p>
            <a:pPr marL="0" indent="0">
              <a:buNone/>
            </a:pPr>
            <a:r>
              <a:rPr lang="en-US" sz="2000" b="1" dirty="0">
                <a:solidFill>
                  <a:srgbClr val="5A6B7B"/>
                </a:solidFill>
                <a:latin typeface="Calibri" pitchFamily="34" charset="0"/>
                <a:ea typeface="Calibri" pitchFamily="34" charset="-122"/>
                <a:cs typeface="Calibri" pitchFamily="34" charset="-120"/>
              </a:rPr>
              <a:t>3.</a:t>
            </a:r>
            <a:endParaRPr lang="en-US" sz="2000" dirty="0"/>
          </a:p>
        </p:txBody>
      </p:sp>
      <p:sp>
        <p:nvSpPr>
          <p:cNvPr id="11" name="Text 9"/>
          <p:cNvSpPr/>
          <p:nvPr/>
        </p:nvSpPr>
        <p:spPr>
          <a:xfrm>
            <a:off x="1554480" y="4709160"/>
            <a:ext cx="3931920" cy="640080"/>
          </a:xfrm>
          <a:prstGeom prst="rect">
            <a:avLst/>
          </a:prstGeom>
          <a:noFill/>
          <a:ln/>
        </p:spPr>
        <p:txBody>
          <a:bodyPr wrap="square" lIns="0" tIns="0" rIns="0" bIns="0" rtlCol="0" anchor="ctr"/>
          <a:lstStyle/>
          <a:p>
            <a:pPr marL="0" indent="0">
              <a:buNone/>
            </a:pPr>
            <a:r>
              <a:rPr lang="en-US" sz="2600" b="1" dirty="0">
                <a:solidFill>
                  <a:srgbClr val="FFFFFF"/>
                </a:solidFill>
                <a:latin typeface="Courier New" pitchFamily="34" charset="0"/>
                <a:ea typeface="Courier New" pitchFamily="34" charset="-122"/>
                <a:cs typeface="Courier New" pitchFamily="34" charset="-120"/>
              </a:rPr>
              <a:t>11111111</a:t>
            </a:r>
            <a:endParaRPr lang="en-US" sz="2600" dirty="0"/>
          </a:p>
        </p:txBody>
      </p:sp>
      <p:sp>
        <p:nvSpPr>
          <p:cNvPr id="12" name="Shape 10"/>
          <p:cNvSpPr/>
          <p:nvPr/>
        </p:nvSpPr>
        <p:spPr>
          <a:xfrm>
            <a:off x="6400800" y="2103120"/>
            <a:ext cx="5394960" cy="3566160"/>
          </a:xfrm>
          <a:prstGeom prst="roundRect">
            <a:avLst>
              <a:gd name="adj" fmla="val 2564"/>
            </a:avLst>
          </a:prstGeom>
          <a:solidFill>
            <a:srgbClr val="13324F"/>
          </a:solidFill>
          <a:ln/>
        </p:spPr>
        <p:txBody>
          <a:bodyPr/>
          <a:lstStyle/>
          <a:p>
            <a:endParaRPr lang="en-US"/>
          </a:p>
        </p:txBody>
      </p:sp>
      <p:sp>
        <p:nvSpPr>
          <p:cNvPr id="13" name="Text 11"/>
          <p:cNvSpPr/>
          <p:nvPr/>
        </p:nvSpPr>
        <p:spPr>
          <a:xfrm>
            <a:off x="6400800" y="2286000"/>
            <a:ext cx="5394960" cy="548640"/>
          </a:xfrm>
          <a:prstGeom prst="rect">
            <a:avLst/>
          </a:prstGeom>
          <a:noFill/>
          <a:ln/>
        </p:spPr>
        <p:txBody>
          <a:bodyPr wrap="square" rtlCol="0" anchor="ctr"/>
          <a:lstStyle/>
          <a:p>
            <a:pPr marL="0" indent="0" algn="ctr">
              <a:buNone/>
            </a:pPr>
            <a:r>
              <a:rPr lang="en-US" sz="2000" b="1" dirty="0">
                <a:solidFill>
                  <a:srgbClr val="3DDC84"/>
                </a:solidFill>
                <a:latin typeface="Calibri" pitchFamily="34" charset="0"/>
                <a:ea typeface="Calibri" pitchFamily="34" charset="-122"/>
                <a:cs typeface="Calibri" pitchFamily="34" charset="-120"/>
              </a:rPr>
              <a:t>Decimal → Binary</a:t>
            </a:r>
            <a:endParaRPr lang="en-US" sz="2000" dirty="0"/>
          </a:p>
        </p:txBody>
      </p:sp>
      <p:sp>
        <p:nvSpPr>
          <p:cNvPr id="14" name="Text 12"/>
          <p:cNvSpPr/>
          <p:nvPr/>
        </p:nvSpPr>
        <p:spPr>
          <a:xfrm>
            <a:off x="6858000" y="2971800"/>
            <a:ext cx="457200" cy="640080"/>
          </a:xfrm>
          <a:prstGeom prst="rect">
            <a:avLst/>
          </a:prstGeom>
          <a:noFill/>
          <a:ln/>
        </p:spPr>
        <p:txBody>
          <a:bodyPr wrap="square" lIns="0" tIns="0" rIns="0" bIns="0" rtlCol="0" anchor="ctr"/>
          <a:lstStyle/>
          <a:p>
            <a:pPr marL="0" indent="0">
              <a:buNone/>
            </a:pPr>
            <a:r>
              <a:rPr lang="en-US" sz="2000" b="1" dirty="0">
                <a:solidFill>
                  <a:srgbClr val="5A6B7B"/>
                </a:solidFill>
                <a:latin typeface="Calibri" pitchFamily="34" charset="0"/>
                <a:ea typeface="Calibri" pitchFamily="34" charset="-122"/>
                <a:cs typeface="Calibri" pitchFamily="34" charset="-120"/>
              </a:rPr>
              <a:t>1.</a:t>
            </a:r>
            <a:endParaRPr lang="en-US" sz="2000" dirty="0"/>
          </a:p>
        </p:txBody>
      </p:sp>
      <p:sp>
        <p:nvSpPr>
          <p:cNvPr id="15" name="Text 13"/>
          <p:cNvSpPr/>
          <p:nvPr/>
        </p:nvSpPr>
        <p:spPr>
          <a:xfrm>
            <a:off x="7315200" y="2971800"/>
            <a:ext cx="3931920" cy="640080"/>
          </a:xfrm>
          <a:prstGeom prst="rect">
            <a:avLst/>
          </a:prstGeom>
          <a:noFill/>
          <a:ln/>
        </p:spPr>
        <p:txBody>
          <a:bodyPr wrap="square" lIns="0" tIns="0" rIns="0" bIns="0" rtlCol="0" anchor="ctr"/>
          <a:lstStyle/>
          <a:p>
            <a:pPr marL="0" indent="0">
              <a:buNone/>
            </a:pPr>
            <a:r>
              <a:rPr lang="en-US" sz="2600" b="1" dirty="0">
                <a:solidFill>
                  <a:srgbClr val="FFFFFF"/>
                </a:solidFill>
                <a:latin typeface="Courier New" pitchFamily="34" charset="0"/>
                <a:ea typeface="Courier New" pitchFamily="34" charset="-122"/>
                <a:cs typeface="Courier New" pitchFamily="34" charset="-120"/>
              </a:rPr>
              <a:t>6</a:t>
            </a:r>
            <a:endParaRPr lang="en-US" sz="2600" dirty="0"/>
          </a:p>
        </p:txBody>
      </p:sp>
      <p:sp>
        <p:nvSpPr>
          <p:cNvPr id="16" name="Text 14"/>
          <p:cNvSpPr/>
          <p:nvPr/>
        </p:nvSpPr>
        <p:spPr>
          <a:xfrm>
            <a:off x="6858000" y="3840480"/>
            <a:ext cx="457200" cy="640080"/>
          </a:xfrm>
          <a:prstGeom prst="rect">
            <a:avLst/>
          </a:prstGeom>
          <a:noFill/>
          <a:ln/>
        </p:spPr>
        <p:txBody>
          <a:bodyPr wrap="square" lIns="0" tIns="0" rIns="0" bIns="0" rtlCol="0" anchor="ctr"/>
          <a:lstStyle/>
          <a:p>
            <a:pPr marL="0" indent="0">
              <a:buNone/>
            </a:pPr>
            <a:r>
              <a:rPr lang="en-US" sz="2000" b="1" dirty="0">
                <a:solidFill>
                  <a:srgbClr val="5A6B7B"/>
                </a:solidFill>
                <a:latin typeface="Calibri" pitchFamily="34" charset="0"/>
                <a:ea typeface="Calibri" pitchFamily="34" charset="-122"/>
                <a:cs typeface="Calibri" pitchFamily="34" charset="-120"/>
              </a:rPr>
              <a:t>2.</a:t>
            </a:r>
            <a:endParaRPr lang="en-US" sz="2000" dirty="0"/>
          </a:p>
        </p:txBody>
      </p:sp>
      <p:sp>
        <p:nvSpPr>
          <p:cNvPr id="17" name="Text 15"/>
          <p:cNvSpPr/>
          <p:nvPr/>
        </p:nvSpPr>
        <p:spPr>
          <a:xfrm>
            <a:off x="7315200" y="3840480"/>
            <a:ext cx="3931920" cy="640080"/>
          </a:xfrm>
          <a:prstGeom prst="rect">
            <a:avLst/>
          </a:prstGeom>
          <a:noFill/>
          <a:ln/>
        </p:spPr>
        <p:txBody>
          <a:bodyPr wrap="square" lIns="0" tIns="0" rIns="0" bIns="0" rtlCol="0" anchor="ctr"/>
          <a:lstStyle/>
          <a:p>
            <a:pPr marL="0" indent="0">
              <a:buNone/>
            </a:pPr>
            <a:r>
              <a:rPr lang="en-US" sz="2600" b="1" dirty="0">
                <a:solidFill>
                  <a:srgbClr val="FFFFFF"/>
                </a:solidFill>
                <a:latin typeface="Courier New" pitchFamily="34" charset="0"/>
                <a:ea typeface="Courier New" pitchFamily="34" charset="-122"/>
                <a:cs typeface="Courier New" pitchFamily="34" charset="-120"/>
              </a:rPr>
              <a:t>20</a:t>
            </a:r>
            <a:endParaRPr lang="en-US" sz="2600" dirty="0"/>
          </a:p>
        </p:txBody>
      </p:sp>
      <p:sp>
        <p:nvSpPr>
          <p:cNvPr id="18" name="Text 16"/>
          <p:cNvSpPr/>
          <p:nvPr/>
        </p:nvSpPr>
        <p:spPr>
          <a:xfrm>
            <a:off x="6858000" y="4709160"/>
            <a:ext cx="457200" cy="640080"/>
          </a:xfrm>
          <a:prstGeom prst="rect">
            <a:avLst/>
          </a:prstGeom>
          <a:noFill/>
          <a:ln/>
        </p:spPr>
        <p:txBody>
          <a:bodyPr wrap="square" lIns="0" tIns="0" rIns="0" bIns="0" rtlCol="0" anchor="ctr"/>
          <a:lstStyle/>
          <a:p>
            <a:pPr marL="0" indent="0">
              <a:buNone/>
            </a:pPr>
            <a:r>
              <a:rPr lang="en-US" sz="2000" b="1" dirty="0">
                <a:solidFill>
                  <a:srgbClr val="5A6B7B"/>
                </a:solidFill>
                <a:latin typeface="Calibri" pitchFamily="34" charset="0"/>
                <a:ea typeface="Calibri" pitchFamily="34" charset="-122"/>
                <a:cs typeface="Calibri" pitchFamily="34" charset="-120"/>
              </a:rPr>
              <a:t>3.</a:t>
            </a:r>
            <a:endParaRPr lang="en-US" sz="2000" dirty="0"/>
          </a:p>
        </p:txBody>
      </p:sp>
      <p:sp>
        <p:nvSpPr>
          <p:cNvPr id="19" name="Text 17"/>
          <p:cNvSpPr/>
          <p:nvPr/>
        </p:nvSpPr>
        <p:spPr>
          <a:xfrm>
            <a:off x="7315200" y="4709160"/>
            <a:ext cx="3931920" cy="640080"/>
          </a:xfrm>
          <a:prstGeom prst="rect">
            <a:avLst/>
          </a:prstGeom>
          <a:noFill/>
          <a:ln/>
        </p:spPr>
        <p:txBody>
          <a:bodyPr wrap="square" lIns="0" tIns="0" rIns="0" bIns="0" rtlCol="0" anchor="ctr"/>
          <a:lstStyle/>
          <a:p>
            <a:pPr marL="0" indent="0">
              <a:buNone/>
            </a:pPr>
            <a:r>
              <a:rPr lang="en-US" sz="2600" b="1" dirty="0">
                <a:solidFill>
                  <a:srgbClr val="FFFFFF"/>
                </a:solidFill>
                <a:latin typeface="Courier New" pitchFamily="34" charset="0"/>
                <a:ea typeface="Courier New" pitchFamily="34" charset="-122"/>
                <a:cs typeface="Courier New" pitchFamily="34" charset="-120"/>
              </a:rPr>
              <a:t>100</a:t>
            </a:r>
            <a:endParaRPr lang="en-US" sz="2600" dirty="0"/>
          </a:p>
        </p:txBody>
      </p:sp>
      <p:sp>
        <p:nvSpPr>
          <p:cNvPr id="20" name="Text 18"/>
          <p:cNvSpPr/>
          <p:nvPr/>
        </p:nvSpPr>
        <p:spPr>
          <a:xfrm>
            <a:off x="548640" y="5943600"/>
            <a:ext cx="11064240" cy="457200"/>
          </a:xfrm>
          <a:prstGeom prst="rect">
            <a:avLst/>
          </a:prstGeom>
          <a:noFill/>
          <a:ln/>
        </p:spPr>
        <p:txBody>
          <a:bodyPr wrap="square" rtlCol="0" anchor="ctr"/>
          <a:lstStyle/>
          <a:p>
            <a:pPr marL="0" indent="0" algn="ctr">
              <a:buNone/>
            </a:pPr>
            <a:r>
              <a:rPr lang="en-US" sz="1200" dirty="0">
                <a:solidFill>
                  <a:srgbClr val="5A6B7B"/>
                </a:solidFill>
                <a:latin typeface="Courier New" pitchFamily="34" charset="0"/>
                <a:ea typeface="Courier New" pitchFamily="34" charset="-122"/>
                <a:cs typeface="Courier New" pitchFamily="34" charset="-120"/>
              </a:rPr>
              <a:t>Answers:  1010=10  110011=51  11111111=255   |   6=110  20=10100  100=1100100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F33"/>
        </a:solidFill>
        <a:effectLst/>
      </p:bgPr>
    </p:bg>
    <p:spTree>
      <p:nvGrpSpPr>
        <p:cNvPr id="1" name=""/>
        <p:cNvGrpSpPr/>
        <p:nvPr/>
      </p:nvGrpSpPr>
      <p:grpSpPr>
        <a:xfrm>
          <a:off x="0" y="0"/>
          <a:ext cx="0" cy="0"/>
          <a:chOff x="0" y="0"/>
          <a:chExt cx="0" cy="0"/>
        </a:xfrm>
      </p:grpSpPr>
      <p:sp>
        <p:nvSpPr>
          <p:cNvPr id="2" name="Text 0"/>
          <p:cNvSpPr/>
          <p:nvPr/>
        </p:nvSpPr>
        <p:spPr>
          <a:xfrm>
            <a:off x="548640" y="640080"/>
            <a:ext cx="10972800" cy="822960"/>
          </a:xfrm>
          <a:prstGeom prst="rect">
            <a:avLst/>
          </a:prstGeom>
          <a:noFill/>
          <a:ln/>
        </p:spPr>
        <p:txBody>
          <a:bodyPr wrap="square"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Next up: Logic Gates</a:t>
            </a:r>
            <a:endParaRPr lang="en-US" sz="4400" dirty="0"/>
          </a:p>
        </p:txBody>
      </p:sp>
      <p:sp>
        <p:nvSpPr>
          <p:cNvPr id="3" name="Text 1"/>
          <p:cNvSpPr/>
          <p:nvPr/>
        </p:nvSpPr>
        <p:spPr>
          <a:xfrm>
            <a:off x="548640" y="1554480"/>
            <a:ext cx="10972800" cy="457200"/>
          </a:xfrm>
          <a:prstGeom prst="rect">
            <a:avLst/>
          </a:prstGeom>
          <a:noFill/>
          <a:ln/>
        </p:spPr>
        <p:txBody>
          <a:bodyPr wrap="square" rtlCol="0" anchor="ctr"/>
          <a:lstStyle/>
          <a:p>
            <a:pPr marL="0" indent="0" algn="ctr">
              <a:buNone/>
            </a:pPr>
            <a:r>
              <a:rPr lang="en-US" sz="1900" i="1" dirty="0">
                <a:solidFill>
                  <a:srgbClr val="3DDC84"/>
                </a:solidFill>
                <a:latin typeface="Calibri" pitchFamily="34" charset="0"/>
                <a:ea typeface="Calibri" pitchFamily="34" charset="-122"/>
                <a:cs typeface="Calibri" pitchFamily="34" charset="-120"/>
              </a:rPr>
              <a:t>Now that a bit is either 0 or 1, what can we DO with it?</a:t>
            </a:r>
            <a:endParaRPr lang="en-US" sz="1900" dirty="0"/>
          </a:p>
        </p:txBody>
      </p:sp>
      <p:sp>
        <p:nvSpPr>
          <p:cNvPr id="4" name="Shape 2"/>
          <p:cNvSpPr/>
          <p:nvPr/>
        </p:nvSpPr>
        <p:spPr>
          <a:xfrm>
            <a:off x="1234440" y="2651760"/>
            <a:ext cx="3017520" cy="2286000"/>
          </a:xfrm>
          <a:prstGeom prst="roundRect">
            <a:avLst>
              <a:gd name="adj" fmla="val 4000"/>
            </a:avLst>
          </a:prstGeom>
          <a:solidFill>
            <a:srgbClr val="13324F"/>
          </a:solidFill>
          <a:ln w="15875">
            <a:solidFill>
              <a:srgbClr val="3DDC84"/>
            </a:solidFill>
            <a:prstDash val="solid"/>
          </a:ln>
        </p:spPr>
        <p:txBody>
          <a:bodyPr/>
          <a:lstStyle/>
          <a:p>
            <a:endParaRPr lang="en-US"/>
          </a:p>
        </p:txBody>
      </p:sp>
      <p:sp>
        <p:nvSpPr>
          <p:cNvPr id="5" name="Text 3"/>
          <p:cNvSpPr/>
          <p:nvPr/>
        </p:nvSpPr>
        <p:spPr>
          <a:xfrm>
            <a:off x="1234440" y="2880360"/>
            <a:ext cx="3017520" cy="822960"/>
          </a:xfrm>
          <a:prstGeom prst="rect">
            <a:avLst/>
          </a:prstGeom>
          <a:noFill/>
          <a:ln/>
        </p:spPr>
        <p:txBody>
          <a:bodyPr wrap="square" rtlCol="0" anchor="ctr"/>
          <a:lstStyle/>
          <a:p>
            <a:pPr marL="0" indent="0" algn="ctr">
              <a:buNone/>
            </a:pPr>
            <a:r>
              <a:rPr lang="en-US" sz="4000" b="1" dirty="0">
                <a:solidFill>
                  <a:srgbClr val="3DDC84"/>
                </a:solidFill>
                <a:latin typeface="Courier New" pitchFamily="34" charset="0"/>
                <a:ea typeface="Courier New" pitchFamily="34" charset="-122"/>
                <a:cs typeface="Courier New" pitchFamily="34" charset="-120"/>
              </a:rPr>
              <a:t>AND</a:t>
            </a:r>
            <a:endParaRPr lang="en-US" sz="4000" dirty="0"/>
          </a:p>
        </p:txBody>
      </p:sp>
      <p:sp>
        <p:nvSpPr>
          <p:cNvPr id="6" name="Text 4"/>
          <p:cNvSpPr/>
          <p:nvPr/>
        </p:nvSpPr>
        <p:spPr>
          <a:xfrm>
            <a:off x="1508760" y="3794760"/>
            <a:ext cx="2468880" cy="1005840"/>
          </a:xfrm>
          <a:prstGeom prst="rect">
            <a:avLst/>
          </a:prstGeom>
          <a:noFill/>
          <a:ln/>
        </p:spPr>
        <p:txBody>
          <a:bodyPr wrap="square" rtlCol="0" anchor="t"/>
          <a:lstStyle/>
          <a:p>
            <a:pPr marL="0" indent="0" algn="ctr">
              <a:buNone/>
            </a:pPr>
            <a:r>
              <a:rPr lang="en-US" sz="1500" dirty="0">
                <a:solidFill>
                  <a:srgbClr val="E4EAF0"/>
                </a:solidFill>
                <a:latin typeface="Calibri" pitchFamily="34" charset="0"/>
                <a:ea typeface="Calibri" pitchFamily="34" charset="-122"/>
                <a:cs typeface="Calibri" pitchFamily="34" charset="-120"/>
              </a:rPr>
              <a:t>1 only if BOTH inputs are 1</a:t>
            </a:r>
            <a:endParaRPr lang="en-US" sz="1500" dirty="0"/>
          </a:p>
        </p:txBody>
      </p:sp>
      <p:sp>
        <p:nvSpPr>
          <p:cNvPr id="7" name="Shape 5"/>
          <p:cNvSpPr/>
          <p:nvPr/>
        </p:nvSpPr>
        <p:spPr>
          <a:xfrm>
            <a:off x="4663440" y="2651760"/>
            <a:ext cx="3017520" cy="2286000"/>
          </a:xfrm>
          <a:prstGeom prst="roundRect">
            <a:avLst>
              <a:gd name="adj" fmla="val 4000"/>
            </a:avLst>
          </a:prstGeom>
          <a:solidFill>
            <a:srgbClr val="13324F"/>
          </a:solidFill>
          <a:ln w="15875">
            <a:solidFill>
              <a:srgbClr val="3DDC84"/>
            </a:solidFill>
            <a:prstDash val="solid"/>
          </a:ln>
        </p:spPr>
        <p:txBody>
          <a:bodyPr/>
          <a:lstStyle/>
          <a:p>
            <a:endParaRPr lang="en-US"/>
          </a:p>
        </p:txBody>
      </p:sp>
      <p:sp>
        <p:nvSpPr>
          <p:cNvPr id="8" name="Text 6"/>
          <p:cNvSpPr/>
          <p:nvPr/>
        </p:nvSpPr>
        <p:spPr>
          <a:xfrm>
            <a:off x="4663440" y="2880360"/>
            <a:ext cx="3017520" cy="822960"/>
          </a:xfrm>
          <a:prstGeom prst="rect">
            <a:avLst/>
          </a:prstGeom>
          <a:noFill/>
          <a:ln/>
        </p:spPr>
        <p:txBody>
          <a:bodyPr wrap="square" rtlCol="0" anchor="ctr"/>
          <a:lstStyle/>
          <a:p>
            <a:pPr marL="0" indent="0" algn="ctr">
              <a:buNone/>
            </a:pPr>
            <a:r>
              <a:rPr lang="en-US" sz="4000" b="1" dirty="0">
                <a:solidFill>
                  <a:srgbClr val="3DDC84"/>
                </a:solidFill>
                <a:latin typeface="Courier New" pitchFamily="34" charset="0"/>
                <a:ea typeface="Courier New" pitchFamily="34" charset="-122"/>
                <a:cs typeface="Courier New" pitchFamily="34" charset="-120"/>
              </a:rPr>
              <a:t>OR</a:t>
            </a:r>
            <a:endParaRPr lang="en-US" sz="4000" dirty="0"/>
          </a:p>
        </p:txBody>
      </p:sp>
      <p:sp>
        <p:nvSpPr>
          <p:cNvPr id="9" name="Text 7"/>
          <p:cNvSpPr/>
          <p:nvPr/>
        </p:nvSpPr>
        <p:spPr>
          <a:xfrm>
            <a:off x="4937760" y="3794760"/>
            <a:ext cx="2468880" cy="1005840"/>
          </a:xfrm>
          <a:prstGeom prst="rect">
            <a:avLst/>
          </a:prstGeom>
          <a:noFill/>
          <a:ln/>
        </p:spPr>
        <p:txBody>
          <a:bodyPr wrap="square" rtlCol="0" anchor="t"/>
          <a:lstStyle/>
          <a:p>
            <a:pPr marL="0" indent="0" algn="ctr">
              <a:buNone/>
            </a:pPr>
            <a:r>
              <a:rPr lang="en-US" sz="1500" dirty="0">
                <a:solidFill>
                  <a:srgbClr val="E4EAF0"/>
                </a:solidFill>
                <a:latin typeface="Calibri" pitchFamily="34" charset="0"/>
                <a:ea typeface="Calibri" pitchFamily="34" charset="-122"/>
                <a:cs typeface="Calibri" pitchFamily="34" charset="-120"/>
              </a:rPr>
              <a:t>1 if EITHER input is 1</a:t>
            </a:r>
            <a:endParaRPr lang="en-US" sz="1500" dirty="0"/>
          </a:p>
        </p:txBody>
      </p:sp>
      <p:sp>
        <p:nvSpPr>
          <p:cNvPr id="10" name="Shape 8"/>
          <p:cNvSpPr/>
          <p:nvPr/>
        </p:nvSpPr>
        <p:spPr>
          <a:xfrm>
            <a:off x="8092440" y="2651760"/>
            <a:ext cx="3017520" cy="2286000"/>
          </a:xfrm>
          <a:prstGeom prst="roundRect">
            <a:avLst>
              <a:gd name="adj" fmla="val 4000"/>
            </a:avLst>
          </a:prstGeom>
          <a:solidFill>
            <a:srgbClr val="13324F"/>
          </a:solidFill>
          <a:ln w="15875">
            <a:solidFill>
              <a:srgbClr val="3DDC84"/>
            </a:solidFill>
            <a:prstDash val="solid"/>
          </a:ln>
        </p:spPr>
        <p:txBody>
          <a:bodyPr/>
          <a:lstStyle/>
          <a:p>
            <a:endParaRPr lang="en-US"/>
          </a:p>
        </p:txBody>
      </p:sp>
      <p:sp>
        <p:nvSpPr>
          <p:cNvPr id="11" name="Text 9"/>
          <p:cNvSpPr/>
          <p:nvPr/>
        </p:nvSpPr>
        <p:spPr>
          <a:xfrm>
            <a:off x="8092440" y="2880360"/>
            <a:ext cx="3017520" cy="822960"/>
          </a:xfrm>
          <a:prstGeom prst="rect">
            <a:avLst/>
          </a:prstGeom>
          <a:noFill/>
          <a:ln/>
        </p:spPr>
        <p:txBody>
          <a:bodyPr wrap="square" rtlCol="0" anchor="ctr"/>
          <a:lstStyle/>
          <a:p>
            <a:pPr marL="0" indent="0" algn="ctr">
              <a:buNone/>
            </a:pPr>
            <a:r>
              <a:rPr lang="en-US" sz="4000" b="1" dirty="0">
                <a:solidFill>
                  <a:srgbClr val="3DDC84"/>
                </a:solidFill>
                <a:latin typeface="Courier New" pitchFamily="34" charset="0"/>
                <a:ea typeface="Courier New" pitchFamily="34" charset="-122"/>
                <a:cs typeface="Courier New" pitchFamily="34" charset="-120"/>
              </a:rPr>
              <a:t>NOT</a:t>
            </a:r>
            <a:endParaRPr lang="en-US" sz="4000" dirty="0"/>
          </a:p>
        </p:txBody>
      </p:sp>
      <p:sp>
        <p:nvSpPr>
          <p:cNvPr id="12" name="Text 10"/>
          <p:cNvSpPr/>
          <p:nvPr/>
        </p:nvSpPr>
        <p:spPr>
          <a:xfrm>
            <a:off x="8366760" y="3794760"/>
            <a:ext cx="2468880" cy="1005840"/>
          </a:xfrm>
          <a:prstGeom prst="rect">
            <a:avLst/>
          </a:prstGeom>
          <a:noFill/>
          <a:ln/>
        </p:spPr>
        <p:txBody>
          <a:bodyPr wrap="square" rtlCol="0" anchor="t"/>
          <a:lstStyle/>
          <a:p>
            <a:pPr marL="0" indent="0" algn="ctr">
              <a:buNone/>
            </a:pPr>
            <a:r>
              <a:rPr lang="en-US" sz="1500" dirty="0">
                <a:solidFill>
                  <a:srgbClr val="E4EAF0"/>
                </a:solidFill>
                <a:latin typeface="Calibri" pitchFamily="34" charset="0"/>
                <a:ea typeface="Calibri" pitchFamily="34" charset="-122"/>
                <a:cs typeface="Calibri" pitchFamily="34" charset="-120"/>
              </a:rPr>
              <a:t>flips the bit: 0↔1</a:t>
            </a:r>
            <a:endParaRPr lang="en-US" sz="1500" dirty="0"/>
          </a:p>
        </p:txBody>
      </p:sp>
      <p:sp>
        <p:nvSpPr>
          <p:cNvPr id="13" name="Text 11"/>
          <p:cNvSpPr/>
          <p:nvPr/>
        </p:nvSpPr>
        <p:spPr>
          <a:xfrm>
            <a:off x="914400" y="5303520"/>
            <a:ext cx="10332720" cy="640080"/>
          </a:xfrm>
          <a:prstGeom prst="rect">
            <a:avLst/>
          </a:prstGeom>
          <a:noFill/>
          <a:ln/>
        </p:spPr>
        <p:txBody>
          <a:bodyPr wrap="square" rtlCol="0" anchor="ctr"/>
          <a:lstStyle/>
          <a:p>
            <a:pPr marL="0" indent="0" algn="ctr">
              <a:buNone/>
            </a:pPr>
            <a:r>
              <a:rPr lang="en-US" sz="1600" dirty="0">
                <a:solidFill>
                  <a:srgbClr val="C7D2DC"/>
                </a:solidFill>
                <a:latin typeface="Calibri" pitchFamily="34" charset="0"/>
                <a:ea typeface="Calibri" pitchFamily="34" charset="-122"/>
                <a:cs typeface="Calibri" pitchFamily="34" charset="-120"/>
              </a:rPr>
              <a:t>Logic gates are the physical switches that turn binary into computation — arithmetic, decisions, memory.</a:t>
            </a:r>
            <a:endParaRPr lang="en-US" sz="1600" dirty="0"/>
          </a:p>
        </p:txBody>
      </p:sp>
      <p:sp>
        <p:nvSpPr>
          <p:cNvPr id="14" name="Text 12"/>
          <p:cNvSpPr/>
          <p:nvPr/>
        </p:nvSpPr>
        <p:spPr>
          <a:xfrm>
            <a:off x="0" y="6126480"/>
            <a:ext cx="12161520" cy="457200"/>
          </a:xfrm>
          <a:prstGeom prst="rect">
            <a:avLst/>
          </a:prstGeom>
          <a:noFill/>
          <a:ln/>
        </p:spPr>
        <p:txBody>
          <a:bodyPr wrap="square" rtlCol="0" anchor="ctr"/>
          <a:lstStyle/>
          <a:p>
            <a:pPr marL="0" indent="0" algn="ctr">
              <a:buNone/>
            </a:pPr>
            <a:r>
              <a:rPr lang="en-US" sz="1600" b="1" i="1" dirty="0">
                <a:solidFill>
                  <a:srgbClr val="F4B740"/>
                </a:solidFill>
                <a:latin typeface="Calibri" pitchFamily="34" charset="0"/>
                <a:ea typeface="Calibri" pitchFamily="34" charset="-122"/>
                <a:cs typeface="Calibri" pitchFamily="34" charset="-120"/>
              </a:rPr>
              <a:t>See you in lab — bring your powers of 2!</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4990</TotalTime>
  <Words>1342</Words>
  <Application>Microsoft Macintosh PowerPoint</Application>
  <PresentationFormat>Widescreen</PresentationFormat>
  <Paragraphs>149</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Steve Willis</cp:lastModifiedBy>
  <cp:revision>1</cp:revision>
  <dcterms:created xsi:type="dcterms:W3CDTF">2026-08-13T14:40:06Z</dcterms:created>
  <dcterms:modified xsi:type="dcterms:W3CDTF">2026-08-17T02:38:08Z</dcterms:modified>
</cp:coreProperties>
</file>