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claim: you never have to touch a transistor again. AND, OR, and NOT are now sealed components, and new gates get built from them the way those were built from transistors. By end of the two days: a gate called XOR, and a circuit that genuinely adds two bits. Deck spans both days — Day 1 through the XOR slides, Day 2 opens at the binary-addition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abstraction ladder — this unit's through-line, and the picture to keep returning to. Each rung was a lab. Point out the payoff of last week's encapsulation: because gates are sealed boxes with named pins, today's wiring is drag, drop, connect. Ask: what got sealed at each rung, and what did sealing it buy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XOR a human anchor before the table: 'soup or salad' (not both), and the hallway three-way light — the bulb is on exactly when the switches disagree. 'Disagreement detector' is a fair nickname and pays off later: XOR is also how a computer compares bits for 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amber row is the whole slide: 1,1. Ask which rows differ before revealing the highlight — it's the seed planted back in the OR lesson. Why it matters 'enormously': hold the mystery; tomorrow's addition slide cashes it in (1+1 is where a sum needs a carry, and XOR quietly writes the 0). Day 1 lab starts after this slide: predict the XOR table in notebooks, then build MyXOR from their own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OPENER — follows the do-now (adding one column by hand). Lab 10 callback: 1+1 in binary is 10, zero-carry-the-one. Split the result into two named jobs: SUM (stays) and CARRY (leaves). Two jobs means two wires, and it means one gate won't be enough — which is exactly the setup for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and it should feel earned: compare the SUM column to XOR's output column — identical. Compare CARRY to AND — identical. The 'disagreement' from yesterday's amber row was arithmetic all along: 1+1 writes 0 and carries 1. So the half adder is nothing new: one XOR for SUM, one AND for CARRY, both fed by the same A and B. The lab builds it in exactly that order — SUM pass first, test, then add the CARRY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limitation precisely — it's next lab's cliffhanger. Have students narrate adding 19+27 and catch themselves handling three values in the tens column. The half adder's interface (two in, two out) simply has no socket for the incoming carry. The wrap question writes itself: what can't your new circuit accept? Next lab: the full adder — and then a machine that adds real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Deliverables: XOR and half-adder truth tables (predicted first) in the notebook, screenshots of MyXOR and HA. Rubric's 4 requires verification against complete, correct, predicted tables. The 1+1 warning is practical: a plain OR miswired as XOR passes three of four rows — only the both-true case exposes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0" y="457200"/>
            <a:ext cx="12191695" cy="365760"/>
          </a:xfrm>
          <a:prstGeom prst="rect">
            <a:avLst/>
          </a:prstGeom>
          <a:noFill/>
          <a:ln/>
        </p:spPr>
        <p:txBody>
          <a:bodyPr wrap="square" lIns="0" tIns="0" rIns="0" bIns="0" rtlCol="0" anchor="ctr"/>
          <a:lstStyle/>
          <a:p>
            <a:pPr algn="ctr" indent="0" marL="0">
              <a:buNone/>
            </a:pPr>
            <a:r>
              <a:rPr lang="en-US" sz="1200" dirty="0">
                <a:solidFill>
                  <a:srgbClr val="1B3A5C"/>
                </a:solidFill>
                <a:latin typeface="Courier New" pitchFamily="34" charset="0"/>
                <a:ea typeface="Courier New" pitchFamily="34" charset="-122"/>
                <a:cs typeface="Courier New" pitchFamily="34" charset="-120"/>
              </a:rPr>
              <a:t>NOT · AND · OR</a:t>
            </a:r>
            <a:endParaRPr lang="en-US" sz="1200" dirty="0"/>
          </a:p>
        </p:txBody>
      </p:sp>
      <p:sp>
        <p:nvSpPr>
          <p:cNvPr id="3" name="Text 1"/>
          <p:cNvSpPr/>
          <p:nvPr/>
        </p:nvSpPr>
        <p:spPr>
          <a:xfrm>
            <a:off x="0" y="1554480"/>
            <a:ext cx="12191695" cy="822960"/>
          </a:xfrm>
          <a:prstGeom prst="rect">
            <a:avLst/>
          </a:prstGeom>
          <a:noFill/>
          <a:ln/>
        </p:spPr>
        <p:txBody>
          <a:bodyPr wrap="square" lIns="0" tIns="0" rIns="0" bIns="0" rtlCol="0" anchor="ctr"/>
          <a:lstStyle/>
          <a:p>
            <a:pPr algn="ctr" indent="0" marL="0">
              <a:buNone/>
            </a:pPr>
            <a:r>
              <a:rPr lang="en-US" sz="3800" b="1" dirty="0">
                <a:solidFill>
                  <a:srgbClr val="5A6B7B"/>
                </a:solidFill>
                <a:latin typeface="Courier New" pitchFamily="34" charset="0"/>
                <a:ea typeface="Courier New" pitchFamily="34" charset="-122"/>
                <a:cs typeface="Courier New" pitchFamily="34" charset="-120"/>
              </a:rPr>
              <a:t>gates </a:t>
            </a:r>
            <a:pPr algn="ctr" indent="0" marL="0">
              <a:buNone/>
            </a:pPr>
            <a:r>
              <a:rPr lang="en-US" sz="3800" b="1" dirty="0">
                <a:solidFill>
                  <a:srgbClr val="1B3A5C"/>
                </a:solidFill>
                <a:latin typeface="Courier New" pitchFamily="34" charset="0"/>
                <a:ea typeface="Courier New" pitchFamily="34" charset="-122"/>
                <a:cs typeface="Courier New" pitchFamily="34" charset="-120"/>
              </a:rPr>
              <a:t>→</a:t>
            </a:r>
            <a:pPr algn="ctr" indent="0" marL="0">
              <a:buNone/>
            </a:pPr>
            <a:r>
              <a:rPr lang="en-US" sz="3800" b="1" dirty="0">
                <a:solidFill>
                  <a:srgbClr val="3DDC84"/>
                </a:solidFill>
                <a:latin typeface="Courier New" pitchFamily="34" charset="0"/>
                <a:ea typeface="Courier New" pitchFamily="34" charset="-122"/>
                <a:cs typeface="Courier New" pitchFamily="34" charset="-120"/>
              </a:rPr>
              <a:t> gates</a:t>
            </a:r>
            <a:endParaRPr lang="en-US" sz="3800" dirty="0"/>
          </a:p>
        </p:txBody>
      </p:sp>
      <p:sp>
        <p:nvSpPr>
          <p:cNvPr id="4" name="Text 2"/>
          <p:cNvSpPr/>
          <p:nvPr/>
        </p:nvSpPr>
        <p:spPr>
          <a:xfrm>
            <a:off x="0" y="2286000"/>
            <a:ext cx="1219169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Compound Gates</a:t>
            </a:r>
            <a:endParaRPr lang="en-US" sz="5400" dirty="0"/>
          </a:p>
        </p:txBody>
      </p:sp>
      <p:sp>
        <p:nvSpPr>
          <p:cNvPr id="5" name="Text 3"/>
          <p:cNvSpPr/>
          <p:nvPr/>
        </p:nvSpPr>
        <p:spPr>
          <a:xfrm>
            <a:off x="0" y="3383280"/>
            <a:ext cx="12191695" cy="548640"/>
          </a:xfrm>
          <a:prstGeom prst="rect">
            <a:avLst/>
          </a:prstGeom>
          <a:noFill/>
          <a:ln/>
        </p:spPr>
        <p:txBody>
          <a:bodyPr wrap="square" lIns="0" tIns="0" rIns="0" bIns="0" rtlCol="0" anchor="ctr"/>
          <a:lstStyle/>
          <a:p>
            <a:pPr algn="ctr" indent="0" marL="0">
              <a:buNone/>
            </a:pPr>
            <a:r>
              <a:rPr lang="en-US" sz="2200" dirty="0">
                <a:solidFill>
                  <a:srgbClr val="3DDC84"/>
                </a:solidFill>
                <a:latin typeface="Calibri" pitchFamily="34" charset="0"/>
                <a:ea typeface="Calibri" pitchFamily="34" charset="-122"/>
                <a:cs typeface="Calibri" pitchFamily="34" charset="-120"/>
              </a:rPr>
              <a:t>XOR, and the circuit that adds</a:t>
            </a:r>
            <a:endParaRPr lang="en-US" sz="2200" dirty="0"/>
          </a:p>
        </p:txBody>
      </p:sp>
      <p:sp>
        <p:nvSpPr>
          <p:cNvPr id="6" name="Text 4"/>
          <p:cNvSpPr/>
          <p:nvPr/>
        </p:nvSpPr>
        <p:spPr>
          <a:xfrm>
            <a:off x="0" y="5852160"/>
            <a:ext cx="12191695" cy="457200"/>
          </a:xfrm>
          <a:prstGeom prst="rect">
            <a:avLst/>
          </a:prstGeom>
          <a:noFill/>
          <a:ln/>
        </p:spPr>
        <p:txBody>
          <a:bodyPr wrap="square" lIns="0" tIns="0" rIns="0" bIns="0" rtlCol="0" anchor="ctr"/>
          <a:lstStyle/>
          <a:p>
            <a:pPr algn="ctr" indent="0" marL="0">
              <a:buNone/>
            </a:pPr>
            <a:r>
              <a:rPr lang="en-US" sz="1400" dirty="0">
                <a:solidFill>
                  <a:srgbClr val="5A6B7B"/>
                </a:solidFill>
                <a:latin typeface="Calibri" pitchFamily="34" charset="0"/>
                <a:ea typeface="Calibri" pitchFamily="34" charset="-122"/>
                <a:cs typeface="Calibri" pitchFamily="34" charset="-120"/>
              </a:rPr>
              <a:t>High School Computer Science  •  Digital Logic</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ladder so far</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Each layer is built from the one below — then sealed.</a:t>
            </a:r>
            <a:endParaRPr lang="en-US" sz="1700" dirty="0"/>
          </a:p>
        </p:txBody>
      </p:sp>
      <p:sp>
        <p:nvSpPr>
          <p:cNvPr id="4" name="Shape 2"/>
          <p:cNvSpPr/>
          <p:nvPr/>
        </p:nvSpPr>
        <p:spPr>
          <a:xfrm>
            <a:off x="640080" y="4937760"/>
            <a:ext cx="4023360" cy="777240"/>
          </a:xfrm>
          <a:prstGeom prst="roundRect">
            <a:avLst>
              <a:gd name="adj" fmla="val 9412"/>
            </a:avLst>
          </a:prstGeom>
          <a:solidFill>
            <a:srgbClr val="FFFFFF"/>
          </a:solidFill>
          <a:ln w="12700">
            <a:solidFill>
              <a:srgbClr val="C7D2DC"/>
            </a:solidFill>
            <a:prstDash val="solid"/>
          </a:ln>
        </p:spPr>
      </p:sp>
      <p:sp>
        <p:nvSpPr>
          <p:cNvPr id="5" name="Text 3"/>
          <p:cNvSpPr/>
          <p:nvPr/>
        </p:nvSpPr>
        <p:spPr>
          <a:xfrm>
            <a:off x="868680" y="4992624"/>
            <a:ext cx="3566160" cy="411480"/>
          </a:xfrm>
          <a:prstGeom prst="rect">
            <a:avLst/>
          </a:prstGeom>
          <a:noFill/>
          <a:ln/>
        </p:spPr>
        <p:txBody>
          <a:bodyPr wrap="square" lIns="0" tIns="0" rIns="0" bIns="0" rtlCol="0" anchor="ctr"/>
          <a:lstStyle/>
          <a:p>
            <a:pPr indent="0" marL="0">
              <a:buNone/>
            </a:pPr>
            <a:r>
              <a:rPr lang="en-US" sz="1700" b="1" dirty="0">
                <a:solidFill>
                  <a:srgbClr val="0A1F33"/>
                </a:solidFill>
                <a:latin typeface="Courier New" pitchFamily="34" charset="0"/>
                <a:ea typeface="Courier New" pitchFamily="34" charset="-122"/>
                <a:cs typeface="Courier New" pitchFamily="34" charset="-120"/>
              </a:rPr>
              <a:t>voltage</a:t>
            </a:r>
            <a:endParaRPr lang="en-US" sz="1700" dirty="0"/>
          </a:p>
        </p:txBody>
      </p:sp>
      <p:sp>
        <p:nvSpPr>
          <p:cNvPr id="6" name="Text 4"/>
          <p:cNvSpPr/>
          <p:nvPr/>
        </p:nvSpPr>
        <p:spPr>
          <a:xfrm>
            <a:off x="868680" y="5367528"/>
            <a:ext cx="3566160" cy="320040"/>
          </a:xfrm>
          <a:prstGeom prst="rect">
            <a:avLst/>
          </a:prstGeom>
          <a:noFill/>
          <a:ln/>
        </p:spPr>
        <p:txBody>
          <a:bodyPr wrap="square" lIns="0" tIns="0" rIns="0" bIns="0" rtlCol="0" anchor="ctr"/>
          <a:lstStyle/>
          <a:p>
            <a:pPr indent="0" marL="0">
              <a:buNone/>
            </a:pPr>
            <a:r>
              <a:rPr lang="en-US" sz="1150" dirty="0">
                <a:solidFill>
                  <a:srgbClr val="5A6B7B"/>
                </a:solidFill>
                <a:latin typeface="Calibri" pitchFamily="34" charset="0"/>
                <a:ea typeface="Calibri" pitchFamily="34" charset="-122"/>
                <a:cs typeface="Calibri" pitchFamily="34" charset="-120"/>
              </a:rPr>
              <a:t>high or low — the raw physics</a:t>
            </a:r>
            <a:endParaRPr lang="en-US" sz="1150" dirty="0"/>
          </a:p>
        </p:txBody>
      </p:sp>
      <p:sp>
        <p:nvSpPr>
          <p:cNvPr id="7" name="Shape 5"/>
          <p:cNvSpPr/>
          <p:nvPr/>
        </p:nvSpPr>
        <p:spPr>
          <a:xfrm>
            <a:off x="1234440" y="3977640"/>
            <a:ext cx="4023360" cy="777240"/>
          </a:xfrm>
          <a:prstGeom prst="roundRect">
            <a:avLst>
              <a:gd name="adj" fmla="val 9412"/>
            </a:avLst>
          </a:prstGeom>
          <a:solidFill>
            <a:srgbClr val="FFFFFF"/>
          </a:solidFill>
          <a:ln w="12700">
            <a:solidFill>
              <a:srgbClr val="C7D2DC"/>
            </a:solidFill>
            <a:prstDash val="solid"/>
          </a:ln>
        </p:spPr>
      </p:sp>
      <p:sp>
        <p:nvSpPr>
          <p:cNvPr id="8" name="Text 6"/>
          <p:cNvSpPr/>
          <p:nvPr/>
        </p:nvSpPr>
        <p:spPr>
          <a:xfrm>
            <a:off x="1463040" y="4032504"/>
            <a:ext cx="3566160" cy="411480"/>
          </a:xfrm>
          <a:prstGeom prst="rect">
            <a:avLst/>
          </a:prstGeom>
          <a:noFill/>
          <a:ln/>
        </p:spPr>
        <p:txBody>
          <a:bodyPr wrap="square" lIns="0" tIns="0" rIns="0" bIns="0" rtlCol="0" anchor="ctr"/>
          <a:lstStyle/>
          <a:p>
            <a:pPr indent="0" marL="0">
              <a:buNone/>
            </a:pPr>
            <a:r>
              <a:rPr lang="en-US" sz="1700" b="1" dirty="0">
                <a:solidFill>
                  <a:srgbClr val="0A1F33"/>
                </a:solidFill>
                <a:latin typeface="Courier New" pitchFamily="34" charset="0"/>
                <a:ea typeface="Courier New" pitchFamily="34" charset="-122"/>
                <a:cs typeface="Courier New" pitchFamily="34" charset="-120"/>
              </a:rPr>
              <a:t>transistor</a:t>
            </a:r>
            <a:endParaRPr lang="en-US" sz="1700" dirty="0"/>
          </a:p>
        </p:txBody>
      </p:sp>
      <p:sp>
        <p:nvSpPr>
          <p:cNvPr id="9" name="Text 7"/>
          <p:cNvSpPr/>
          <p:nvPr/>
        </p:nvSpPr>
        <p:spPr>
          <a:xfrm>
            <a:off x="1463040" y="4407408"/>
            <a:ext cx="3566160" cy="320040"/>
          </a:xfrm>
          <a:prstGeom prst="rect">
            <a:avLst/>
          </a:prstGeom>
          <a:noFill/>
          <a:ln/>
        </p:spPr>
        <p:txBody>
          <a:bodyPr wrap="square" lIns="0" tIns="0" rIns="0" bIns="0" rtlCol="0" anchor="ctr"/>
          <a:lstStyle/>
          <a:p>
            <a:pPr indent="0" marL="0">
              <a:buNone/>
            </a:pPr>
            <a:r>
              <a:rPr lang="en-US" sz="1150" dirty="0">
                <a:solidFill>
                  <a:srgbClr val="5A6B7B"/>
                </a:solidFill>
                <a:latin typeface="Calibri" pitchFamily="34" charset="0"/>
                <a:ea typeface="Calibri" pitchFamily="34" charset="-122"/>
                <a:cs typeface="Calibri" pitchFamily="34" charset="-120"/>
              </a:rPr>
              <a:t>a switch that voltage flips</a:t>
            </a:r>
            <a:endParaRPr lang="en-US" sz="1150" dirty="0"/>
          </a:p>
        </p:txBody>
      </p:sp>
      <p:sp>
        <p:nvSpPr>
          <p:cNvPr id="10" name="Shape 8"/>
          <p:cNvSpPr/>
          <p:nvPr/>
        </p:nvSpPr>
        <p:spPr>
          <a:xfrm>
            <a:off x="1828800" y="3017520"/>
            <a:ext cx="4023360" cy="777240"/>
          </a:xfrm>
          <a:prstGeom prst="roundRect">
            <a:avLst>
              <a:gd name="adj" fmla="val 9412"/>
            </a:avLst>
          </a:prstGeom>
          <a:solidFill>
            <a:srgbClr val="FFFFFF"/>
          </a:solidFill>
          <a:ln w="12700">
            <a:solidFill>
              <a:srgbClr val="C7D2DC"/>
            </a:solidFill>
            <a:prstDash val="solid"/>
          </a:ln>
        </p:spPr>
      </p:sp>
      <p:sp>
        <p:nvSpPr>
          <p:cNvPr id="11" name="Text 9"/>
          <p:cNvSpPr/>
          <p:nvPr/>
        </p:nvSpPr>
        <p:spPr>
          <a:xfrm>
            <a:off x="2057400" y="3072384"/>
            <a:ext cx="3566160" cy="411480"/>
          </a:xfrm>
          <a:prstGeom prst="rect">
            <a:avLst/>
          </a:prstGeom>
          <a:noFill/>
          <a:ln/>
        </p:spPr>
        <p:txBody>
          <a:bodyPr wrap="square" lIns="0" tIns="0" rIns="0" bIns="0" rtlCol="0" anchor="ctr"/>
          <a:lstStyle/>
          <a:p>
            <a:pPr indent="0" marL="0">
              <a:buNone/>
            </a:pPr>
            <a:r>
              <a:rPr lang="en-US" sz="1700" b="1" dirty="0">
                <a:solidFill>
                  <a:srgbClr val="0A1F33"/>
                </a:solidFill>
                <a:latin typeface="Courier New" pitchFamily="34" charset="0"/>
                <a:ea typeface="Courier New" pitchFamily="34" charset="-122"/>
                <a:cs typeface="Courier New" pitchFamily="34" charset="-120"/>
              </a:rPr>
              <a:t>gate</a:t>
            </a:r>
            <a:endParaRPr lang="en-US" sz="1700" dirty="0"/>
          </a:p>
        </p:txBody>
      </p:sp>
      <p:sp>
        <p:nvSpPr>
          <p:cNvPr id="12" name="Text 10"/>
          <p:cNvSpPr/>
          <p:nvPr/>
        </p:nvSpPr>
        <p:spPr>
          <a:xfrm>
            <a:off x="2057400" y="3447288"/>
            <a:ext cx="3566160" cy="320040"/>
          </a:xfrm>
          <a:prstGeom prst="rect">
            <a:avLst/>
          </a:prstGeom>
          <a:noFill/>
          <a:ln/>
        </p:spPr>
        <p:txBody>
          <a:bodyPr wrap="square" lIns="0" tIns="0" rIns="0" bIns="0" rtlCol="0" anchor="ctr"/>
          <a:lstStyle/>
          <a:p>
            <a:pPr indent="0" marL="0">
              <a:buNone/>
            </a:pPr>
            <a:r>
              <a:rPr lang="en-US" sz="1150" dirty="0">
                <a:solidFill>
                  <a:srgbClr val="5A6B7B"/>
                </a:solidFill>
                <a:latin typeface="Calibri" pitchFamily="34" charset="0"/>
                <a:ea typeface="Calibri" pitchFamily="34" charset="-122"/>
                <a:cs typeface="Calibri" pitchFamily="34" charset="-120"/>
              </a:rPr>
              <a:t>AND · OR · NOT — sealed last week</a:t>
            </a:r>
            <a:endParaRPr lang="en-US" sz="1150" dirty="0"/>
          </a:p>
        </p:txBody>
      </p:sp>
      <p:sp>
        <p:nvSpPr>
          <p:cNvPr id="13" name="Shape 11"/>
          <p:cNvSpPr/>
          <p:nvPr/>
        </p:nvSpPr>
        <p:spPr>
          <a:xfrm>
            <a:off x="2423160" y="2057400"/>
            <a:ext cx="4023360" cy="777240"/>
          </a:xfrm>
          <a:prstGeom prst="roundRect">
            <a:avLst>
              <a:gd name="adj" fmla="val 9412"/>
            </a:avLst>
          </a:prstGeom>
          <a:solidFill>
            <a:srgbClr val="3DDC84"/>
          </a:solidFill>
          <a:ln w="12700">
            <a:solidFill>
              <a:srgbClr val="3DDC84"/>
            </a:solidFill>
            <a:prstDash val="solid"/>
          </a:ln>
        </p:spPr>
      </p:sp>
      <p:sp>
        <p:nvSpPr>
          <p:cNvPr id="14" name="Text 12"/>
          <p:cNvSpPr/>
          <p:nvPr/>
        </p:nvSpPr>
        <p:spPr>
          <a:xfrm>
            <a:off x="2651760" y="2112264"/>
            <a:ext cx="3566160" cy="411480"/>
          </a:xfrm>
          <a:prstGeom prst="rect">
            <a:avLst/>
          </a:prstGeom>
          <a:noFill/>
          <a:ln/>
        </p:spPr>
        <p:txBody>
          <a:bodyPr wrap="square" lIns="0" tIns="0" rIns="0" bIns="0" rtlCol="0" anchor="ctr"/>
          <a:lstStyle/>
          <a:p>
            <a:pPr indent="0" marL="0">
              <a:buNone/>
            </a:pPr>
            <a:r>
              <a:rPr lang="en-US" sz="1700" b="1" dirty="0">
                <a:solidFill>
                  <a:srgbClr val="0A1F33"/>
                </a:solidFill>
                <a:latin typeface="Courier New" pitchFamily="34" charset="0"/>
                <a:ea typeface="Courier New" pitchFamily="34" charset="-122"/>
                <a:cs typeface="Courier New" pitchFamily="34" charset="-120"/>
              </a:rPr>
              <a:t>compound gate</a:t>
            </a:r>
            <a:endParaRPr lang="en-US" sz="1700" dirty="0"/>
          </a:p>
        </p:txBody>
      </p:sp>
      <p:sp>
        <p:nvSpPr>
          <p:cNvPr id="15" name="Text 13"/>
          <p:cNvSpPr/>
          <p:nvPr/>
        </p:nvSpPr>
        <p:spPr>
          <a:xfrm>
            <a:off x="2651760" y="2487168"/>
            <a:ext cx="3566160" cy="320040"/>
          </a:xfrm>
          <a:prstGeom prst="rect">
            <a:avLst/>
          </a:prstGeom>
          <a:noFill/>
          <a:ln/>
        </p:spPr>
        <p:txBody>
          <a:bodyPr wrap="square" lIns="0" tIns="0" rIns="0" bIns="0" rtlCol="0" anchor="ctr"/>
          <a:lstStyle/>
          <a:p>
            <a:pPr indent="0" marL="0">
              <a:buNone/>
            </a:pPr>
            <a:r>
              <a:rPr lang="en-US" sz="1150" dirty="0">
                <a:solidFill>
                  <a:srgbClr val="13324F"/>
                </a:solidFill>
                <a:latin typeface="Calibri" pitchFamily="34" charset="0"/>
                <a:ea typeface="Calibri" pitchFamily="34" charset="-122"/>
                <a:cs typeface="Calibri" pitchFamily="34" charset="-120"/>
              </a:rPr>
              <a:t>today: gates wired from gates</a:t>
            </a:r>
            <a:endParaRPr lang="en-US" sz="1150" dirty="0"/>
          </a:p>
        </p:txBody>
      </p:sp>
      <p:sp>
        <p:nvSpPr>
          <p:cNvPr id="16" name="Text 14"/>
          <p:cNvSpPr/>
          <p:nvPr/>
        </p:nvSpPr>
        <p:spPr>
          <a:xfrm>
            <a:off x="7498080" y="2377440"/>
            <a:ext cx="4114800" cy="109728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The rule of the ladder: build with the layer below. Never reopen it.</a:t>
            </a:r>
            <a:endParaRPr lang="en-US" sz="1700" dirty="0"/>
          </a:p>
        </p:txBody>
      </p:sp>
      <p:sp>
        <p:nvSpPr>
          <p:cNvPr id="17" name="Text 15"/>
          <p:cNvSpPr/>
          <p:nvPr/>
        </p:nvSpPr>
        <p:spPr>
          <a:xfrm>
            <a:off x="7498080" y="3566160"/>
            <a:ext cx="4114800" cy="1737360"/>
          </a:xfrm>
          <a:prstGeom prst="rect">
            <a:avLst/>
          </a:prstGeom>
          <a:noFill/>
          <a:ln/>
        </p:spPr>
        <p:txBody>
          <a:bodyPr wrap="square" lIns="0" tIns="0" rIns="0" bIns="0" rtlCol="0" anchor="ctr"/>
          <a:lstStyle/>
          <a:p>
            <a:pPr indent="0" marL="0">
              <a:buNone/>
            </a:pPr>
            <a:r>
              <a:rPr lang="en-US" sz="1400" dirty="0">
                <a:solidFill>
                  <a:srgbClr val="5A6B7B"/>
                </a:solidFill>
                <a:latin typeface="Calibri" pitchFamily="34" charset="0"/>
                <a:ea typeface="Calibri" pitchFamily="34" charset="-122"/>
                <a:cs typeface="Calibri" pitchFamily="34" charset="-120"/>
              </a:rPr>
              <a:t>Nobody wiring an XOR thinks about transistors, and nobody placing transistors thinks about electrons. Every layer earns you the right to forget the one beneath it.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XOR: “or” the way people mean it</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Exclusive OR — one or the other, not both.</a:t>
            </a:r>
            <a:endParaRPr lang="en-US" sz="1700" dirty="0"/>
          </a:p>
        </p:txBody>
      </p:sp>
      <p:sp>
        <p:nvSpPr>
          <p:cNvPr id="4" name="Text 2"/>
          <p:cNvSpPr/>
          <p:nvPr/>
        </p:nvSpPr>
        <p:spPr>
          <a:xfrm>
            <a:off x="548640" y="1874520"/>
            <a:ext cx="6035040" cy="1188720"/>
          </a:xfrm>
          <a:prstGeom prst="rect">
            <a:avLst/>
          </a:prstGeom>
          <a:noFill/>
          <a:ln/>
        </p:spPr>
        <p:txBody>
          <a:bodyPr wrap="square" lIns="0" tIns="0" rIns="0" bIns="0" rtlCol="0" anchor="ctr"/>
          <a:lstStyle/>
          <a:p>
            <a:pPr indent="0" marL="0">
              <a:buNone/>
            </a:pPr>
            <a:r>
              <a:rPr lang="en-US" sz="1600" dirty="0">
                <a:solidFill>
                  <a:srgbClr val="0A1F33"/>
                </a:solidFill>
                <a:latin typeface="Calibri" pitchFamily="34" charset="0"/>
                <a:ea typeface="Calibri" pitchFamily="34" charset="-122"/>
                <a:cs typeface="Calibri" pitchFamily="34" charset="-120"/>
              </a:rPr>
              <a:t>“Soup or salad?” includes a hidden rule: pick one. Plain OR is fine with both; XOR is the gate that enforces the “not both.”</a:t>
            </a:r>
            <a:endParaRPr lang="en-US" sz="1600" dirty="0"/>
          </a:p>
        </p:txBody>
      </p:sp>
      <p:sp>
        <p:nvSpPr>
          <p:cNvPr id="5" name="Shape 3"/>
          <p:cNvSpPr/>
          <p:nvPr/>
        </p:nvSpPr>
        <p:spPr>
          <a:xfrm>
            <a:off x="548640" y="3291840"/>
            <a:ext cx="6035040" cy="2468880"/>
          </a:xfrm>
          <a:prstGeom prst="roundRect">
            <a:avLst>
              <a:gd name="adj" fmla="val 2963"/>
            </a:avLst>
          </a:prstGeom>
          <a:solidFill>
            <a:srgbClr val="FFFFFF"/>
          </a:solidFill>
          <a:ln w="12700">
            <a:solidFill>
              <a:srgbClr val="C7D2DC"/>
            </a:solidFill>
            <a:prstDash val="solid"/>
          </a:ln>
        </p:spPr>
      </p:sp>
      <p:sp>
        <p:nvSpPr>
          <p:cNvPr id="6" name="Text 4"/>
          <p:cNvSpPr/>
          <p:nvPr/>
        </p:nvSpPr>
        <p:spPr>
          <a:xfrm>
            <a:off x="822960" y="3474720"/>
            <a:ext cx="548640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XOR in the wild: the hallway light</a:t>
            </a:r>
            <a:endParaRPr lang="en-US" sz="1600" dirty="0"/>
          </a:p>
        </p:txBody>
      </p:sp>
      <p:sp>
        <p:nvSpPr>
          <p:cNvPr id="7" name="Text 5"/>
          <p:cNvSpPr/>
          <p:nvPr/>
        </p:nvSpPr>
        <p:spPr>
          <a:xfrm>
            <a:off x="822960" y="3931920"/>
            <a:ext cx="5486400" cy="1554480"/>
          </a:xfrm>
          <a:prstGeom prst="rect">
            <a:avLst/>
          </a:prstGeom>
          <a:noFill/>
          <a:ln/>
        </p:spPr>
        <p:txBody>
          <a:bodyPr wrap="square" lIns="0" tIns="0" rIns="0" bIns="0" rtlCol="0" anchor="ctr"/>
          <a:lstStyle/>
          <a:p>
            <a:pPr indent="0" marL="0">
              <a:buNone/>
            </a:pPr>
            <a:r>
              <a:rPr lang="en-US" sz="1400" dirty="0">
                <a:solidFill>
                  <a:srgbClr val="5A6B7B"/>
                </a:solidFill>
                <a:latin typeface="Calibri" pitchFamily="34" charset="0"/>
                <a:ea typeface="Calibri" pitchFamily="34" charset="-122"/>
                <a:cs typeface="Calibri" pitchFamily="34" charset="-120"/>
              </a:rPr>
              <a:t>One bulb, a switch at each end of the hall. Flip either switch and the light changes. The bulb is on exactly when the two switches disagree — that’s XOR, and it’s wired into your house.</a:t>
            </a:r>
            <a:endParaRPr lang="en-US" sz="1400" dirty="0"/>
          </a:p>
        </p:txBody>
      </p:sp>
      <p:sp>
        <p:nvSpPr>
          <p:cNvPr id="8" name="Shape 6"/>
          <p:cNvSpPr/>
          <p:nvPr/>
        </p:nvSpPr>
        <p:spPr>
          <a:xfrm>
            <a:off x="7040880" y="2103120"/>
            <a:ext cx="4572000" cy="3657600"/>
          </a:xfrm>
          <a:prstGeom prst="roundRect">
            <a:avLst>
              <a:gd name="adj" fmla="val 2000"/>
            </a:avLst>
          </a:prstGeom>
          <a:solidFill>
            <a:srgbClr val="13324F"/>
          </a:solidFill>
          <a:ln/>
        </p:spPr>
      </p:sp>
      <p:sp>
        <p:nvSpPr>
          <p:cNvPr id="9" name="Text 7"/>
          <p:cNvSpPr/>
          <p:nvPr/>
        </p:nvSpPr>
        <p:spPr>
          <a:xfrm>
            <a:off x="7315200" y="2331720"/>
            <a:ext cx="4023360" cy="457200"/>
          </a:xfrm>
          <a:prstGeom prst="rect">
            <a:avLst/>
          </a:prstGeom>
          <a:noFill/>
          <a:ln/>
        </p:spPr>
        <p:txBody>
          <a:bodyPr wrap="square" lIns="0" tIns="0" rIns="0" bIns="0" rtlCol="0" anchor="ctr"/>
          <a:lstStyle/>
          <a:p>
            <a:pPr indent="0" marL="0">
              <a:buNone/>
            </a:pPr>
            <a:r>
              <a:rPr lang="en-US" sz="1600" b="1" dirty="0">
                <a:solidFill>
                  <a:srgbClr val="C7D2DC"/>
                </a:solidFill>
                <a:latin typeface="Calibri" pitchFamily="34" charset="0"/>
                <a:ea typeface="Calibri" pitchFamily="34" charset="-122"/>
                <a:cs typeface="Calibri" pitchFamily="34" charset="-120"/>
              </a:rPr>
              <a:t>The rule</a:t>
            </a:r>
            <a:endParaRPr lang="en-US" sz="1600" dirty="0"/>
          </a:p>
        </p:txBody>
      </p:sp>
      <p:sp>
        <p:nvSpPr>
          <p:cNvPr id="10" name="Text 8"/>
          <p:cNvSpPr/>
          <p:nvPr/>
        </p:nvSpPr>
        <p:spPr>
          <a:xfrm>
            <a:off x="7315200" y="2880360"/>
            <a:ext cx="4023360" cy="2011680"/>
          </a:xfrm>
          <a:prstGeom prst="rect">
            <a:avLst/>
          </a:prstGeom>
          <a:noFill/>
          <a:ln/>
        </p:spPr>
        <p:txBody>
          <a:bodyPr wrap="square" lIns="0" tIns="0" rIns="0" bIns="0" rtlCol="0" anchor="ctr"/>
          <a:lstStyle/>
          <a:p>
            <a:pPr indent="0" marL="0">
              <a:lnSpc>
                <a:spcPts val="4000"/>
              </a:lnSpc>
              <a:buNone/>
            </a:pPr>
            <a:r>
              <a:rPr lang="en-US" sz="2400" b="1" dirty="0">
                <a:solidFill>
                  <a:srgbClr val="3DDC84"/>
                </a:solidFill>
                <a:latin typeface="Courier New" pitchFamily="34" charset="0"/>
                <a:ea typeface="Courier New" pitchFamily="34" charset="-122"/>
                <a:cs typeface="Courier New" pitchFamily="34" charset="-120"/>
              </a:rPr>
              <a:t>output 1 when</a:t>
            </a:r>
            <a:endParaRPr lang="en-US" sz="2400" dirty="0"/>
          </a:p>
          <a:p>
            <a:pPr indent="0" marL="0">
              <a:lnSpc>
                <a:spcPts val="4000"/>
              </a:lnSpc>
              <a:buNone/>
            </a:pPr>
            <a:r>
              <a:rPr lang="en-US" sz="2400" b="1" dirty="0">
                <a:solidFill>
                  <a:srgbClr val="3DDC84"/>
                </a:solidFill>
                <a:latin typeface="Courier New" pitchFamily="34" charset="0"/>
                <a:ea typeface="Courier New" pitchFamily="34" charset="-122"/>
                <a:cs typeface="Courier New" pitchFamily="34" charset="-120"/>
              </a:rPr>
              <a:t>exactly one</a:t>
            </a:r>
            <a:endParaRPr lang="en-US" sz="2400" dirty="0"/>
          </a:p>
          <a:p>
            <a:pPr indent="0" marL="0">
              <a:lnSpc>
                <a:spcPts val="4000"/>
              </a:lnSpc>
              <a:buNone/>
            </a:pPr>
            <a:r>
              <a:rPr lang="en-US" sz="2400" b="1" dirty="0">
                <a:solidFill>
                  <a:srgbClr val="3DDC84"/>
                </a:solidFill>
                <a:latin typeface="Courier New" pitchFamily="34" charset="0"/>
                <a:ea typeface="Courier New" pitchFamily="34" charset="-122"/>
                <a:cs typeface="Courier New" pitchFamily="34" charset="-120"/>
              </a:rPr>
              <a:t>input is 1</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XOR vs. OR: one row of daylight</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C7D2DC"/>
                </a:solidFill>
                <a:latin typeface="Calibri" pitchFamily="34" charset="0"/>
                <a:ea typeface="Calibri" pitchFamily="34" charset="-122"/>
                <a:cs typeface="Calibri" pitchFamily="34" charset="-120"/>
              </a:rPr>
              <a:t>Three rows agree. One doesn’t.</a:t>
            </a:r>
            <a:endParaRPr lang="en-US" sz="1700" dirty="0"/>
          </a:p>
        </p:txBody>
      </p:sp>
      <p:sp>
        <p:nvSpPr>
          <p:cNvPr id="4" name="Text 2"/>
          <p:cNvSpPr/>
          <p:nvPr/>
        </p:nvSpPr>
        <p:spPr>
          <a:xfrm>
            <a:off x="1463040" y="1965960"/>
            <a:ext cx="3840480" cy="457200"/>
          </a:xfrm>
          <a:prstGeom prst="rect">
            <a:avLst/>
          </a:prstGeom>
          <a:noFill/>
          <a:ln/>
        </p:spPr>
        <p:txBody>
          <a:bodyPr wrap="square" lIns="0" tIns="0" rIns="0" bIns="0" rtlCol="0" anchor="ctr"/>
          <a:lstStyle/>
          <a:p>
            <a:pPr algn="ctr" indent="0" marL="0">
              <a:buNone/>
            </a:pPr>
            <a:r>
              <a:rPr lang="en-US" sz="1800" b="1" dirty="0">
                <a:solidFill>
                  <a:srgbClr val="C7D2DC"/>
                </a:solidFill>
                <a:latin typeface="Calibri" pitchFamily="34" charset="0"/>
                <a:ea typeface="Calibri" pitchFamily="34" charset="-122"/>
                <a:cs typeface="Calibri" pitchFamily="34" charset="-120"/>
              </a:rPr>
              <a:t>OR</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463040" y="2468880"/>
          <a:ext cx="3840480" cy="914400"/>
        </p:xfrm>
        <a:graphic>
          <a:graphicData uri="http://schemas.openxmlformats.org/drawingml/2006/table">
            <a:tbl>
              <a:tblPr/>
              <a:tblGrid>
                <a:gridCol w="1280160"/>
                <a:gridCol w="1280160"/>
                <a:gridCol w="1280160"/>
              </a:tblGrid>
              <a:tr h="43891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A+B</a:t>
                      </a:r>
                      <a:endParaRPr lang="en-US" sz="14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r>
              <a:tr h="438912">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r>
              <a:tr h="438912">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r>
              <a:tr h="438912">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r>
              <a:tr h="438912">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DF0D5"/>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DF0D5"/>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DF0D5"/>
                    </a:solidFill>
                  </a:tcPr>
                </a:tc>
              </a:tr>
            </a:tbl>
          </a:graphicData>
        </a:graphic>
      </p:graphicFrame>
      <p:sp>
        <p:nvSpPr>
          <p:cNvPr id="6" name="Text 3"/>
          <p:cNvSpPr/>
          <p:nvPr/>
        </p:nvSpPr>
        <p:spPr>
          <a:xfrm>
            <a:off x="6858000" y="1965960"/>
            <a:ext cx="3840480" cy="457200"/>
          </a:xfrm>
          <a:prstGeom prst="rect">
            <a:avLst/>
          </a:prstGeom>
          <a:noFill/>
          <a:ln/>
        </p:spPr>
        <p:txBody>
          <a:bodyPr wrap="square" lIns="0" tIns="0" rIns="0" bIns="0" rtlCol="0" anchor="ctr"/>
          <a:lstStyle/>
          <a:p>
            <a:pPr algn="ctr" indent="0" marL="0">
              <a:buNone/>
            </a:pPr>
            <a:r>
              <a:rPr lang="en-US" sz="1800" b="1" dirty="0">
                <a:solidFill>
                  <a:srgbClr val="3DDC84"/>
                </a:solidFill>
                <a:latin typeface="Calibri" pitchFamily="34" charset="0"/>
                <a:ea typeface="Calibri" pitchFamily="34" charset="-122"/>
                <a:cs typeface="Calibri" pitchFamily="34" charset="-120"/>
              </a:rPr>
              <a:t>XOR</a:t>
            </a:r>
            <a:endParaRPr lang="en-US" sz="18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858000" y="2468880"/>
          <a:ext cx="3840480" cy="914400"/>
        </p:xfrm>
        <a:graphic>
          <a:graphicData uri="http://schemas.openxmlformats.org/drawingml/2006/table">
            <a:tbl>
              <a:tblPr/>
              <a:tblGrid>
                <a:gridCol w="1280160"/>
                <a:gridCol w="1280160"/>
                <a:gridCol w="1280160"/>
              </a:tblGrid>
              <a:tr h="43891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A⊕B</a:t>
                      </a:r>
                      <a:endParaRPr lang="en-US" sz="14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r>
              <a:tr h="438912">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r>
              <a:tr h="438912">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r>
              <a:tr h="438912">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r>
              <a:tr h="438912">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DF0D5"/>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DF0D5"/>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DF0D5"/>
                    </a:solidFill>
                  </a:tcPr>
                </a:tc>
              </a:tr>
            </a:tbl>
          </a:graphicData>
        </a:graphic>
      </p:graphicFrame>
      <p:sp>
        <p:nvSpPr>
          <p:cNvPr id="8" name="Text 4"/>
          <p:cNvSpPr/>
          <p:nvPr/>
        </p:nvSpPr>
        <p:spPr>
          <a:xfrm>
            <a:off x="640080" y="5029200"/>
            <a:ext cx="10972800" cy="640080"/>
          </a:xfrm>
          <a:prstGeom prst="rect">
            <a:avLst/>
          </a:prstGeom>
          <a:noFill/>
          <a:ln/>
        </p:spPr>
        <p:txBody>
          <a:bodyPr wrap="square" lIns="0" tIns="0" rIns="0" bIns="0" rtlCol="0" anchor="ctr"/>
          <a:lstStyle/>
          <a:p>
            <a:pPr algn="ctr" indent="0" marL="0">
              <a:buNone/>
            </a:pPr>
            <a:r>
              <a:rPr lang="en-US" sz="1600" b="1" dirty="0">
                <a:solidFill>
                  <a:srgbClr val="F4B740"/>
                </a:solidFill>
                <a:latin typeface="Calibri" pitchFamily="34" charset="0"/>
                <a:ea typeface="Calibri" pitchFamily="34" charset="-122"/>
                <a:cs typeface="Calibri" pitchFamily="34" charset="-120"/>
              </a:rPr>
              <a:t>Both true: OR says 1. XOR says 0. That single disagreement is about to matter enormously.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Remember binary addition?</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One column. Three cases. One of them overflows.</a:t>
            </a:r>
            <a:endParaRPr lang="en-US" sz="1700" dirty="0"/>
          </a:p>
        </p:txBody>
      </p:sp>
      <p:sp>
        <p:nvSpPr>
          <p:cNvPr id="4" name="Shape 2"/>
          <p:cNvSpPr/>
          <p:nvPr/>
        </p:nvSpPr>
        <p:spPr>
          <a:xfrm>
            <a:off x="822960" y="2103120"/>
            <a:ext cx="3291840" cy="2468880"/>
          </a:xfrm>
          <a:prstGeom prst="roundRect">
            <a:avLst>
              <a:gd name="adj" fmla="val 2963"/>
            </a:avLst>
          </a:prstGeom>
          <a:solidFill>
            <a:srgbClr val="13324F"/>
          </a:solidFill>
          <a:ln w="12700">
            <a:solidFill>
              <a:srgbClr val="13324F"/>
            </a:solidFill>
            <a:prstDash val="solid"/>
          </a:ln>
        </p:spPr>
      </p:sp>
      <p:sp>
        <p:nvSpPr>
          <p:cNvPr id="5" name="Text 3"/>
          <p:cNvSpPr/>
          <p:nvPr/>
        </p:nvSpPr>
        <p:spPr>
          <a:xfrm>
            <a:off x="822960" y="2212848"/>
            <a:ext cx="3291840" cy="1283818"/>
          </a:xfrm>
          <a:prstGeom prst="rect">
            <a:avLst/>
          </a:prstGeom>
          <a:noFill/>
          <a:ln/>
        </p:spPr>
        <p:txBody>
          <a:bodyPr wrap="square" lIns="0" tIns="0" rIns="0" bIns="0" rtlCol="0" anchor="ctr"/>
          <a:lstStyle/>
          <a:p>
            <a:pPr algn="ctr" indent="0" marL="0">
              <a:buNone/>
            </a:pPr>
            <a:r>
              <a:rPr lang="en-US" sz="3000" b="1" dirty="0">
                <a:solidFill>
                  <a:srgbClr val="FFFFFF"/>
                </a:solidFill>
                <a:latin typeface="Courier New" pitchFamily="34" charset="0"/>
                <a:ea typeface="Courier New" pitchFamily="34" charset="-122"/>
                <a:cs typeface="Courier New" pitchFamily="34" charset="-120"/>
              </a:rPr>
              <a:t>0+0 = 0</a:t>
            </a:r>
            <a:endParaRPr lang="en-US" sz="3000" dirty="0"/>
          </a:p>
        </p:txBody>
      </p:sp>
      <p:sp>
        <p:nvSpPr>
          <p:cNvPr id="6" name="Text 4"/>
          <p:cNvSpPr/>
          <p:nvPr/>
        </p:nvSpPr>
        <p:spPr>
          <a:xfrm>
            <a:off x="822960" y="4709160"/>
            <a:ext cx="3291840" cy="411480"/>
          </a:xfrm>
          <a:prstGeom prst="rect">
            <a:avLst/>
          </a:prstGeom>
          <a:noFill/>
          <a:ln/>
        </p:spPr>
        <p:txBody>
          <a:bodyPr wrap="square" lIns="0" tIns="0" rIns="0" bIns="0" rtlCol="0" anchor="ctr"/>
          <a:lstStyle/>
          <a:p>
            <a:pPr algn="ctr" indent="0" marL="0">
              <a:buNone/>
            </a:pPr>
            <a:r>
              <a:rPr lang="en-US" sz="1400" i="1" dirty="0">
                <a:solidFill>
                  <a:srgbClr val="5A6B7B"/>
                </a:solidFill>
                <a:latin typeface="Calibri" pitchFamily="34" charset="0"/>
                <a:ea typeface="Calibri" pitchFamily="34" charset="-122"/>
                <a:cs typeface="Calibri" pitchFamily="34" charset="-120"/>
              </a:rPr>
              <a:t>easy</a:t>
            </a:r>
            <a:endParaRPr lang="en-US" sz="1400" dirty="0"/>
          </a:p>
        </p:txBody>
      </p:sp>
      <p:sp>
        <p:nvSpPr>
          <p:cNvPr id="7" name="Shape 5"/>
          <p:cNvSpPr/>
          <p:nvPr/>
        </p:nvSpPr>
        <p:spPr>
          <a:xfrm>
            <a:off x="4526280" y="2103120"/>
            <a:ext cx="3291840" cy="2468880"/>
          </a:xfrm>
          <a:prstGeom prst="roundRect">
            <a:avLst>
              <a:gd name="adj" fmla="val 2963"/>
            </a:avLst>
          </a:prstGeom>
          <a:solidFill>
            <a:srgbClr val="13324F"/>
          </a:solidFill>
          <a:ln w="12700">
            <a:solidFill>
              <a:srgbClr val="13324F"/>
            </a:solidFill>
            <a:prstDash val="solid"/>
          </a:ln>
        </p:spPr>
      </p:sp>
      <p:sp>
        <p:nvSpPr>
          <p:cNvPr id="8" name="Text 6"/>
          <p:cNvSpPr/>
          <p:nvPr/>
        </p:nvSpPr>
        <p:spPr>
          <a:xfrm>
            <a:off x="4526280" y="2212848"/>
            <a:ext cx="3291840" cy="1283818"/>
          </a:xfrm>
          <a:prstGeom prst="rect">
            <a:avLst/>
          </a:prstGeom>
          <a:noFill/>
          <a:ln/>
        </p:spPr>
        <p:txBody>
          <a:bodyPr wrap="square" lIns="0" tIns="0" rIns="0" bIns="0" rtlCol="0" anchor="ctr"/>
          <a:lstStyle/>
          <a:p>
            <a:pPr algn="ctr" indent="0" marL="0">
              <a:buNone/>
            </a:pPr>
            <a:r>
              <a:rPr lang="en-US" sz="3000" b="1" dirty="0">
                <a:solidFill>
                  <a:srgbClr val="FFFFFF"/>
                </a:solidFill>
                <a:latin typeface="Courier New" pitchFamily="34" charset="0"/>
                <a:ea typeface="Courier New" pitchFamily="34" charset="-122"/>
                <a:cs typeface="Courier New" pitchFamily="34" charset="-120"/>
              </a:rPr>
              <a:t>0+1 = 1</a:t>
            </a:r>
            <a:endParaRPr lang="en-US" sz="3000" dirty="0"/>
          </a:p>
        </p:txBody>
      </p:sp>
      <p:sp>
        <p:nvSpPr>
          <p:cNvPr id="9" name="Text 7"/>
          <p:cNvSpPr/>
          <p:nvPr/>
        </p:nvSpPr>
        <p:spPr>
          <a:xfrm>
            <a:off x="4526280" y="4709160"/>
            <a:ext cx="3291840" cy="411480"/>
          </a:xfrm>
          <a:prstGeom prst="rect">
            <a:avLst/>
          </a:prstGeom>
          <a:noFill/>
          <a:ln/>
        </p:spPr>
        <p:txBody>
          <a:bodyPr wrap="square" lIns="0" tIns="0" rIns="0" bIns="0" rtlCol="0" anchor="ctr"/>
          <a:lstStyle/>
          <a:p>
            <a:pPr algn="ctr" indent="0" marL="0">
              <a:buNone/>
            </a:pPr>
            <a:r>
              <a:rPr lang="en-US" sz="1400" i="1" dirty="0">
                <a:solidFill>
                  <a:srgbClr val="5A6B7B"/>
                </a:solidFill>
                <a:latin typeface="Calibri" pitchFamily="34" charset="0"/>
                <a:ea typeface="Calibri" pitchFamily="34" charset="-122"/>
                <a:cs typeface="Calibri" pitchFamily="34" charset="-120"/>
              </a:rPr>
              <a:t>still easy</a:t>
            </a:r>
            <a:endParaRPr lang="en-US" sz="1400" dirty="0"/>
          </a:p>
        </p:txBody>
      </p:sp>
      <p:sp>
        <p:nvSpPr>
          <p:cNvPr id="10" name="Shape 8"/>
          <p:cNvSpPr/>
          <p:nvPr/>
        </p:nvSpPr>
        <p:spPr>
          <a:xfrm>
            <a:off x="8229600" y="2103120"/>
            <a:ext cx="3291840" cy="2468880"/>
          </a:xfrm>
          <a:prstGeom prst="roundRect">
            <a:avLst>
              <a:gd name="adj" fmla="val 2963"/>
            </a:avLst>
          </a:prstGeom>
          <a:solidFill>
            <a:srgbClr val="13324F"/>
          </a:solidFill>
          <a:ln w="12700">
            <a:solidFill>
              <a:srgbClr val="13324F"/>
            </a:solidFill>
            <a:prstDash val="solid"/>
          </a:ln>
        </p:spPr>
      </p:sp>
      <p:sp>
        <p:nvSpPr>
          <p:cNvPr id="11" name="Text 9"/>
          <p:cNvSpPr/>
          <p:nvPr/>
        </p:nvSpPr>
        <p:spPr>
          <a:xfrm>
            <a:off x="8229600" y="2212848"/>
            <a:ext cx="3291840" cy="1283818"/>
          </a:xfrm>
          <a:prstGeom prst="rect">
            <a:avLst/>
          </a:prstGeom>
          <a:noFill/>
          <a:ln/>
        </p:spPr>
        <p:txBody>
          <a:bodyPr wrap="square" lIns="0" tIns="0" rIns="0" bIns="0" rtlCol="0" anchor="ctr"/>
          <a:lstStyle/>
          <a:p>
            <a:pPr algn="ctr" indent="0" marL="0">
              <a:buNone/>
            </a:pPr>
            <a:r>
              <a:rPr lang="en-US" sz="3000" b="1" dirty="0">
                <a:solidFill>
                  <a:srgbClr val="F4B740"/>
                </a:solidFill>
                <a:latin typeface="Courier New" pitchFamily="34" charset="0"/>
                <a:ea typeface="Courier New" pitchFamily="34" charset="-122"/>
                <a:cs typeface="Courier New" pitchFamily="34" charset="-120"/>
              </a:rPr>
              <a:t>1+1 = 10</a:t>
            </a:r>
            <a:endParaRPr lang="en-US" sz="3000" dirty="0"/>
          </a:p>
        </p:txBody>
      </p:sp>
      <p:sp>
        <p:nvSpPr>
          <p:cNvPr id="12" name="Text 10"/>
          <p:cNvSpPr/>
          <p:nvPr/>
        </p:nvSpPr>
        <p:spPr>
          <a:xfrm>
            <a:off x="8229600" y="4709160"/>
            <a:ext cx="3291840" cy="411480"/>
          </a:xfrm>
          <a:prstGeom prst="rect">
            <a:avLst/>
          </a:prstGeom>
          <a:noFill/>
          <a:ln/>
        </p:spPr>
        <p:txBody>
          <a:bodyPr wrap="square" lIns="0" tIns="0" rIns="0" bIns="0" rtlCol="0" anchor="ctr"/>
          <a:lstStyle/>
          <a:p>
            <a:pPr algn="ctr" indent="0" marL="0">
              <a:buNone/>
            </a:pPr>
            <a:r>
              <a:rPr lang="en-US" sz="1400" i="1" dirty="0">
                <a:solidFill>
                  <a:srgbClr val="5A6B7B"/>
                </a:solidFill>
                <a:latin typeface="Calibri" pitchFamily="34" charset="0"/>
                <a:ea typeface="Calibri" pitchFamily="34" charset="-122"/>
                <a:cs typeface="Calibri" pitchFamily="34" charset="-120"/>
              </a:rPr>
              <a:t>zero, carry the one</a:t>
            </a:r>
            <a:endParaRPr lang="en-US" sz="1400" dirty="0"/>
          </a:p>
        </p:txBody>
      </p:sp>
      <p:sp>
        <p:nvSpPr>
          <p:cNvPr id="13" name="Text 11"/>
          <p:cNvSpPr/>
          <p:nvPr/>
        </p:nvSpPr>
        <p:spPr>
          <a:xfrm>
            <a:off x="640080" y="5394960"/>
            <a:ext cx="10972800" cy="640080"/>
          </a:xfrm>
          <a:prstGeom prst="rect">
            <a:avLst/>
          </a:prstGeom>
          <a:noFill/>
          <a:ln/>
        </p:spPr>
        <p:txBody>
          <a:bodyPr wrap="square" lIns="0" tIns="0" rIns="0" bIns="0" rtlCol="0" anchor="ctr"/>
          <a:lstStyle/>
          <a:p>
            <a:pPr algn="ctr" indent="0" marL="0">
              <a:buNone/>
            </a:pPr>
            <a:r>
              <a:rPr lang="en-US" sz="1600" b="1" dirty="0">
                <a:solidFill>
                  <a:srgbClr val="0A1F33"/>
                </a:solidFill>
                <a:latin typeface="Calibri" pitchFamily="34" charset="0"/>
                <a:ea typeface="Calibri" pitchFamily="34" charset="-122"/>
                <a:cs typeface="Calibri" pitchFamily="34" charset="-120"/>
              </a:rPr>
              <a:t>The answer has two parts: what stays in the column (SUM), and what leaves for the next one (CARRY).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half adder</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Two gates you already own, doing arithmetic.</a:t>
            </a:r>
            <a:endParaRPr lang="en-US" sz="1700" dirty="0"/>
          </a:p>
        </p:txBody>
      </p:sp>
      <p:sp>
        <p:nvSpPr>
          <p:cNvPr id="4" name="Shape 2"/>
          <p:cNvSpPr/>
          <p:nvPr/>
        </p:nvSpPr>
        <p:spPr>
          <a:xfrm>
            <a:off x="640080" y="2057400"/>
            <a:ext cx="5394960" cy="1463040"/>
          </a:xfrm>
          <a:prstGeom prst="roundRect">
            <a:avLst>
              <a:gd name="adj" fmla="val 5000"/>
            </a:avLst>
          </a:prstGeom>
          <a:solidFill>
            <a:srgbClr val="FFFFFF"/>
          </a:solidFill>
          <a:ln w="12700">
            <a:solidFill>
              <a:srgbClr val="3DDC84"/>
            </a:solidFill>
            <a:prstDash val="solid"/>
          </a:ln>
        </p:spPr>
      </p:sp>
      <p:sp>
        <p:nvSpPr>
          <p:cNvPr id="5" name="Text 3"/>
          <p:cNvSpPr/>
          <p:nvPr/>
        </p:nvSpPr>
        <p:spPr>
          <a:xfrm>
            <a:off x="914400" y="2057400"/>
            <a:ext cx="4846320" cy="914400"/>
          </a:xfrm>
          <a:prstGeom prst="rect">
            <a:avLst/>
          </a:prstGeom>
          <a:noFill/>
          <a:ln/>
        </p:spPr>
        <p:txBody>
          <a:bodyPr wrap="square" lIns="0" tIns="0" rIns="0" bIns="0" rtlCol="0" anchor="ctr"/>
          <a:lstStyle/>
          <a:p>
            <a:pPr indent="0" marL="0">
              <a:buNone/>
            </a:pPr>
            <a:r>
              <a:rPr lang="en-US" sz="2000" b="1" dirty="0">
                <a:solidFill>
                  <a:srgbClr val="0A1F33"/>
                </a:solidFill>
                <a:latin typeface="Courier New" pitchFamily="34" charset="0"/>
                <a:ea typeface="Courier New" pitchFamily="34" charset="-122"/>
                <a:cs typeface="Courier New" pitchFamily="34" charset="-120"/>
              </a:rPr>
              <a:t>SUM</a:t>
            </a:r>
            <a:pPr indent="0" marL="0">
              <a:buNone/>
            </a:pPr>
            <a:r>
              <a:rPr lang="en-US" sz="2000" dirty="0">
                <a:solidFill>
                  <a:srgbClr val="5A6B7B"/>
                </a:solidFill>
                <a:latin typeface="Courier New" pitchFamily="34" charset="0"/>
                <a:ea typeface="Courier New" pitchFamily="34" charset="-122"/>
                <a:cs typeface="Courier New" pitchFamily="34" charset="-120"/>
              </a:rPr>
              <a:t>  =  A ⊕ B    </a:t>
            </a:r>
            <a:pPr indent="0" marL="0">
              <a:buNone/>
            </a:pPr>
            <a:r>
              <a:rPr lang="en-US" sz="2000" b="1" dirty="0">
                <a:solidFill>
                  <a:srgbClr val="3DDC84"/>
                </a:solidFill>
                <a:latin typeface="Courier New" pitchFamily="34" charset="0"/>
                <a:ea typeface="Courier New" pitchFamily="34" charset="-122"/>
                <a:cs typeface="Courier New" pitchFamily="34" charset="-120"/>
              </a:rPr>
              <a:t>(XOR)</a:t>
            </a:r>
            <a:endParaRPr lang="en-US" sz="2000" dirty="0"/>
          </a:p>
        </p:txBody>
      </p:sp>
      <p:sp>
        <p:nvSpPr>
          <p:cNvPr id="6" name="Text 4"/>
          <p:cNvSpPr/>
          <p:nvPr/>
        </p:nvSpPr>
        <p:spPr>
          <a:xfrm>
            <a:off x="914400" y="2971800"/>
            <a:ext cx="4846320" cy="411480"/>
          </a:xfrm>
          <a:prstGeom prst="rect">
            <a:avLst/>
          </a:prstGeom>
          <a:noFill/>
          <a:ln/>
        </p:spPr>
        <p:txBody>
          <a:bodyPr wrap="square" lIns="0" tIns="0" rIns="0" bIns="0" rtlCol="0" anchor="ctr"/>
          <a:lstStyle/>
          <a:p>
            <a:pPr indent="0" marL="0">
              <a:buNone/>
            </a:pPr>
            <a:r>
              <a:rPr lang="en-US" sz="1250" dirty="0">
                <a:solidFill>
                  <a:srgbClr val="5A6B7B"/>
                </a:solidFill>
                <a:latin typeface="Calibri" pitchFamily="34" charset="0"/>
                <a:ea typeface="Calibri" pitchFamily="34" charset="-122"/>
                <a:cs typeface="Calibri" pitchFamily="34" charset="-120"/>
              </a:rPr>
              <a:t>writes the digit that stays in this column</a:t>
            </a:r>
            <a:endParaRPr lang="en-US" sz="1250" dirty="0"/>
          </a:p>
        </p:txBody>
      </p:sp>
      <p:sp>
        <p:nvSpPr>
          <p:cNvPr id="7" name="Shape 5"/>
          <p:cNvSpPr/>
          <p:nvPr/>
        </p:nvSpPr>
        <p:spPr>
          <a:xfrm>
            <a:off x="640080" y="3794760"/>
            <a:ext cx="5394960" cy="1463040"/>
          </a:xfrm>
          <a:prstGeom prst="roundRect">
            <a:avLst>
              <a:gd name="adj" fmla="val 5000"/>
            </a:avLst>
          </a:prstGeom>
          <a:solidFill>
            <a:srgbClr val="FFFFFF"/>
          </a:solidFill>
          <a:ln w="12700">
            <a:solidFill>
              <a:srgbClr val="C7D2DC"/>
            </a:solidFill>
            <a:prstDash val="solid"/>
          </a:ln>
        </p:spPr>
      </p:sp>
      <p:sp>
        <p:nvSpPr>
          <p:cNvPr id="8" name="Text 6"/>
          <p:cNvSpPr/>
          <p:nvPr/>
        </p:nvSpPr>
        <p:spPr>
          <a:xfrm>
            <a:off x="914400" y="3794760"/>
            <a:ext cx="4846320" cy="914400"/>
          </a:xfrm>
          <a:prstGeom prst="rect">
            <a:avLst/>
          </a:prstGeom>
          <a:noFill/>
          <a:ln/>
        </p:spPr>
        <p:txBody>
          <a:bodyPr wrap="square" lIns="0" tIns="0" rIns="0" bIns="0" rtlCol="0" anchor="ctr"/>
          <a:lstStyle/>
          <a:p>
            <a:pPr indent="0" marL="0">
              <a:buNone/>
            </a:pPr>
            <a:r>
              <a:rPr lang="en-US" sz="2000" b="1" dirty="0">
                <a:solidFill>
                  <a:srgbClr val="0A1F33"/>
                </a:solidFill>
                <a:latin typeface="Courier New" pitchFamily="34" charset="0"/>
                <a:ea typeface="Courier New" pitchFamily="34" charset="-122"/>
                <a:cs typeface="Courier New" pitchFamily="34" charset="-120"/>
              </a:rPr>
              <a:t>CARRY</a:t>
            </a:r>
            <a:pPr indent="0" marL="0">
              <a:buNone/>
            </a:pPr>
            <a:r>
              <a:rPr lang="en-US" sz="2000" dirty="0">
                <a:solidFill>
                  <a:srgbClr val="5A6B7B"/>
                </a:solidFill>
                <a:latin typeface="Courier New" pitchFamily="34" charset="0"/>
                <a:ea typeface="Courier New" pitchFamily="34" charset="-122"/>
                <a:cs typeface="Courier New" pitchFamily="34" charset="-120"/>
              </a:rPr>
              <a:t>  =  A · B    </a:t>
            </a:r>
            <a:pPr indent="0" marL="0">
              <a:buNone/>
            </a:pPr>
            <a:r>
              <a:rPr lang="en-US" sz="2000" b="1" dirty="0">
                <a:solidFill>
                  <a:srgbClr val="3DDC84"/>
                </a:solidFill>
                <a:latin typeface="Courier New" pitchFamily="34" charset="0"/>
                <a:ea typeface="Courier New" pitchFamily="34" charset="-122"/>
                <a:cs typeface="Courier New" pitchFamily="34" charset="-120"/>
              </a:rPr>
              <a:t>(AND)</a:t>
            </a:r>
            <a:endParaRPr lang="en-US" sz="2000" dirty="0"/>
          </a:p>
        </p:txBody>
      </p:sp>
      <p:sp>
        <p:nvSpPr>
          <p:cNvPr id="9" name="Text 7"/>
          <p:cNvSpPr/>
          <p:nvPr/>
        </p:nvSpPr>
        <p:spPr>
          <a:xfrm>
            <a:off x="914400" y="4709160"/>
            <a:ext cx="4846320" cy="411480"/>
          </a:xfrm>
          <a:prstGeom prst="rect">
            <a:avLst/>
          </a:prstGeom>
          <a:noFill/>
          <a:ln/>
        </p:spPr>
        <p:txBody>
          <a:bodyPr wrap="square" lIns="0" tIns="0" rIns="0" bIns="0" rtlCol="0" anchor="ctr"/>
          <a:lstStyle/>
          <a:p>
            <a:pPr indent="0" marL="0">
              <a:buNone/>
            </a:pPr>
            <a:r>
              <a:rPr lang="en-US" sz="1250" dirty="0">
                <a:solidFill>
                  <a:srgbClr val="5A6B7B"/>
                </a:solidFill>
                <a:latin typeface="Calibri" pitchFamily="34" charset="0"/>
                <a:ea typeface="Calibri" pitchFamily="34" charset="-122"/>
                <a:cs typeface="Calibri" pitchFamily="34" charset="-120"/>
              </a:rPr>
              <a:t>raises a 1 only for the 1+1 case — the overflow</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766560" y="2194560"/>
          <a:ext cx="4754880" cy="914400"/>
        </p:xfrm>
        <a:graphic>
          <a:graphicData uri="http://schemas.openxmlformats.org/drawingml/2006/table">
            <a:tbl>
              <a:tblPr/>
              <a:tblGrid>
                <a:gridCol w="1188720"/>
                <a:gridCol w="1188720"/>
                <a:gridCol w="1188720"/>
                <a:gridCol w="1188720"/>
              </a:tblGrid>
              <a:tr h="43891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SUM</a:t>
                      </a:r>
                      <a:endParaRPr lang="en-US" sz="14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CARRY</a:t>
                      </a:r>
                      <a:endParaRPr lang="en-US" sz="1400" dirty="0">
                        <a:latin typeface="Calibri" charset="0"/>
                        <a:ea typeface="Calibri" charset="0"/>
                        <a:cs typeface="Calibri"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0A1F33"/>
                    </a:solidFill>
                  </a:tcPr>
                </a:tc>
              </a:tr>
              <a:tr h="438912">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r>
              <a:tr h="438912">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r>
              <a:tr h="438912">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FFFFF"/>
                    </a:solidFill>
                  </a:tcPr>
                </a:tc>
              </a:tr>
              <a:tr h="438912">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DF0D5"/>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DF0D5"/>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DF0D5"/>
                    </a:solidFill>
                  </a:tcPr>
                </a:tc>
                <a:tc>
                  <a:txBody>
                    <a:bodyPr/>
                    <a:lstStyle/>
                    <a:p>
                      <a:pPr algn="ctr" indent="0" marL="0">
                        <a:buNone/>
                      </a:pPr>
                      <a:r>
                        <a:rPr lang="en-US" sz="1500" b="1" dirty="0">
                          <a:solidFill>
                            <a:srgbClr val="0A1F33"/>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91440" marR="91440" marT="45720" marB="45720" anchor="ctr">
                    <a:lnL w="12700" cap="flat" cmpd="sng" algn="ctr">
                      <a:solidFill>
                        <a:srgbClr val="C7D2DC"/>
                      </a:solidFill>
                      <a:prstDash val="solid"/>
                      <a:round/>
                      <a:headEnd type="none" w="med" len="med"/>
                      <a:tailEnd type="none" w="med" len="med"/>
                    </a:lnL>
                    <a:lnR w="12700" cap="flat" cmpd="sng" algn="ctr">
                      <a:solidFill>
                        <a:srgbClr val="C7D2DC"/>
                      </a:solidFill>
                      <a:prstDash val="solid"/>
                      <a:round/>
                      <a:headEnd type="none" w="med" len="med"/>
                      <a:tailEnd type="none" w="med" len="med"/>
                    </a:lnR>
                    <a:lnT w="12700" cap="flat" cmpd="sng" algn="ctr">
                      <a:solidFill>
                        <a:srgbClr val="C7D2DC"/>
                      </a:solidFill>
                      <a:prstDash val="solid"/>
                      <a:round/>
                      <a:headEnd type="none" w="med" len="med"/>
                      <a:tailEnd type="none" w="med" len="med"/>
                    </a:lnT>
                    <a:lnB w="12700" cap="flat" cmpd="sng" algn="ctr">
                      <a:solidFill>
                        <a:srgbClr val="C7D2DC"/>
                      </a:solidFill>
                      <a:prstDash val="solid"/>
                      <a:round/>
                      <a:headEnd type="none" w="med" len="med"/>
                      <a:tailEnd type="none" w="med" len="med"/>
                    </a:lnB>
                    <a:solidFill>
                      <a:srgbClr val="FDF0D5"/>
                    </a:solidFill>
                  </a:tcPr>
                </a:tc>
              </a:tr>
            </a:tbl>
          </a:graphicData>
        </a:graphic>
      </p:graphicFrame>
      <p:sp>
        <p:nvSpPr>
          <p:cNvPr id="11" name="Text 8"/>
          <p:cNvSpPr/>
          <p:nvPr/>
        </p:nvSpPr>
        <p:spPr>
          <a:xfrm>
            <a:off x="6766560" y="4617720"/>
            <a:ext cx="4754880" cy="457200"/>
          </a:xfrm>
          <a:prstGeom prst="rect">
            <a:avLst/>
          </a:prstGeom>
          <a:noFill/>
          <a:ln/>
        </p:spPr>
        <p:txBody>
          <a:bodyPr wrap="square" lIns="0" tIns="0" rIns="0" bIns="0" rtlCol="0" anchor="ctr"/>
          <a:lstStyle/>
          <a:p>
            <a:pPr indent="0" marL="0">
              <a:buNone/>
            </a:pPr>
            <a:r>
              <a:rPr lang="en-US" sz="1350" i="1" dirty="0">
                <a:solidFill>
                  <a:srgbClr val="5A6B7B"/>
                </a:solidFill>
                <a:latin typeface="Calibri" pitchFamily="34" charset="0"/>
                <a:ea typeface="Calibri" pitchFamily="34" charset="-122"/>
                <a:cs typeface="Calibri" pitchFamily="34" charset="-120"/>
              </a:rPr>
              <a:t>Check the amber row against 1+1=10.</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Why only “half” an adder?</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It adds two bits — but a column in the middle of a number gets three.</a:t>
            </a:r>
            <a:endParaRPr lang="en-US" sz="1700" dirty="0"/>
          </a:p>
        </p:txBody>
      </p:sp>
      <p:sp>
        <p:nvSpPr>
          <p:cNvPr id="4" name="Text 2"/>
          <p:cNvSpPr/>
          <p:nvPr/>
        </p:nvSpPr>
        <p:spPr>
          <a:xfrm>
            <a:off x="548640" y="1920240"/>
            <a:ext cx="6035040" cy="1737360"/>
          </a:xfrm>
          <a:prstGeom prst="rect">
            <a:avLst/>
          </a:prstGeom>
          <a:noFill/>
          <a:ln/>
        </p:spPr>
        <p:txBody>
          <a:bodyPr wrap="square" lIns="0" tIns="0" rIns="0" bIns="0" rtlCol="0" anchor="ctr"/>
          <a:lstStyle/>
          <a:p>
            <a:pPr indent="0" marL="0">
              <a:buNone/>
            </a:pPr>
            <a:r>
              <a:rPr lang="en-US" sz="1600" dirty="0">
                <a:solidFill>
                  <a:srgbClr val="0A1F33"/>
                </a:solidFill>
                <a:latin typeface="Calibri" pitchFamily="34" charset="0"/>
                <a:ea typeface="Calibri" pitchFamily="34" charset="-122"/>
                <a:cs typeface="Calibri" pitchFamily="34" charset="-120"/>
              </a:rPr>
              <a:t>Add 19 + 27 by hand. In the tens column you added three things: 1, 2, and the carry that arrived from 9+7. Every column except the first must accept a carry in.</a:t>
            </a:r>
            <a:endParaRPr lang="en-US" sz="1600" dirty="0"/>
          </a:p>
        </p:txBody>
      </p:sp>
      <p:sp>
        <p:nvSpPr>
          <p:cNvPr id="5" name="Text 3"/>
          <p:cNvSpPr/>
          <p:nvPr/>
        </p:nvSpPr>
        <p:spPr>
          <a:xfrm>
            <a:off x="548640" y="3840480"/>
            <a:ext cx="6035040" cy="100584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The half adder has no third input. It can start an addition, but it can’t continue one.</a:t>
            </a:r>
            <a:endParaRPr lang="en-US" sz="1700" dirty="0"/>
          </a:p>
        </p:txBody>
      </p:sp>
      <p:sp>
        <p:nvSpPr>
          <p:cNvPr id="6" name="Shape 4"/>
          <p:cNvSpPr/>
          <p:nvPr/>
        </p:nvSpPr>
        <p:spPr>
          <a:xfrm>
            <a:off x="7040880" y="2103120"/>
            <a:ext cx="4572000" cy="3291840"/>
          </a:xfrm>
          <a:prstGeom prst="roundRect">
            <a:avLst>
              <a:gd name="adj" fmla="val 2222"/>
            </a:avLst>
          </a:prstGeom>
          <a:solidFill>
            <a:srgbClr val="13324F"/>
          </a:solidFill>
          <a:ln/>
        </p:spPr>
      </p:sp>
      <p:sp>
        <p:nvSpPr>
          <p:cNvPr id="7" name="Text 5"/>
          <p:cNvSpPr/>
          <p:nvPr/>
        </p:nvSpPr>
        <p:spPr>
          <a:xfrm>
            <a:off x="7315200" y="2377440"/>
            <a:ext cx="4023360" cy="731520"/>
          </a:xfrm>
          <a:prstGeom prst="rect">
            <a:avLst/>
          </a:prstGeom>
          <a:noFill/>
          <a:ln/>
        </p:spPr>
        <p:txBody>
          <a:bodyPr wrap="square" lIns="0" tIns="0" rIns="0" bIns="0" rtlCol="0" anchor="ctr"/>
          <a:lstStyle/>
          <a:p>
            <a:pPr indent="0" marL="0">
              <a:buNone/>
            </a:pPr>
            <a:r>
              <a:rPr lang="en-US" sz="3400" b="1" dirty="0">
                <a:solidFill>
                  <a:srgbClr val="FFFFFF"/>
                </a:solidFill>
                <a:latin typeface="Courier New" pitchFamily="34" charset="0"/>
                <a:ea typeface="Courier New" pitchFamily="34" charset="-122"/>
                <a:cs typeface="Courier New" pitchFamily="34" charset="-120"/>
              </a:rPr>
              <a:t>HA</a:t>
            </a:r>
            <a:endParaRPr lang="en-US" sz="3400" dirty="0"/>
          </a:p>
        </p:txBody>
      </p:sp>
      <p:sp>
        <p:nvSpPr>
          <p:cNvPr id="8" name="Text 6"/>
          <p:cNvSpPr/>
          <p:nvPr/>
        </p:nvSpPr>
        <p:spPr>
          <a:xfrm>
            <a:off x="7315200" y="3291840"/>
            <a:ext cx="4023360" cy="1737360"/>
          </a:xfrm>
          <a:prstGeom prst="rect">
            <a:avLst/>
          </a:prstGeom>
          <a:noFill/>
          <a:ln/>
        </p:spPr>
        <p:txBody>
          <a:bodyPr wrap="square" lIns="0" tIns="0" rIns="0" bIns="0" rtlCol="0" anchor="ctr"/>
          <a:lstStyle/>
          <a:p>
            <a:pPr indent="0" marL="0">
              <a:lnSpc>
                <a:spcPts val="3400"/>
              </a:lnSpc>
              <a:buNone/>
            </a:pPr>
            <a:r>
              <a:rPr lang="en-US" sz="1700" b="1" dirty="0">
                <a:solidFill>
                  <a:srgbClr val="C7D2DC"/>
                </a:solidFill>
                <a:latin typeface="Courier New" pitchFamily="34" charset="0"/>
                <a:ea typeface="Courier New" pitchFamily="34" charset="-122"/>
                <a:cs typeface="Courier New" pitchFamily="34" charset="-120"/>
              </a:rPr>
              <a:t>in:   A, B</a:t>
            </a:r>
            <a:endParaRPr lang="en-US" sz="1700" dirty="0"/>
          </a:p>
          <a:p>
            <a:pPr indent="0" marL="0">
              <a:lnSpc>
                <a:spcPts val="3400"/>
              </a:lnSpc>
              <a:buNone/>
            </a:pPr>
            <a:r>
              <a:rPr lang="en-US" sz="1700" b="1" dirty="0">
                <a:solidFill>
                  <a:srgbClr val="C7D2DC"/>
                </a:solidFill>
                <a:latin typeface="Courier New" pitchFamily="34" charset="0"/>
                <a:ea typeface="Courier New" pitchFamily="34" charset="-122"/>
                <a:cs typeface="Courier New" pitchFamily="34" charset="-120"/>
              </a:rPr>
              <a:t>out:  SUM, CARRY</a:t>
            </a:r>
            <a:endParaRPr lang="en-US" sz="1700" dirty="0"/>
          </a:p>
          <a:p>
            <a:pPr indent="0" marL="0">
              <a:lnSpc>
                <a:spcPts val="3400"/>
              </a:lnSpc>
              <a:buNone/>
            </a:pPr>
            <a:r>
              <a:rPr lang="en-US" sz="1700" b="1" dirty="0">
                <a:solidFill>
                  <a:srgbClr val="C7D2DC"/>
                </a:solidFill>
                <a:latin typeface="Courier New" pitchFamily="34" charset="0"/>
                <a:ea typeface="Courier New" pitchFamily="34" charset="-122"/>
                <a:cs typeface="Courier New" pitchFamily="34" charset="-120"/>
              </a:rPr>
              <a:t>missing:  carry IN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731520" y="100584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Your mission</a:t>
            </a:r>
            <a:endParaRPr lang="en-US" sz="4000" dirty="0"/>
          </a:p>
        </p:txBody>
      </p:sp>
      <p:sp>
        <p:nvSpPr>
          <p:cNvPr id="3" name="Shape 1"/>
          <p:cNvSpPr/>
          <p:nvPr/>
        </p:nvSpPr>
        <p:spPr>
          <a:xfrm>
            <a:off x="731520" y="2148840"/>
            <a:ext cx="502920" cy="502920"/>
          </a:xfrm>
          <a:prstGeom prst="roundRect">
            <a:avLst>
              <a:gd name="adj" fmla="val 10909"/>
            </a:avLst>
          </a:prstGeom>
          <a:solidFill>
            <a:srgbClr val="3DDC84"/>
          </a:solidFill>
          <a:ln/>
        </p:spPr>
      </p:sp>
      <p:sp>
        <p:nvSpPr>
          <p:cNvPr id="4" name="Text 2"/>
          <p:cNvSpPr/>
          <p:nvPr/>
        </p:nvSpPr>
        <p:spPr>
          <a:xfrm>
            <a:off x="731520" y="214884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1</a:t>
            </a:r>
            <a:endParaRPr lang="en-US" sz="2000" dirty="0"/>
          </a:p>
        </p:txBody>
      </p:sp>
      <p:sp>
        <p:nvSpPr>
          <p:cNvPr id="5" name="Text 3"/>
          <p:cNvSpPr/>
          <p:nvPr/>
        </p:nvSpPr>
        <p:spPr>
          <a:xfrm>
            <a:off x="1463040" y="212140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Predict the XOR truth table in your notebook, then build MyXOR from your own NOT, AND, and OR gates.</a:t>
            </a:r>
            <a:endParaRPr lang="en-US" sz="1600" dirty="0"/>
          </a:p>
        </p:txBody>
      </p:sp>
      <p:sp>
        <p:nvSpPr>
          <p:cNvPr id="6" name="Shape 4"/>
          <p:cNvSpPr/>
          <p:nvPr/>
        </p:nvSpPr>
        <p:spPr>
          <a:xfrm>
            <a:off x="731520" y="3063240"/>
            <a:ext cx="502920" cy="502920"/>
          </a:xfrm>
          <a:prstGeom prst="roundRect">
            <a:avLst>
              <a:gd name="adj" fmla="val 10909"/>
            </a:avLst>
          </a:prstGeom>
          <a:solidFill>
            <a:srgbClr val="3DDC84"/>
          </a:solidFill>
          <a:ln/>
        </p:spPr>
      </p:sp>
      <p:sp>
        <p:nvSpPr>
          <p:cNvPr id="7" name="Text 5"/>
          <p:cNvSpPr/>
          <p:nvPr/>
        </p:nvSpPr>
        <p:spPr>
          <a:xfrm>
            <a:off x="731520" y="306324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2</a:t>
            </a:r>
            <a:endParaRPr lang="en-US" sz="2000" dirty="0"/>
          </a:p>
        </p:txBody>
      </p:sp>
      <p:sp>
        <p:nvSpPr>
          <p:cNvPr id="8" name="Text 6"/>
          <p:cNvSpPr/>
          <p:nvPr/>
        </p:nvSpPr>
        <p:spPr>
          <a:xfrm>
            <a:off x="1463040" y="303580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Build HA in two passes: wire SUM and test it, then add CARRY and test again.</a:t>
            </a:r>
            <a:endParaRPr lang="en-US" sz="1600" dirty="0"/>
          </a:p>
        </p:txBody>
      </p:sp>
      <p:sp>
        <p:nvSpPr>
          <p:cNvPr id="9" name="Shape 7"/>
          <p:cNvSpPr/>
          <p:nvPr/>
        </p:nvSpPr>
        <p:spPr>
          <a:xfrm>
            <a:off x="731520" y="3977640"/>
            <a:ext cx="502920" cy="502920"/>
          </a:xfrm>
          <a:prstGeom prst="roundRect">
            <a:avLst>
              <a:gd name="adj" fmla="val 10909"/>
            </a:avLst>
          </a:prstGeom>
          <a:solidFill>
            <a:srgbClr val="3DDC84"/>
          </a:solidFill>
          <a:ln/>
        </p:spPr>
      </p:sp>
      <p:sp>
        <p:nvSpPr>
          <p:cNvPr id="10" name="Text 8"/>
          <p:cNvSpPr/>
          <p:nvPr/>
        </p:nvSpPr>
        <p:spPr>
          <a:xfrm>
            <a:off x="731520" y="397764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3</a:t>
            </a:r>
            <a:endParaRPr lang="en-US" sz="2000" dirty="0"/>
          </a:p>
        </p:txBody>
      </p:sp>
      <p:sp>
        <p:nvSpPr>
          <p:cNvPr id="11" name="Text 9"/>
          <p:cNvSpPr/>
          <p:nvPr/>
        </p:nvSpPr>
        <p:spPr>
          <a:xfrm>
            <a:off x="1463040" y="395020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Verify every row — all four combinations, both outputs. The 1+1 row is where impostors get caught.</a:t>
            </a:r>
            <a:endParaRPr lang="en-US" sz="1600" dirty="0"/>
          </a:p>
        </p:txBody>
      </p:sp>
      <p:sp>
        <p:nvSpPr>
          <p:cNvPr id="12" name="Text 10"/>
          <p:cNvSpPr/>
          <p:nvPr/>
        </p:nvSpPr>
        <p:spPr>
          <a:xfrm>
            <a:off x="0" y="6263640"/>
            <a:ext cx="12191695" cy="411480"/>
          </a:xfrm>
          <a:prstGeom prst="rect">
            <a:avLst/>
          </a:prstGeom>
          <a:noFill/>
          <a:ln/>
        </p:spPr>
        <p:txBody>
          <a:bodyPr wrap="square" lIns="0" tIns="0" rIns="0" bIns="0" rtlCol="0" anchor="ctr"/>
          <a:lstStyle/>
          <a:p>
            <a:pPr algn="ctr" indent="0" marL="0">
              <a:buNone/>
            </a:pPr>
            <a:r>
              <a:rPr lang="en-US" sz="1500" b="1" dirty="0">
                <a:solidFill>
                  <a:srgbClr val="F4B740"/>
                </a:solidFill>
                <a:latin typeface="Calibri" pitchFamily="34" charset="0"/>
                <a:ea typeface="Calibri" pitchFamily="34" charset="-122"/>
                <a:cs typeface="Calibri" pitchFamily="34" charset="-120"/>
              </a:rPr>
              <a:t>Next: the full adder — and four of them become a computer.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2026-08-17T04:27:38Z</dcterms:created>
  <dcterms:modified xsi:type="dcterms:W3CDTF">2026-08-17T04:27:38Z</dcterms:modified>
</cp:coreProperties>
</file>