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you've been hired to design the lock for a high-security door. Two switches, one light, and a rule that decides who gets in. By the end of class students will know what AND and OR gates do, and in lab they'll build both as electronic door locks in Antares. Bridge from last lesson: we can COUNT with two symbols; today we start DECIDING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both rules before naming any gate. Ask: bank vault — one key or two? Missile launch consoles famously take two simultaneous keys. Then the punchline: the rule isn't a policy in a binder, it's wiring. These two rules have names, and they're the first two logic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aloud row by row — model the habit of treating a truth table as the complete story. Highlighted row: both on, door opens. Series wiring is the physical implementation; don't give away the lab by drawing it, but 'in a row' is a fair nudge. The A·B notation ties to multiplication: anything times zero is zero. Ask: which single switch can open this door?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AND: three highlighted rows now. The 1+1=1 point matters — next week XOR will disagree with OR on exactly that row, so plant the seed: 'notice OR says 1 when BOTH are on. Keep that row in mind.' Ask: which lock is more secure? Which is more convenient? Who should win, and who decides? (The engineer, on requirements — not the wiring's mood.)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truth tables at all: they're the engineer's contract. Ask 'how many rows for two inputs — and why exactly four?' Then the callback: the A/B columns count 00, 01, 10, 11 — binary from last lesson. Three inputs would be 8 rows; that shows up in the final lab of the unit. Habit to sell: fill rows in counting order, predict BEFORE simulating.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this slide with the live two-minute speed-run: new circuit, drop Power + Real Switch + LED, wire, simulate, flip. Narrate misclicks cheerfully — the message is that the tool is approachable and errors in simulation are free. Then hands off: the lab doc has the component lists and the naming (MyAND, MyOR).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minutes, individually, then compare with a neighbor. The disagreement question is the sharper one: AND and OR differ only in the mixed rows. Reveal or cover the small answer line as you prefer. Then release to lab —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deliverables: two working circuits, two screenshots, two truth tables in the notebook. Rubric is printed at the bottom of the lab — a 4 means exact behavior, labels, tidy wiring, correct tables. Tease next lesson: transistors, the switch that electricity flips.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A  B  →  LOCK</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4000" b="1" dirty="0">
                <a:solidFill>
                  <a:srgbClr val="5A6B7B"/>
                </a:solidFill>
                <a:latin typeface="Courier New" pitchFamily="34" charset="0"/>
                <a:ea typeface="Courier New" pitchFamily="34" charset="-122"/>
                <a:cs typeface="Courier New" pitchFamily="34" charset="-120"/>
              </a:rPr>
              <a:t>AND</a:t>
            </a:r>
            <a:pPr algn="ctr" indent="0" marL="0">
              <a:buNone/>
            </a:pPr>
            <a:r>
              <a:rPr lang="en-US" sz="4000" b="1" dirty="0">
                <a:solidFill>
                  <a:srgbClr val="13324F"/>
                </a:solidFill>
                <a:latin typeface="Courier New" pitchFamily="34" charset="0"/>
                <a:ea typeface="Courier New" pitchFamily="34" charset="-122"/>
                <a:cs typeface="Courier New" pitchFamily="34" charset="-120"/>
              </a:rPr>
              <a:t>   ·   </a:t>
            </a:r>
            <a:pPr algn="ctr" indent="0" marL="0">
              <a:buNone/>
            </a:pPr>
            <a:r>
              <a:rPr lang="en-US" sz="4000" b="1" dirty="0">
                <a:solidFill>
                  <a:srgbClr val="3DDC84"/>
                </a:solidFill>
                <a:latin typeface="Courier New" pitchFamily="34" charset="0"/>
                <a:ea typeface="Courier New" pitchFamily="34" charset="-122"/>
                <a:cs typeface="Courier New" pitchFamily="34" charset="-120"/>
              </a:rPr>
              <a:t>OR</a:t>
            </a:r>
            <a:endParaRPr lang="en-US" sz="40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Logic Gates</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Making decisions with electricity</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High School Computer Science  •  Digital Logic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design problem: a two-key door</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switches, one electric lock. You write the rule.</a:t>
            </a:r>
            <a:endParaRPr lang="en-US" sz="1700" dirty="0"/>
          </a:p>
        </p:txBody>
      </p:sp>
      <p:sp>
        <p:nvSpPr>
          <p:cNvPr id="4" name="Text 2"/>
          <p:cNvSpPr/>
          <p:nvPr/>
        </p:nvSpPr>
        <p:spPr>
          <a:xfrm>
            <a:off x="548640" y="1783080"/>
            <a:ext cx="5852160" cy="1554480"/>
          </a:xfrm>
          <a:prstGeom prst="rect">
            <a:avLst/>
          </a:prstGeom>
          <a:noFill/>
          <a:ln/>
        </p:spPr>
        <p:txBody>
          <a:bodyPr wrap="square" lIns="0" tIns="0" rIns="0" bIns="0" rtlCol="0" anchor="ctr"/>
          <a:lstStyle/>
          <a:p>
            <a:pPr indent="0" marL="0">
              <a:buNone/>
            </a:pPr>
            <a:r>
              <a:rPr lang="en-US" sz="1600" dirty="0">
                <a:solidFill>
                  <a:srgbClr val="0A1F33"/>
                </a:solidFill>
                <a:latin typeface="Calibri" pitchFamily="34" charset="0"/>
                <a:ea typeface="Calibri" pitchFamily="34" charset="-122"/>
                <a:cs typeface="Calibri" pitchFamily="34" charset="-120"/>
              </a:rPr>
              <a:t>The lock opens when voltage reaches it — shown by a lit LED. Each key turns one switch. The wiring decides what combination of keys opens the door.</a:t>
            </a:r>
            <a:endParaRPr lang="en-US" sz="1600" dirty="0"/>
          </a:p>
        </p:txBody>
      </p:sp>
      <p:sp>
        <p:nvSpPr>
          <p:cNvPr id="5" name="Text 3"/>
          <p:cNvSpPr/>
          <p:nvPr/>
        </p:nvSpPr>
        <p:spPr>
          <a:xfrm>
            <a:off x="548640" y="3657600"/>
            <a:ext cx="5669280" cy="1005840"/>
          </a:xfrm>
          <a:prstGeom prst="rect">
            <a:avLst/>
          </a:prstGeom>
          <a:noFill/>
          <a:ln/>
        </p:spPr>
        <p:txBody>
          <a:bodyPr wrap="square" lIns="0" tIns="0" rIns="0" bIns="0" rtlCol="0" anchor="ctr"/>
          <a:lstStyle/>
          <a:p>
            <a:pPr indent="0" marL="0">
              <a:buNone/>
            </a:pPr>
            <a:r>
              <a:rPr lang="en-US" sz="1800" b="1" i="1" dirty="0">
                <a:solidFill>
                  <a:srgbClr val="5A6B7B"/>
                </a:solidFill>
                <a:latin typeface="Calibri" pitchFamily="34" charset="0"/>
                <a:ea typeface="Calibri" pitchFamily="34" charset="-122"/>
                <a:cs typeface="Calibri" pitchFamily="34" charset="-120"/>
              </a:rPr>
              <a:t>The locksmith doesn't decide who gets in.</a:t>
            </a:r>
            <a:endParaRPr lang="en-US" sz="1800" dirty="0"/>
          </a:p>
          <a:p>
            <a:pPr indent="0" marL="0">
              <a:buNone/>
            </a:pPr>
            <a:r>
              <a:rPr lang="en-US" sz="1800" b="1" i="1" dirty="0">
                <a:solidFill>
                  <a:srgbClr val="5A6B7B"/>
                </a:solidFill>
                <a:latin typeface="Calibri" pitchFamily="34" charset="0"/>
                <a:ea typeface="Calibri" pitchFamily="34" charset="-122"/>
                <a:cs typeface="Calibri" pitchFamily="34" charset="-120"/>
              </a:rPr>
              <a:t>The wiring does.</a:t>
            </a:r>
            <a:endParaRPr lang="en-US" sz="1800" dirty="0"/>
          </a:p>
        </p:txBody>
      </p:sp>
      <p:sp>
        <p:nvSpPr>
          <p:cNvPr id="6" name="Shape 4"/>
          <p:cNvSpPr/>
          <p:nvPr/>
        </p:nvSpPr>
        <p:spPr>
          <a:xfrm>
            <a:off x="6675120" y="1828800"/>
            <a:ext cx="4937760" cy="1920240"/>
          </a:xfrm>
          <a:prstGeom prst="roundRect">
            <a:avLst>
              <a:gd name="adj" fmla="val 3810"/>
            </a:avLst>
          </a:prstGeom>
          <a:solidFill>
            <a:srgbClr val="FFFFFF"/>
          </a:solidFill>
          <a:ln w="12700">
            <a:solidFill>
              <a:srgbClr val="C7D2DC"/>
            </a:solidFill>
            <a:prstDash val="solid"/>
          </a:ln>
        </p:spPr>
      </p:sp>
      <p:sp>
        <p:nvSpPr>
          <p:cNvPr id="7" name="Text 5"/>
          <p:cNvSpPr/>
          <p:nvPr/>
        </p:nvSpPr>
        <p:spPr>
          <a:xfrm>
            <a:off x="6949440" y="2011680"/>
            <a:ext cx="43891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High security</a:t>
            </a:r>
            <a:endParaRPr lang="en-US" sz="1700" dirty="0"/>
          </a:p>
        </p:txBody>
      </p:sp>
      <p:sp>
        <p:nvSpPr>
          <p:cNvPr id="8" name="Text 6"/>
          <p:cNvSpPr/>
          <p:nvPr/>
        </p:nvSpPr>
        <p:spPr>
          <a:xfrm>
            <a:off x="6949440" y="2468880"/>
            <a:ext cx="4389120" cy="109728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Two employees must turn their keys at the same time. Both switches, or no door.</a:t>
            </a:r>
            <a:endParaRPr lang="en-US" sz="1400" dirty="0"/>
          </a:p>
        </p:txBody>
      </p:sp>
      <p:sp>
        <p:nvSpPr>
          <p:cNvPr id="9" name="Shape 7"/>
          <p:cNvSpPr/>
          <p:nvPr/>
        </p:nvSpPr>
        <p:spPr>
          <a:xfrm>
            <a:off x="6675120" y="3977640"/>
            <a:ext cx="4937760" cy="1920240"/>
          </a:xfrm>
          <a:prstGeom prst="roundRect">
            <a:avLst>
              <a:gd name="adj" fmla="val 3810"/>
            </a:avLst>
          </a:prstGeom>
          <a:solidFill>
            <a:srgbClr val="FFFFFF"/>
          </a:solidFill>
          <a:ln w="12700">
            <a:solidFill>
              <a:srgbClr val="C7D2DC"/>
            </a:solidFill>
            <a:prstDash val="solid"/>
          </a:ln>
        </p:spPr>
      </p:sp>
      <p:sp>
        <p:nvSpPr>
          <p:cNvPr id="10" name="Text 8"/>
          <p:cNvSpPr/>
          <p:nvPr/>
        </p:nvSpPr>
        <p:spPr>
          <a:xfrm>
            <a:off x="6949440" y="4160520"/>
            <a:ext cx="43891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Convenience</a:t>
            </a:r>
            <a:endParaRPr lang="en-US" sz="1700" dirty="0"/>
          </a:p>
        </p:txBody>
      </p:sp>
      <p:sp>
        <p:nvSpPr>
          <p:cNvPr id="11" name="Text 9"/>
          <p:cNvSpPr/>
          <p:nvPr/>
        </p:nvSpPr>
        <p:spPr>
          <a:xfrm>
            <a:off x="6949440" y="4617720"/>
            <a:ext cx="4389120" cy="109728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Any single employee opens the door with either key. One switch is enough.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AND gate</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Output is 1 only when BOTH inputs are 1.</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949440" y="2103120"/>
          <a:ext cx="4206240" cy="914400"/>
        </p:xfrm>
        <a:graphic>
          <a:graphicData uri="http://schemas.openxmlformats.org/drawingml/2006/table">
            <a:tbl>
              <a:tblPr/>
              <a:tblGrid>
                <a:gridCol w="1402080"/>
                <a:gridCol w="1402080"/>
                <a:gridCol w="140208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r>
              <a:tr h="457200">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57200">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57200">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57200">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r>
            </a:tbl>
          </a:graphicData>
        </a:graphic>
      </p:graphicFrame>
      <p:sp>
        <p:nvSpPr>
          <p:cNvPr id="5" name="Text 2"/>
          <p:cNvSpPr/>
          <p:nvPr/>
        </p:nvSpPr>
        <p:spPr>
          <a:xfrm>
            <a:off x="548640" y="2103120"/>
            <a:ext cx="5760720" cy="1371600"/>
          </a:xfrm>
          <a:prstGeom prst="rect">
            <a:avLst/>
          </a:prstGeom>
          <a:noFill/>
          <a:ln/>
        </p:spPr>
        <p:txBody>
          <a:bodyPr wrap="square" lIns="0" tIns="0" rIns="0" bIns="0" rtlCol="0" anchor="ctr"/>
          <a:lstStyle/>
          <a:p>
            <a:pPr indent="0" marL="0">
              <a:buNone/>
            </a:pPr>
            <a:r>
              <a:rPr lang="en-US" sz="1600" dirty="0">
                <a:solidFill>
                  <a:srgbClr val="0A1F33"/>
                </a:solidFill>
                <a:latin typeface="Calibri" pitchFamily="34" charset="0"/>
                <a:ea typeface="Calibri" pitchFamily="34" charset="-122"/>
                <a:cs typeface="Calibri" pitchFamily="34" charset="-120"/>
              </a:rPr>
              <a:t>Two switches in a row — in series. Current has to get through the first AND the second. One open switch anywhere breaks the path.</a:t>
            </a:r>
            <a:endParaRPr lang="en-US" sz="1600" dirty="0"/>
          </a:p>
        </p:txBody>
      </p:sp>
      <p:sp>
        <p:nvSpPr>
          <p:cNvPr id="6" name="Shape 3"/>
          <p:cNvSpPr/>
          <p:nvPr/>
        </p:nvSpPr>
        <p:spPr>
          <a:xfrm>
            <a:off x="548640" y="3657600"/>
            <a:ext cx="1828800" cy="1554480"/>
          </a:xfrm>
          <a:prstGeom prst="roundRect">
            <a:avLst>
              <a:gd name="adj" fmla="val 4706"/>
            </a:avLst>
          </a:prstGeom>
          <a:solidFill>
            <a:srgbClr val="13324F"/>
          </a:solidFill>
          <a:ln w="12700">
            <a:solidFill>
              <a:srgbClr val="13324F"/>
            </a:solidFill>
            <a:prstDash val="solid"/>
          </a:ln>
        </p:spPr>
      </p:sp>
      <p:sp>
        <p:nvSpPr>
          <p:cNvPr id="7" name="Text 4"/>
          <p:cNvSpPr/>
          <p:nvPr/>
        </p:nvSpPr>
        <p:spPr>
          <a:xfrm>
            <a:off x="548640" y="3767328"/>
            <a:ext cx="1828800" cy="808330"/>
          </a:xfrm>
          <a:prstGeom prst="rect">
            <a:avLst/>
          </a:prstGeom>
          <a:noFill/>
          <a:ln/>
        </p:spPr>
        <p:txBody>
          <a:bodyPr wrap="square" lIns="0" tIns="0" rIns="0" bIns="0" rtlCol="0" anchor="ctr"/>
          <a:lstStyle/>
          <a:p>
            <a:pPr algn="ctr" indent="0" marL="0">
              <a:buNone/>
            </a:pPr>
            <a:r>
              <a:rPr lang="en-US" sz="3000" b="1" dirty="0">
                <a:solidFill>
                  <a:srgbClr val="3DDC84"/>
                </a:solidFill>
                <a:latin typeface="Courier New" pitchFamily="34" charset="0"/>
                <a:ea typeface="Courier New" pitchFamily="34" charset="-122"/>
                <a:cs typeface="Courier New" pitchFamily="34" charset="-120"/>
              </a:rPr>
              <a:t>A·B</a:t>
            </a:r>
            <a:endParaRPr lang="en-US" sz="3000" dirty="0"/>
          </a:p>
        </p:txBody>
      </p:sp>
      <p:sp>
        <p:nvSpPr>
          <p:cNvPr id="8" name="Text 5"/>
          <p:cNvSpPr/>
          <p:nvPr/>
        </p:nvSpPr>
        <p:spPr>
          <a:xfrm>
            <a:off x="2651760" y="3703320"/>
            <a:ext cx="3657600" cy="155448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Engineers write AND as multiplication: the output is A×B. It only comes out 1 when both factors are 1 — the times table agrees.</a:t>
            </a:r>
            <a:endParaRPr lang="en-US" sz="1350" dirty="0"/>
          </a:p>
        </p:txBody>
      </p:sp>
      <p:sp>
        <p:nvSpPr>
          <p:cNvPr id="9" name="Text 6"/>
          <p:cNvSpPr/>
          <p:nvPr/>
        </p:nvSpPr>
        <p:spPr>
          <a:xfrm>
            <a:off x="6949440" y="4343400"/>
            <a:ext cx="4206240" cy="73152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One row lights the LED. Three rows keep the door shut.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OR gate</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Output is 1 when EITHER input is 1 — or both.</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49440" y="2103120"/>
          <a:ext cx="4206240" cy="914400"/>
        </p:xfrm>
        <a:graphic>
          <a:graphicData uri="http://schemas.openxmlformats.org/drawingml/2006/table">
            <a:tbl>
              <a:tblPr/>
              <a:tblGrid>
                <a:gridCol w="1402080"/>
                <a:gridCol w="1402080"/>
                <a:gridCol w="140208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r>
              <a:tr h="457200">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57200">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r>
              <a:tr h="457200">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r>
              <a:tr h="457200">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c>
                  <a:txBody>
                    <a:bodyPr/>
                    <a:lstStyle/>
                    <a:p>
                      <a:pPr algn="ctr" indent="0" marL="0">
                        <a:buNone/>
                      </a:pPr>
                      <a:r>
                        <a:rPr lang="en-US" sz="1600" b="1" dirty="0">
                          <a:solidFill>
                            <a:srgbClr val="0A1F33"/>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DFF6EA"/>
                    </a:solidFill>
                  </a:tcPr>
                </a:tc>
              </a:tr>
            </a:tbl>
          </a:graphicData>
        </a:graphic>
      </p:graphicFrame>
      <p:sp>
        <p:nvSpPr>
          <p:cNvPr id="5" name="Text 2"/>
          <p:cNvSpPr/>
          <p:nvPr/>
        </p:nvSpPr>
        <p:spPr>
          <a:xfrm>
            <a:off x="548640" y="2103120"/>
            <a:ext cx="5760720" cy="1371600"/>
          </a:xfrm>
          <a:prstGeom prst="rect">
            <a:avLst/>
          </a:prstGeom>
          <a:noFill/>
          <a:ln/>
        </p:spPr>
        <p:txBody>
          <a:bodyPr wrap="square" lIns="0" tIns="0" rIns="0" bIns="0" rtlCol="0" anchor="ctr"/>
          <a:lstStyle/>
          <a:p>
            <a:pPr indent="0" marL="0">
              <a:buNone/>
            </a:pPr>
            <a:r>
              <a:rPr lang="en-US" sz="1600" dirty="0">
                <a:solidFill>
                  <a:srgbClr val="E4EAF0"/>
                </a:solidFill>
                <a:latin typeface="Calibri" pitchFamily="34" charset="0"/>
                <a:ea typeface="Calibri" pitchFamily="34" charset="-122"/>
                <a:cs typeface="Calibri" pitchFamily="34" charset="-120"/>
              </a:rPr>
              <a:t>Two switches side by side — in parallel. Current takes whichever path is closed. Only when both paths are open does the door stay shut.</a:t>
            </a:r>
            <a:endParaRPr lang="en-US" sz="1600" dirty="0"/>
          </a:p>
        </p:txBody>
      </p:sp>
      <p:sp>
        <p:nvSpPr>
          <p:cNvPr id="6" name="Shape 3"/>
          <p:cNvSpPr/>
          <p:nvPr/>
        </p:nvSpPr>
        <p:spPr>
          <a:xfrm>
            <a:off x="548640" y="3657600"/>
            <a:ext cx="1828800" cy="1554480"/>
          </a:xfrm>
          <a:prstGeom prst="roundRect">
            <a:avLst>
              <a:gd name="adj" fmla="val 4706"/>
            </a:avLst>
          </a:prstGeom>
          <a:solidFill>
            <a:srgbClr val="13324F"/>
          </a:solidFill>
          <a:ln w="12700">
            <a:solidFill>
              <a:srgbClr val="13324F"/>
            </a:solidFill>
            <a:prstDash val="solid"/>
          </a:ln>
        </p:spPr>
      </p:sp>
      <p:sp>
        <p:nvSpPr>
          <p:cNvPr id="7" name="Text 4"/>
          <p:cNvSpPr/>
          <p:nvPr/>
        </p:nvSpPr>
        <p:spPr>
          <a:xfrm>
            <a:off x="548640" y="3767328"/>
            <a:ext cx="1828800" cy="808330"/>
          </a:xfrm>
          <a:prstGeom prst="rect">
            <a:avLst/>
          </a:prstGeom>
          <a:noFill/>
          <a:ln/>
        </p:spPr>
        <p:txBody>
          <a:bodyPr wrap="square" lIns="0" tIns="0" rIns="0" bIns="0" rtlCol="0" anchor="ctr"/>
          <a:lstStyle/>
          <a:p>
            <a:pPr algn="ctr" indent="0" marL="0">
              <a:buNone/>
            </a:pPr>
            <a:r>
              <a:rPr lang="en-US" sz="3000" b="1" dirty="0">
                <a:solidFill>
                  <a:srgbClr val="3DDC84"/>
                </a:solidFill>
                <a:latin typeface="Courier New" pitchFamily="34" charset="0"/>
                <a:ea typeface="Courier New" pitchFamily="34" charset="-122"/>
                <a:cs typeface="Courier New" pitchFamily="34" charset="-120"/>
              </a:rPr>
              <a:t>A+B</a:t>
            </a:r>
            <a:endParaRPr lang="en-US" sz="3000" dirty="0"/>
          </a:p>
        </p:txBody>
      </p:sp>
      <p:sp>
        <p:nvSpPr>
          <p:cNvPr id="8" name="Text 5"/>
          <p:cNvSpPr/>
          <p:nvPr/>
        </p:nvSpPr>
        <p:spPr>
          <a:xfrm>
            <a:off x="2651760" y="3703320"/>
            <a:ext cx="3657600" cy="1554480"/>
          </a:xfrm>
          <a:prstGeom prst="rect">
            <a:avLst/>
          </a:prstGeom>
          <a:noFill/>
          <a:ln/>
        </p:spPr>
        <p:txBody>
          <a:bodyPr wrap="square" lIns="0" tIns="0" rIns="0" bIns="0" rtlCol="0" anchor="ctr"/>
          <a:lstStyle/>
          <a:p>
            <a:pPr indent="0" marL="0">
              <a:buNone/>
            </a:pPr>
            <a:r>
              <a:rPr lang="en-US" sz="1350" dirty="0">
                <a:solidFill>
                  <a:srgbClr val="C7D2DC"/>
                </a:solidFill>
                <a:latin typeface="Calibri" pitchFamily="34" charset="0"/>
                <a:ea typeface="Calibri" pitchFamily="34" charset="-122"/>
                <a:cs typeface="Calibri" pitchFamily="34" charset="-120"/>
              </a:rPr>
              <a:t>Engineers write OR as addition: A+B. Careful — in logic, 1+1 is still 1. The output doesn't count how many inputs are on; it only asks whether any are.</a:t>
            </a:r>
            <a:endParaRPr lang="en-US" sz="1350" dirty="0"/>
          </a:p>
        </p:txBody>
      </p:sp>
      <p:sp>
        <p:nvSpPr>
          <p:cNvPr id="9" name="Text 6"/>
          <p:cNvSpPr/>
          <p:nvPr/>
        </p:nvSpPr>
        <p:spPr>
          <a:xfrm>
            <a:off x="6949440" y="4343400"/>
            <a:ext cx="4206240" cy="731520"/>
          </a:xfrm>
          <a:prstGeom prst="rect">
            <a:avLst/>
          </a:prstGeom>
          <a:noFill/>
          <a:ln/>
        </p:spPr>
        <p:txBody>
          <a:bodyPr wrap="square" lIns="0" tIns="0" rIns="0" bIns="0" rtlCol="0" anchor="ctr"/>
          <a:lstStyle/>
          <a:p>
            <a:pPr indent="0" marL="0">
              <a:buNone/>
            </a:pPr>
            <a:r>
              <a:rPr lang="en-US" sz="1400" i="1" dirty="0">
                <a:solidFill>
                  <a:srgbClr val="C7D2DC"/>
                </a:solidFill>
                <a:latin typeface="Calibri" pitchFamily="34" charset="0"/>
                <a:ea typeface="Calibri" pitchFamily="34" charset="-122"/>
                <a:cs typeface="Calibri" pitchFamily="34" charset="-120"/>
              </a:rPr>
              <a:t>Three rows light the LED. Only silence keeps it dark.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Truth tables: the complete spec</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Every input combination, exactly one output each. No ambiguity.</a:t>
            </a:r>
            <a:endParaRPr lang="en-US" sz="1700" dirty="0"/>
          </a:p>
        </p:txBody>
      </p:sp>
      <p:sp>
        <p:nvSpPr>
          <p:cNvPr id="4" name="Text 2"/>
          <p:cNvSpPr/>
          <p:nvPr/>
        </p:nvSpPr>
        <p:spPr>
          <a:xfrm>
            <a:off x="548640" y="1874520"/>
            <a:ext cx="5943600" cy="1280160"/>
          </a:xfrm>
          <a:prstGeom prst="rect">
            <a:avLst/>
          </a:prstGeom>
          <a:noFill/>
          <a:ln/>
        </p:spPr>
        <p:txBody>
          <a:bodyPr wrap="square" lIns="0" tIns="0" rIns="0" bIns="0" rtlCol="0" anchor="ctr"/>
          <a:lstStyle/>
          <a:p>
            <a:pPr indent="0" marL="0">
              <a:buNone/>
            </a:pPr>
            <a:r>
              <a:rPr lang="en-US" sz="1600" dirty="0">
                <a:solidFill>
                  <a:srgbClr val="0A1F33"/>
                </a:solidFill>
                <a:latin typeface="Calibri" pitchFamily="34" charset="0"/>
                <a:ea typeface="Calibri" pitchFamily="34" charset="-122"/>
                <a:cs typeface="Calibri" pitchFamily="34" charset="-120"/>
              </a:rPr>
              <a:t>A sentence like “it opens when both keys turn” can be argued with. A truth table can't — it answers every case before anyone asks.</a:t>
            </a:r>
            <a:endParaRPr lang="en-US" sz="1600" dirty="0"/>
          </a:p>
        </p:txBody>
      </p:sp>
      <p:sp>
        <p:nvSpPr>
          <p:cNvPr id="5" name="Shape 3"/>
          <p:cNvSpPr/>
          <p:nvPr/>
        </p:nvSpPr>
        <p:spPr>
          <a:xfrm>
            <a:off x="548640" y="3383280"/>
            <a:ext cx="2377440" cy="2103120"/>
          </a:xfrm>
          <a:prstGeom prst="roundRect">
            <a:avLst>
              <a:gd name="adj" fmla="val 3478"/>
            </a:avLst>
          </a:prstGeom>
          <a:solidFill>
            <a:srgbClr val="13324F"/>
          </a:solidFill>
          <a:ln w="12700">
            <a:solidFill>
              <a:srgbClr val="13324F"/>
            </a:solidFill>
            <a:prstDash val="solid"/>
          </a:ln>
        </p:spPr>
      </p:sp>
      <p:sp>
        <p:nvSpPr>
          <p:cNvPr id="6" name="Text 4"/>
          <p:cNvSpPr/>
          <p:nvPr/>
        </p:nvSpPr>
        <p:spPr>
          <a:xfrm>
            <a:off x="548640" y="3493008"/>
            <a:ext cx="2377440" cy="1093622"/>
          </a:xfrm>
          <a:prstGeom prst="rect">
            <a:avLst/>
          </a:prstGeom>
          <a:noFill/>
          <a:ln/>
        </p:spPr>
        <p:txBody>
          <a:bodyPr wrap="square" lIns="0" tIns="0" rIns="0" bIns="0" rtlCol="0" anchor="ctr"/>
          <a:lstStyle/>
          <a:p>
            <a:pPr algn="ctr" indent="0" marL="0">
              <a:buNone/>
            </a:pPr>
            <a:r>
              <a:rPr lang="en-US" sz="4000" b="1" dirty="0">
                <a:solidFill>
                  <a:srgbClr val="FFFFFF"/>
                </a:solidFill>
                <a:latin typeface="Courier New" pitchFamily="34" charset="0"/>
                <a:ea typeface="Courier New" pitchFamily="34" charset="-122"/>
                <a:cs typeface="Courier New" pitchFamily="34" charset="-120"/>
              </a:rPr>
              <a:t>2ⁿ</a:t>
            </a:r>
            <a:endParaRPr lang="en-US" sz="4000" dirty="0"/>
          </a:p>
        </p:txBody>
      </p:sp>
      <p:sp>
        <p:nvSpPr>
          <p:cNvPr id="7" name="Text 5"/>
          <p:cNvSpPr/>
          <p:nvPr/>
        </p:nvSpPr>
        <p:spPr>
          <a:xfrm>
            <a:off x="548640" y="4603090"/>
            <a:ext cx="2377440" cy="41148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rows</a:t>
            </a:r>
            <a:endParaRPr lang="en-US" sz="1600" dirty="0"/>
          </a:p>
        </p:txBody>
      </p:sp>
      <p:sp>
        <p:nvSpPr>
          <p:cNvPr id="8" name="Text 6"/>
          <p:cNvSpPr/>
          <p:nvPr/>
        </p:nvSpPr>
        <p:spPr>
          <a:xfrm>
            <a:off x="640080" y="4981651"/>
            <a:ext cx="2194560" cy="459029"/>
          </a:xfrm>
          <a:prstGeom prst="rect">
            <a:avLst/>
          </a:prstGeom>
          <a:noFill/>
          <a:ln/>
        </p:spPr>
        <p:txBody>
          <a:bodyPr wrap="square" lIns="0" tIns="0" rIns="0" bIns="0" rtlCol="0" anchor="ctr"/>
          <a:lstStyle/>
          <a:p>
            <a:pPr algn="ctr" indent="0" marL="0">
              <a:buNone/>
            </a:pPr>
            <a:r>
              <a:rPr lang="en-US" sz="1150" dirty="0">
                <a:solidFill>
                  <a:srgbClr val="C7D2DC"/>
                </a:solidFill>
                <a:latin typeface="Calibri" pitchFamily="34" charset="0"/>
                <a:ea typeface="Calibri" pitchFamily="34" charset="-122"/>
                <a:cs typeface="Calibri" pitchFamily="34" charset="-120"/>
              </a:rPr>
              <a:t>for n inputs</a:t>
            </a:r>
            <a:endParaRPr lang="en-US" sz="1150" dirty="0"/>
          </a:p>
        </p:txBody>
      </p:sp>
      <p:sp>
        <p:nvSpPr>
          <p:cNvPr id="9" name="Shape 7"/>
          <p:cNvSpPr/>
          <p:nvPr/>
        </p:nvSpPr>
        <p:spPr>
          <a:xfrm>
            <a:off x="3200400" y="3383280"/>
            <a:ext cx="2377440" cy="2103120"/>
          </a:xfrm>
          <a:prstGeom prst="roundRect">
            <a:avLst>
              <a:gd name="adj" fmla="val 3478"/>
            </a:avLst>
          </a:prstGeom>
          <a:solidFill>
            <a:srgbClr val="13324F"/>
          </a:solidFill>
          <a:ln w="12700">
            <a:solidFill>
              <a:srgbClr val="13324F"/>
            </a:solidFill>
            <a:prstDash val="solid"/>
          </a:ln>
        </p:spPr>
      </p:sp>
      <p:sp>
        <p:nvSpPr>
          <p:cNvPr id="10" name="Text 8"/>
          <p:cNvSpPr/>
          <p:nvPr/>
        </p:nvSpPr>
        <p:spPr>
          <a:xfrm>
            <a:off x="3200400" y="3493008"/>
            <a:ext cx="2377440" cy="1093622"/>
          </a:xfrm>
          <a:prstGeom prst="rect">
            <a:avLst/>
          </a:prstGeom>
          <a:noFill/>
          <a:ln/>
        </p:spPr>
        <p:txBody>
          <a:bodyPr wrap="square" lIns="0" tIns="0" rIns="0" bIns="0" rtlCol="0" anchor="ctr"/>
          <a:lstStyle/>
          <a:p>
            <a:pPr algn="ctr" indent="0" marL="0">
              <a:buNone/>
            </a:pPr>
            <a:r>
              <a:rPr lang="en-US" sz="4000" b="1" dirty="0">
                <a:solidFill>
                  <a:srgbClr val="3DDC84"/>
                </a:solidFill>
                <a:latin typeface="Courier New" pitchFamily="34" charset="0"/>
                <a:ea typeface="Courier New" pitchFamily="34" charset="-122"/>
                <a:cs typeface="Courier New" pitchFamily="34" charset="-120"/>
              </a:rPr>
              <a:t>4</a:t>
            </a:r>
            <a:endParaRPr lang="en-US" sz="4000" dirty="0"/>
          </a:p>
        </p:txBody>
      </p:sp>
      <p:sp>
        <p:nvSpPr>
          <p:cNvPr id="11" name="Text 9"/>
          <p:cNvSpPr/>
          <p:nvPr/>
        </p:nvSpPr>
        <p:spPr>
          <a:xfrm>
            <a:off x="3200400" y="4603090"/>
            <a:ext cx="2377440" cy="41148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rows today</a:t>
            </a:r>
            <a:endParaRPr lang="en-US" sz="1600" dirty="0"/>
          </a:p>
        </p:txBody>
      </p:sp>
      <p:sp>
        <p:nvSpPr>
          <p:cNvPr id="12" name="Text 10"/>
          <p:cNvSpPr/>
          <p:nvPr/>
        </p:nvSpPr>
        <p:spPr>
          <a:xfrm>
            <a:off x="3291840" y="4981651"/>
            <a:ext cx="2194560" cy="459029"/>
          </a:xfrm>
          <a:prstGeom prst="rect">
            <a:avLst/>
          </a:prstGeom>
          <a:noFill/>
          <a:ln/>
        </p:spPr>
        <p:txBody>
          <a:bodyPr wrap="square" lIns="0" tIns="0" rIns="0" bIns="0" rtlCol="0" anchor="ctr"/>
          <a:lstStyle/>
          <a:p>
            <a:pPr algn="ctr" indent="0" marL="0">
              <a:buNone/>
            </a:pPr>
            <a:r>
              <a:rPr lang="en-US" sz="1150" dirty="0">
                <a:solidFill>
                  <a:srgbClr val="C7D2DC"/>
                </a:solidFill>
                <a:latin typeface="Calibri" pitchFamily="34" charset="0"/>
                <a:ea typeface="Calibri" pitchFamily="34" charset="-122"/>
                <a:cs typeface="Calibri" pitchFamily="34" charset="-120"/>
              </a:rPr>
              <a:t>2 inputs → 2²</a:t>
            </a:r>
            <a:endParaRPr lang="en-US" sz="1150" dirty="0"/>
          </a:p>
        </p:txBody>
      </p:sp>
      <p:sp>
        <p:nvSpPr>
          <p:cNvPr id="13" name="Shape 11"/>
          <p:cNvSpPr/>
          <p:nvPr/>
        </p:nvSpPr>
        <p:spPr>
          <a:xfrm>
            <a:off x="6675120" y="1920240"/>
            <a:ext cx="4937760" cy="3840480"/>
          </a:xfrm>
          <a:prstGeom prst="roundRect">
            <a:avLst>
              <a:gd name="adj" fmla="val 1905"/>
            </a:avLst>
          </a:prstGeom>
          <a:solidFill>
            <a:srgbClr val="FFFFFF"/>
          </a:solidFill>
          <a:ln w="12700">
            <a:solidFill>
              <a:srgbClr val="C7D2DC"/>
            </a:solidFill>
            <a:prstDash val="solid"/>
          </a:ln>
        </p:spPr>
      </p:sp>
      <p:sp>
        <p:nvSpPr>
          <p:cNvPr id="14" name="Text 12"/>
          <p:cNvSpPr/>
          <p:nvPr/>
        </p:nvSpPr>
        <p:spPr>
          <a:xfrm>
            <a:off x="6949440" y="2103120"/>
            <a:ext cx="4389120" cy="365760"/>
          </a:xfrm>
          <a:prstGeom prst="rect">
            <a:avLst/>
          </a:prstGeom>
          <a:noFill/>
          <a:ln/>
        </p:spPr>
        <p:txBody>
          <a:bodyPr wrap="square" lIns="0" tIns="0" rIns="0" bIns="0" rtlCol="0" anchor="ctr"/>
          <a:lstStyle/>
          <a:p>
            <a:pPr indent="0" marL="0">
              <a:buNone/>
            </a:pPr>
            <a:r>
              <a:rPr lang="en-US" sz="1500" b="1" dirty="0">
                <a:solidFill>
                  <a:srgbClr val="0A1F33"/>
                </a:solidFill>
                <a:latin typeface="Calibri" pitchFamily="34" charset="0"/>
                <a:ea typeface="Calibri" pitchFamily="34" charset="-122"/>
                <a:cs typeface="Calibri" pitchFamily="34" charset="-120"/>
              </a:rPr>
              <a:t>Count the combinations in binary</a:t>
            </a:r>
            <a:endParaRPr lang="en-US" sz="1500" dirty="0"/>
          </a:p>
        </p:txBody>
      </p:sp>
      <p:sp>
        <p:nvSpPr>
          <p:cNvPr id="15" name="Text 13"/>
          <p:cNvSpPr/>
          <p:nvPr/>
        </p:nvSpPr>
        <p:spPr>
          <a:xfrm>
            <a:off x="6949440" y="2606040"/>
            <a:ext cx="1371600" cy="2651760"/>
          </a:xfrm>
          <a:prstGeom prst="rect">
            <a:avLst/>
          </a:prstGeom>
          <a:noFill/>
          <a:ln/>
        </p:spPr>
        <p:txBody>
          <a:bodyPr wrap="square" lIns="0" tIns="0" rIns="0" bIns="0" rtlCol="0" anchor="ctr"/>
          <a:lstStyle/>
          <a:p>
            <a:pPr indent="0" marL="0">
              <a:lnSpc>
                <a:spcPts val="4000"/>
              </a:lnSpc>
              <a:buNone/>
            </a:pPr>
            <a:r>
              <a:rPr lang="en-US" sz="2400" b="1" dirty="0">
                <a:solidFill>
                  <a:srgbClr val="0A1F33"/>
                </a:solidFill>
                <a:latin typeface="Courier New" pitchFamily="34" charset="0"/>
                <a:ea typeface="Courier New" pitchFamily="34" charset="-122"/>
                <a:cs typeface="Courier New" pitchFamily="34" charset="-120"/>
              </a:rPr>
              <a:t>00</a:t>
            </a:r>
            <a:endParaRPr lang="en-US" sz="2400" dirty="0"/>
          </a:p>
          <a:p>
            <a:pPr indent="0" marL="0">
              <a:lnSpc>
                <a:spcPts val="4000"/>
              </a:lnSpc>
              <a:buNone/>
            </a:pPr>
            <a:r>
              <a:rPr lang="en-US" sz="2400" b="1" dirty="0">
                <a:solidFill>
                  <a:srgbClr val="0A1F33"/>
                </a:solidFill>
                <a:latin typeface="Courier New" pitchFamily="34" charset="0"/>
                <a:ea typeface="Courier New" pitchFamily="34" charset="-122"/>
                <a:cs typeface="Courier New" pitchFamily="34" charset="-120"/>
              </a:rPr>
              <a:t>01</a:t>
            </a:r>
            <a:endParaRPr lang="en-US" sz="2400" dirty="0"/>
          </a:p>
          <a:p>
            <a:pPr indent="0" marL="0">
              <a:lnSpc>
                <a:spcPts val="4000"/>
              </a:lnSpc>
              <a:buNone/>
            </a:pPr>
            <a:r>
              <a:rPr lang="en-US" sz="2400" b="1" dirty="0">
                <a:solidFill>
                  <a:srgbClr val="0A1F33"/>
                </a:solidFill>
                <a:latin typeface="Courier New" pitchFamily="34" charset="0"/>
                <a:ea typeface="Courier New" pitchFamily="34" charset="-122"/>
                <a:cs typeface="Courier New" pitchFamily="34" charset="-120"/>
              </a:rPr>
              <a:t>10</a:t>
            </a:r>
            <a:endParaRPr lang="en-US" sz="2400" dirty="0"/>
          </a:p>
          <a:p>
            <a:pPr indent="0" marL="0">
              <a:lnSpc>
                <a:spcPts val="4000"/>
              </a:lnSpc>
              <a:buNone/>
            </a:pPr>
            <a:r>
              <a:rPr lang="en-US" sz="2400" b="1" dirty="0">
                <a:solidFill>
                  <a:srgbClr val="0A1F33"/>
                </a:solidFill>
                <a:latin typeface="Courier New" pitchFamily="34" charset="0"/>
                <a:ea typeface="Courier New" pitchFamily="34" charset="-122"/>
                <a:cs typeface="Courier New" pitchFamily="34" charset="-120"/>
              </a:rPr>
              <a:t>11</a:t>
            </a:r>
            <a:endParaRPr lang="en-US" sz="2400" dirty="0"/>
          </a:p>
        </p:txBody>
      </p:sp>
      <p:sp>
        <p:nvSpPr>
          <p:cNvPr id="16" name="Text 14"/>
          <p:cNvSpPr/>
          <p:nvPr/>
        </p:nvSpPr>
        <p:spPr>
          <a:xfrm>
            <a:off x="8503920" y="2606040"/>
            <a:ext cx="2926080" cy="292608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The input column is just counting from 0 to 3 in binary — last lesson, wearing a lab coat. List the rows in this order every time and you'll never skip a case.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Meet Antares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Your circuit shop. Three parts today — then wires.</a:t>
            </a:r>
            <a:endParaRPr lang="en-US" sz="1700" dirty="0"/>
          </a:p>
        </p:txBody>
      </p:sp>
      <p:sp>
        <p:nvSpPr>
          <p:cNvPr id="4" name="Shape 2"/>
          <p:cNvSpPr/>
          <p:nvPr/>
        </p:nvSpPr>
        <p:spPr>
          <a:xfrm>
            <a:off x="640080" y="2011680"/>
            <a:ext cx="3474720" cy="2834640"/>
          </a:xfrm>
          <a:prstGeom prst="roundRect">
            <a:avLst>
              <a:gd name="adj" fmla="val 2581"/>
            </a:avLst>
          </a:prstGeom>
          <a:solidFill>
            <a:srgbClr val="FFFFFF"/>
          </a:solidFill>
          <a:ln w="12700">
            <a:solidFill>
              <a:srgbClr val="C7D2DC"/>
            </a:solidFill>
            <a:prstDash val="solid"/>
          </a:ln>
        </p:spPr>
      </p:sp>
      <p:sp>
        <p:nvSpPr>
          <p:cNvPr id="5" name="Text 3"/>
          <p:cNvSpPr/>
          <p:nvPr/>
        </p:nvSpPr>
        <p:spPr>
          <a:xfrm>
            <a:off x="640080" y="2240280"/>
            <a:ext cx="3474720" cy="640080"/>
          </a:xfrm>
          <a:prstGeom prst="rect">
            <a:avLst/>
          </a:prstGeom>
          <a:noFill/>
          <a:ln/>
        </p:spPr>
        <p:txBody>
          <a:bodyPr wrap="square" lIns="0" tIns="0" rIns="0" bIns="0" rtlCol="0" anchor="ctr"/>
          <a:lstStyle/>
          <a:p>
            <a:pPr algn="ctr" indent="0" marL="0">
              <a:buNone/>
            </a:pPr>
            <a:r>
              <a:rPr lang="en-US" sz="3200" dirty="0">
                <a:solidFill>
                  <a:srgbClr val="3DDC84"/>
                </a:solidFill>
                <a:latin typeface="Calibri" pitchFamily="34" charset="0"/>
                <a:ea typeface="Calibri" pitchFamily="34" charset="-122"/>
                <a:cs typeface="Calibri" pitchFamily="34" charset="-120"/>
              </a:rPr>
              <a:t>⚡</a:t>
            </a:r>
            <a:endParaRPr lang="en-US" sz="3200" dirty="0"/>
          </a:p>
        </p:txBody>
      </p:sp>
      <p:sp>
        <p:nvSpPr>
          <p:cNvPr id="6" name="Text 4"/>
          <p:cNvSpPr/>
          <p:nvPr/>
        </p:nvSpPr>
        <p:spPr>
          <a:xfrm>
            <a:off x="640080" y="2926080"/>
            <a:ext cx="3474720" cy="457200"/>
          </a:xfrm>
          <a:prstGeom prst="rect">
            <a:avLst/>
          </a:prstGeom>
          <a:noFill/>
          <a:ln/>
        </p:spPr>
        <p:txBody>
          <a:bodyPr wrap="square" lIns="0" tIns="0" rIns="0" bIns="0" rtlCol="0" anchor="ctr"/>
          <a:lstStyle/>
          <a:p>
            <a:pPr algn="ctr" indent="0" marL="0">
              <a:buNone/>
            </a:pPr>
            <a:r>
              <a:rPr lang="en-US" sz="1900" b="1" dirty="0">
                <a:solidFill>
                  <a:srgbClr val="0A1F33"/>
                </a:solidFill>
                <a:latin typeface="Calibri" pitchFamily="34" charset="0"/>
                <a:ea typeface="Calibri" pitchFamily="34" charset="-122"/>
                <a:cs typeface="Calibri" pitchFamily="34" charset="-120"/>
              </a:rPr>
              <a:t>Power</a:t>
            </a:r>
            <a:endParaRPr lang="en-US" sz="1900" dirty="0"/>
          </a:p>
        </p:txBody>
      </p:sp>
      <p:sp>
        <p:nvSpPr>
          <p:cNvPr id="7" name="Text 5"/>
          <p:cNvSpPr/>
          <p:nvPr/>
        </p:nvSpPr>
        <p:spPr>
          <a:xfrm>
            <a:off x="640080" y="3383280"/>
            <a:ext cx="3474720" cy="365760"/>
          </a:xfrm>
          <a:prstGeom prst="rect">
            <a:avLst/>
          </a:prstGeom>
          <a:noFill/>
          <a:ln/>
        </p:spPr>
        <p:txBody>
          <a:bodyPr wrap="square" lIns="0" tIns="0" rIns="0" bIns="0" rtlCol="0" anchor="ctr"/>
          <a:lstStyle/>
          <a:p>
            <a:pPr algn="ctr" indent="0" marL="0">
              <a:buNone/>
            </a:pPr>
            <a:r>
              <a:rPr lang="en-US" sz="1200" dirty="0">
                <a:solidFill>
                  <a:srgbClr val="5A6B7B"/>
                </a:solidFill>
                <a:latin typeface="Courier New" pitchFamily="34" charset="0"/>
                <a:ea typeface="Courier New" pitchFamily="34" charset="-122"/>
                <a:cs typeface="Courier New" pitchFamily="34" charset="-120"/>
              </a:rPr>
              <a:t>Net folder</a:t>
            </a:r>
            <a:endParaRPr lang="en-US" sz="1200" dirty="0"/>
          </a:p>
        </p:txBody>
      </p:sp>
      <p:sp>
        <p:nvSpPr>
          <p:cNvPr id="8" name="Text 6"/>
          <p:cNvSpPr/>
          <p:nvPr/>
        </p:nvSpPr>
        <p:spPr>
          <a:xfrm>
            <a:off x="914400" y="3794760"/>
            <a:ext cx="2926080" cy="960120"/>
          </a:xfrm>
          <a:prstGeom prst="rect">
            <a:avLst/>
          </a:prstGeom>
          <a:noFill/>
          <a:ln/>
        </p:spPr>
        <p:txBody>
          <a:bodyPr wrap="square" lIns="0" tIns="0" rIns="0" bIns="0" rtlCol="0" anchor="ctr"/>
          <a:lstStyle/>
          <a:p>
            <a:pPr algn="ctr" indent="0" marL="0">
              <a:buNone/>
            </a:pPr>
            <a:r>
              <a:rPr lang="en-US" sz="1250" dirty="0">
                <a:solidFill>
                  <a:srgbClr val="5A6B7B"/>
                </a:solidFill>
                <a:latin typeface="Calibri" pitchFamily="34" charset="0"/>
                <a:ea typeface="Calibri" pitchFamily="34" charset="-122"/>
                <a:cs typeface="Calibri" pitchFamily="34" charset="-120"/>
              </a:rPr>
              <a:t>The voltage source. No power, no light — the most common missing part.</a:t>
            </a:r>
            <a:endParaRPr lang="en-US" sz="1250" dirty="0"/>
          </a:p>
        </p:txBody>
      </p:sp>
      <p:sp>
        <p:nvSpPr>
          <p:cNvPr id="9" name="Shape 7"/>
          <p:cNvSpPr/>
          <p:nvPr/>
        </p:nvSpPr>
        <p:spPr>
          <a:xfrm>
            <a:off x="4434840" y="2011680"/>
            <a:ext cx="3474720" cy="2834640"/>
          </a:xfrm>
          <a:prstGeom prst="roundRect">
            <a:avLst>
              <a:gd name="adj" fmla="val 2581"/>
            </a:avLst>
          </a:prstGeom>
          <a:solidFill>
            <a:srgbClr val="FFFFFF"/>
          </a:solidFill>
          <a:ln w="12700">
            <a:solidFill>
              <a:srgbClr val="C7D2DC"/>
            </a:solidFill>
            <a:prstDash val="solid"/>
          </a:ln>
        </p:spPr>
      </p:sp>
      <p:sp>
        <p:nvSpPr>
          <p:cNvPr id="10" name="Text 8"/>
          <p:cNvSpPr/>
          <p:nvPr/>
        </p:nvSpPr>
        <p:spPr>
          <a:xfrm>
            <a:off x="4434840" y="2240280"/>
            <a:ext cx="3474720" cy="640080"/>
          </a:xfrm>
          <a:prstGeom prst="rect">
            <a:avLst/>
          </a:prstGeom>
          <a:noFill/>
          <a:ln/>
        </p:spPr>
        <p:txBody>
          <a:bodyPr wrap="square" lIns="0" tIns="0" rIns="0" bIns="0" rtlCol="0" anchor="ctr"/>
          <a:lstStyle/>
          <a:p>
            <a:pPr algn="ctr" indent="0" marL="0">
              <a:buNone/>
            </a:pPr>
            <a:r>
              <a:rPr lang="en-US" sz="3200" dirty="0">
                <a:solidFill>
                  <a:srgbClr val="3DDC84"/>
                </a:solidFill>
                <a:latin typeface="Calibri" pitchFamily="34" charset="0"/>
                <a:ea typeface="Calibri" pitchFamily="34" charset="-122"/>
                <a:cs typeface="Calibri" pitchFamily="34" charset="-120"/>
              </a:rPr>
              <a:t>✖</a:t>
            </a:r>
            <a:endParaRPr lang="en-US" sz="3200" dirty="0"/>
          </a:p>
        </p:txBody>
      </p:sp>
      <p:sp>
        <p:nvSpPr>
          <p:cNvPr id="11" name="Text 9"/>
          <p:cNvSpPr/>
          <p:nvPr/>
        </p:nvSpPr>
        <p:spPr>
          <a:xfrm>
            <a:off x="4434840" y="2926080"/>
            <a:ext cx="3474720" cy="457200"/>
          </a:xfrm>
          <a:prstGeom prst="rect">
            <a:avLst/>
          </a:prstGeom>
          <a:noFill/>
          <a:ln/>
        </p:spPr>
        <p:txBody>
          <a:bodyPr wrap="square" lIns="0" tIns="0" rIns="0" bIns="0" rtlCol="0" anchor="ctr"/>
          <a:lstStyle/>
          <a:p>
            <a:pPr algn="ctr" indent="0" marL="0">
              <a:buNone/>
            </a:pPr>
            <a:r>
              <a:rPr lang="en-US" sz="1900" b="1" dirty="0">
                <a:solidFill>
                  <a:srgbClr val="0A1F33"/>
                </a:solidFill>
                <a:latin typeface="Calibri" pitchFamily="34" charset="0"/>
                <a:ea typeface="Calibri" pitchFamily="34" charset="-122"/>
                <a:cs typeface="Calibri" pitchFamily="34" charset="-120"/>
              </a:rPr>
              <a:t>Real Switch</a:t>
            </a:r>
            <a:endParaRPr lang="en-US" sz="1900" dirty="0"/>
          </a:p>
        </p:txBody>
      </p:sp>
      <p:sp>
        <p:nvSpPr>
          <p:cNvPr id="12" name="Text 10"/>
          <p:cNvSpPr/>
          <p:nvPr/>
        </p:nvSpPr>
        <p:spPr>
          <a:xfrm>
            <a:off x="4434840" y="3383280"/>
            <a:ext cx="3474720" cy="365760"/>
          </a:xfrm>
          <a:prstGeom prst="rect">
            <a:avLst/>
          </a:prstGeom>
          <a:noFill/>
          <a:ln/>
        </p:spPr>
        <p:txBody>
          <a:bodyPr wrap="square" lIns="0" tIns="0" rIns="0" bIns="0" rtlCol="0" anchor="ctr"/>
          <a:lstStyle/>
          <a:p>
            <a:pPr algn="ctr" indent="0" marL="0">
              <a:buNone/>
            </a:pPr>
            <a:r>
              <a:rPr lang="en-US" sz="1200" dirty="0">
                <a:solidFill>
                  <a:srgbClr val="5A6B7B"/>
                </a:solidFill>
                <a:latin typeface="Courier New" pitchFamily="34" charset="0"/>
                <a:ea typeface="Courier New" pitchFamily="34" charset="-122"/>
                <a:cs typeface="Courier New" pitchFamily="34" charset="-120"/>
              </a:rPr>
              <a:t>Input folder</a:t>
            </a:r>
            <a:endParaRPr lang="en-US" sz="1200" dirty="0"/>
          </a:p>
        </p:txBody>
      </p:sp>
      <p:sp>
        <p:nvSpPr>
          <p:cNvPr id="13" name="Text 11"/>
          <p:cNvSpPr/>
          <p:nvPr/>
        </p:nvSpPr>
        <p:spPr>
          <a:xfrm>
            <a:off x="4709160" y="3794760"/>
            <a:ext cx="2926080" cy="960120"/>
          </a:xfrm>
          <a:prstGeom prst="rect">
            <a:avLst/>
          </a:prstGeom>
          <a:noFill/>
          <a:ln/>
        </p:spPr>
        <p:txBody>
          <a:bodyPr wrap="square" lIns="0" tIns="0" rIns="0" bIns="0" rtlCol="0" anchor="ctr"/>
          <a:lstStyle/>
          <a:p>
            <a:pPr algn="ctr" indent="0" marL="0">
              <a:buNone/>
            </a:pPr>
            <a:r>
              <a:rPr lang="en-US" sz="1250" dirty="0">
                <a:solidFill>
                  <a:srgbClr val="5A6B7B"/>
                </a:solidFill>
                <a:latin typeface="Calibri" pitchFamily="34" charset="0"/>
                <a:ea typeface="Calibri" pitchFamily="34" charset="-122"/>
                <a:cs typeface="Calibri" pitchFamily="34" charset="-120"/>
              </a:rPr>
              <a:t>Your key. Click it in simulation to turn it, like a finger on a light switch.</a:t>
            </a:r>
            <a:endParaRPr lang="en-US" sz="1250" dirty="0"/>
          </a:p>
        </p:txBody>
      </p:sp>
      <p:sp>
        <p:nvSpPr>
          <p:cNvPr id="14" name="Shape 12"/>
          <p:cNvSpPr/>
          <p:nvPr/>
        </p:nvSpPr>
        <p:spPr>
          <a:xfrm>
            <a:off x="8229600" y="2011680"/>
            <a:ext cx="3474720" cy="2834640"/>
          </a:xfrm>
          <a:prstGeom prst="roundRect">
            <a:avLst>
              <a:gd name="adj" fmla="val 2581"/>
            </a:avLst>
          </a:prstGeom>
          <a:solidFill>
            <a:srgbClr val="FFFFFF"/>
          </a:solidFill>
          <a:ln w="12700">
            <a:solidFill>
              <a:srgbClr val="C7D2DC"/>
            </a:solidFill>
            <a:prstDash val="solid"/>
          </a:ln>
        </p:spPr>
      </p:sp>
      <p:sp>
        <p:nvSpPr>
          <p:cNvPr id="15" name="Text 13"/>
          <p:cNvSpPr/>
          <p:nvPr/>
        </p:nvSpPr>
        <p:spPr>
          <a:xfrm>
            <a:off x="8229600" y="2240280"/>
            <a:ext cx="3474720" cy="640080"/>
          </a:xfrm>
          <a:prstGeom prst="rect">
            <a:avLst/>
          </a:prstGeom>
          <a:noFill/>
          <a:ln/>
        </p:spPr>
        <p:txBody>
          <a:bodyPr wrap="square" lIns="0" tIns="0" rIns="0" bIns="0" rtlCol="0" anchor="ctr"/>
          <a:lstStyle/>
          <a:p>
            <a:pPr algn="ctr" indent="0" marL="0">
              <a:buNone/>
            </a:pPr>
            <a:r>
              <a:rPr lang="en-US" sz="3200" dirty="0">
                <a:solidFill>
                  <a:srgbClr val="3DDC84"/>
                </a:solidFill>
                <a:latin typeface="Calibri" pitchFamily="34" charset="0"/>
                <a:ea typeface="Calibri" pitchFamily="34" charset="-122"/>
                <a:cs typeface="Calibri" pitchFamily="34" charset="-120"/>
              </a:rPr>
              <a:t>●</a:t>
            </a:r>
            <a:endParaRPr lang="en-US" sz="3200" dirty="0"/>
          </a:p>
        </p:txBody>
      </p:sp>
      <p:sp>
        <p:nvSpPr>
          <p:cNvPr id="16" name="Text 14"/>
          <p:cNvSpPr/>
          <p:nvPr/>
        </p:nvSpPr>
        <p:spPr>
          <a:xfrm>
            <a:off x="8229600" y="2926080"/>
            <a:ext cx="3474720" cy="457200"/>
          </a:xfrm>
          <a:prstGeom prst="rect">
            <a:avLst/>
          </a:prstGeom>
          <a:noFill/>
          <a:ln/>
        </p:spPr>
        <p:txBody>
          <a:bodyPr wrap="square" lIns="0" tIns="0" rIns="0" bIns="0" rtlCol="0" anchor="ctr"/>
          <a:lstStyle/>
          <a:p>
            <a:pPr algn="ctr" indent="0" marL="0">
              <a:buNone/>
            </a:pPr>
            <a:r>
              <a:rPr lang="en-US" sz="1900" b="1" dirty="0">
                <a:solidFill>
                  <a:srgbClr val="0A1F33"/>
                </a:solidFill>
                <a:latin typeface="Calibri" pitchFamily="34" charset="0"/>
                <a:ea typeface="Calibri" pitchFamily="34" charset="-122"/>
                <a:cs typeface="Calibri" pitchFamily="34" charset="-120"/>
              </a:rPr>
              <a:t>LED</a:t>
            </a:r>
            <a:endParaRPr lang="en-US" sz="1900" dirty="0"/>
          </a:p>
        </p:txBody>
      </p:sp>
      <p:sp>
        <p:nvSpPr>
          <p:cNvPr id="17" name="Text 15"/>
          <p:cNvSpPr/>
          <p:nvPr/>
        </p:nvSpPr>
        <p:spPr>
          <a:xfrm>
            <a:off x="8229600" y="3383280"/>
            <a:ext cx="3474720" cy="365760"/>
          </a:xfrm>
          <a:prstGeom prst="rect">
            <a:avLst/>
          </a:prstGeom>
          <a:noFill/>
          <a:ln/>
        </p:spPr>
        <p:txBody>
          <a:bodyPr wrap="square" lIns="0" tIns="0" rIns="0" bIns="0" rtlCol="0" anchor="ctr"/>
          <a:lstStyle/>
          <a:p>
            <a:pPr algn="ctr" indent="0" marL="0">
              <a:buNone/>
            </a:pPr>
            <a:r>
              <a:rPr lang="en-US" sz="1200" dirty="0">
                <a:solidFill>
                  <a:srgbClr val="5A6B7B"/>
                </a:solidFill>
                <a:latin typeface="Courier New" pitchFamily="34" charset="0"/>
                <a:ea typeface="Courier New" pitchFamily="34" charset="-122"/>
                <a:cs typeface="Courier New" pitchFamily="34" charset="-120"/>
              </a:rPr>
              <a:t>Output folder</a:t>
            </a:r>
            <a:endParaRPr lang="en-US" sz="1200" dirty="0"/>
          </a:p>
        </p:txBody>
      </p:sp>
      <p:sp>
        <p:nvSpPr>
          <p:cNvPr id="18" name="Text 16"/>
          <p:cNvSpPr/>
          <p:nvPr/>
        </p:nvSpPr>
        <p:spPr>
          <a:xfrm>
            <a:off x="8503920" y="3794760"/>
            <a:ext cx="2926080" cy="960120"/>
          </a:xfrm>
          <a:prstGeom prst="rect">
            <a:avLst/>
          </a:prstGeom>
          <a:noFill/>
          <a:ln/>
        </p:spPr>
        <p:txBody>
          <a:bodyPr wrap="square" lIns="0" tIns="0" rIns="0" bIns="0" rtlCol="0" anchor="ctr"/>
          <a:lstStyle/>
          <a:p>
            <a:pPr algn="ctr" indent="0" marL="0">
              <a:buNone/>
            </a:pPr>
            <a:r>
              <a:rPr lang="en-US" sz="1250" dirty="0">
                <a:solidFill>
                  <a:srgbClr val="5A6B7B"/>
                </a:solidFill>
                <a:latin typeface="Calibri" pitchFamily="34" charset="0"/>
                <a:ea typeface="Calibri" pitchFamily="34" charset="-122"/>
                <a:cs typeface="Calibri" pitchFamily="34" charset="-120"/>
              </a:rPr>
              <a:t>The lock indicator. Lit means voltage arrived — the door is open.</a:t>
            </a:r>
            <a:endParaRPr lang="en-US" sz="1250" dirty="0"/>
          </a:p>
        </p:txBody>
      </p:sp>
      <p:sp>
        <p:nvSpPr>
          <p:cNvPr id="19" name="Text 17"/>
          <p:cNvSpPr/>
          <p:nvPr/>
        </p:nvSpPr>
        <p:spPr>
          <a:xfrm>
            <a:off x="640080" y="5212080"/>
            <a:ext cx="10972800" cy="548640"/>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Label your switches A and B with the Text tool — your screenshots should explain themselves.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before lab</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Commit to a prediction. The simulator will grade it.</a:t>
            </a:r>
            <a:endParaRPr lang="en-US" sz="1700" dirty="0"/>
          </a:p>
        </p:txBody>
      </p:sp>
      <p:sp>
        <p:nvSpPr>
          <p:cNvPr id="4" name="Shape 2"/>
          <p:cNvSpPr/>
          <p:nvPr/>
        </p:nvSpPr>
        <p:spPr>
          <a:xfrm>
            <a:off x="640080" y="2011680"/>
            <a:ext cx="5394960" cy="3566160"/>
          </a:xfrm>
          <a:prstGeom prst="roundRect">
            <a:avLst>
              <a:gd name="adj" fmla="val 2051"/>
            </a:avLst>
          </a:prstGeom>
          <a:solidFill>
            <a:srgbClr val="FFFFFF"/>
          </a:solidFill>
          <a:ln w="12700">
            <a:solidFill>
              <a:srgbClr val="C7D2DC"/>
            </a:solidFill>
            <a:prstDash val="solid"/>
          </a:ln>
        </p:spPr>
      </p:sp>
      <p:sp>
        <p:nvSpPr>
          <p:cNvPr id="5" name="Text 3"/>
          <p:cNvSpPr/>
          <p:nvPr/>
        </p:nvSpPr>
        <p:spPr>
          <a:xfrm>
            <a:off x="914400" y="2240280"/>
            <a:ext cx="4846320" cy="45720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Predict the wiring</a:t>
            </a:r>
            <a:endParaRPr lang="en-US" sz="1800" dirty="0"/>
          </a:p>
        </p:txBody>
      </p:sp>
      <p:sp>
        <p:nvSpPr>
          <p:cNvPr id="6" name="Text 4"/>
          <p:cNvSpPr/>
          <p:nvPr/>
        </p:nvSpPr>
        <p:spPr>
          <a:xfrm>
            <a:off x="914400" y="2743200"/>
            <a:ext cx="4846320" cy="1463040"/>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Two switches can sit in a row (series) or side by side (parallel). Which layout opens the door only when both keys turn — and why?</a:t>
            </a:r>
            <a:endParaRPr lang="en-US" sz="1500" dirty="0"/>
          </a:p>
        </p:txBody>
      </p:sp>
      <p:sp>
        <p:nvSpPr>
          <p:cNvPr id="7" name="Text 5"/>
          <p:cNvSpPr/>
          <p:nvPr/>
        </p:nvSpPr>
        <p:spPr>
          <a:xfrm>
            <a:off x="914400" y="4754880"/>
            <a:ext cx="4846320" cy="54864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Argue it from the current's point of view.</a:t>
            </a:r>
            <a:endParaRPr lang="en-US" sz="1350" dirty="0"/>
          </a:p>
        </p:txBody>
      </p:sp>
      <p:sp>
        <p:nvSpPr>
          <p:cNvPr id="8" name="Shape 6"/>
          <p:cNvSpPr/>
          <p:nvPr/>
        </p:nvSpPr>
        <p:spPr>
          <a:xfrm>
            <a:off x="6400800" y="2011680"/>
            <a:ext cx="5394960" cy="3566160"/>
          </a:xfrm>
          <a:prstGeom prst="roundRect">
            <a:avLst>
              <a:gd name="adj" fmla="val 2051"/>
            </a:avLst>
          </a:prstGeom>
          <a:solidFill>
            <a:srgbClr val="FFFFFF"/>
          </a:solidFill>
          <a:ln w="12700">
            <a:solidFill>
              <a:srgbClr val="C7D2DC"/>
            </a:solidFill>
            <a:prstDash val="solid"/>
          </a:ln>
        </p:spPr>
      </p:sp>
      <p:sp>
        <p:nvSpPr>
          <p:cNvPr id="9" name="Text 7"/>
          <p:cNvSpPr/>
          <p:nvPr/>
        </p:nvSpPr>
        <p:spPr>
          <a:xfrm>
            <a:off x="6675120" y="2240280"/>
            <a:ext cx="4846320" cy="45720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Predict the tables</a:t>
            </a:r>
            <a:endParaRPr lang="en-US" sz="1800" dirty="0"/>
          </a:p>
        </p:txBody>
      </p:sp>
      <p:sp>
        <p:nvSpPr>
          <p:cNvPr id="10" name="Text 8"/>
          <p:cNvSpPr/>
          <p:nvPr/>
        </p:nvSpPr>
        <p:spPr>
          <a:xfrm>
            <a:off x="6675120" y="2743200"/>
            <a:ext cx="4846320" cy="1463040"/>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In your notebook, write both truth tables from the rules alone — before you build anything. Four rows each, inputs in counting order: 00, 01, 10, 11.</a:t>
            </a:r>
            <a:endParaRPr lang="en-US" sz="1500" dirty="0"/>
          </a:p>
        </p:txBody>
      </p:sp>
      <p:sp>
        <p:nvSpPr>
          <p:cNvPr id="11" name="Text 9"/>
          <p:cNvSpPr/>
          <p:nvPr/>
        </p:nvSpPr>
        <p:spPr>
          <a:xfrm>
            <a:off x="6675120" y="4754880"/>
            <a:ext cx="4846320" cy="54864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In how many rows do AND and OR disagree?</a:t>
            </a:r>
            <a:endParaRPr lang="en-US" sz="1350" dirty="0"/>
          </a:p>
        </p:txBody>
      </p:sp>
      <p:sp>
        <p:nvSpPr>
          <p:cNvPr id="12" name="Text 10"/>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100" dirty="0">
                <a:solidFill>
                  <a:srgbClr val="5A6B7B"/>
                </a:solidFill>
                <a:latin typeface="Courier New" pitchFamily="34" charset="0"/>
                <a:ea typeface="Courier New" pitchFamily="34" charset="-122"/>
                <a:cs typeface="Courier New" pitchFamily="34" charset="-120"/>
              </a:rPr>
              <a:t>Answers: series · they disagree in rows 01 and 10 — two of the four.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18872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377440"/>
            <a:ext cx="502920" cy="502920"/>
          </a:xfrm>
          <a:prstGeom prst="roundRect">
            <a:avLst>
              <a:gd name="adj" fmla="val 10909"/>
            </a:avLst>
          </a:prstGeom>
          <a:solidFill>
            <a:srgbClr val="3DDC84"/>
          </a:solidFill>
          <a:ln/>
        </p:spPr>
      </p:sp>
      <p:sp>
        <p:nvSpPr>
          <p:cNvPr id="4" name="Text 2"/>
          <p:cNvSpPr/>
          <p:nvPr/>
        </p:nvSpPr>
        <p:spPr>
          <a:xfrm>
            <a:off x="731520" y="23774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350008"/>
            <a:ext cx="9966960" cy="56692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Build MyAND — the two-key, high-security door. Both switches or nothing.</a:t>
            </a:r>
            <a:endParaRPr lang="en-US" sz="1700" dirty="0"/>
          </a:p>
        </p:txBody>
      </p:sp>
      <p:sp>
        <p:nvSpPr>
          <p:cNvPr id="6" name="Shape 4"/>
          <p:cNvSpPr/>
          <p:nvPr/>
        </p:nvSpPr>
        <p:spPr>
          <a:xfrm>
            <a:off x="731520" y="3246120"/>
            <a:ext cx="502920" cy="502920"/>
          </a:xfrm>
          <a:prstGeom prst="roundRect">
            <a:avLst>
              <a:gd name="adj" fmla="val 10909"/>
            </a:avLst>
          </a:prstGeom>
          <a:solidFill>
            <a:srgbClr val="3DDC84"/>
          </a:solidFill>
          <a:ln/>
        </p:spPr>
      </p:sp>
      <p:sp>
        <p:nvSpPr>
          <p:cNvPr id="7" name="Text 5"/>
          <p:cNvSpPr/>
          <p:nvPr/>
        </p:nvSpPr>
        <p:spPr>
          <a:xfrm>
            <a:off x="731520" y="324612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218688"/>
            <a:ext cx="9966960" cy="56692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Build MyOR — the either-key door. Label switches A and B in both circuits.</a:t>
            </a:r>
            <a:endParaRPr lang="en-US" sz="1700" dirty="0"/>
          </a:p>
        </p:txBody>
      </p:sp>
      <p:sp>
        <p:nvSpPr>
          <p:cNvPr id="9" name="Shape 7"/>
          <p:cNvSpPr/>
          <p:nvPr/>
        </p:nvSpPr>
        <p:spPr>
          <a:xfrm>
            <a:off x="731520" y="4114800"/>
            <a:ext cx="502920" cy="502920"/>
          </a:xfrm>
          <a:prstGeom prst="roundRect">
            <a:avLst>
              <a:gd name="adj" fmla="val 10909"/>
            </a:avLst>
          </a:prstGeom>
          <a:solidFill>
            <a:srgbClr val="3DDC84"/>
          </a:solidFill>
          <a:ln/>
        </p:spPr>
      </p:sp>
      <p:sp>
        <p:nvSpPr>
          <p:cNvPr id="10" name="Text 8"/>
          <p:cNvSpPr/>
          <p:nvPr/>
        </p:nvSpPr>
        <p:spPr>
          <a:xfrm>
            <a:off x="731520" y="41148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4087368"/>
            <a:ext cx="9966960" cy="56692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Complete both truth tables in your notebook — predicted first, then verified.</a:t>
            </a:r>
            <a:endParaRPr lang="en-US" sz="170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lesson: you are the power source — your finger flips the switch. Computers don’t have fingers.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2026-08-17T04:27:38Z</dcterms:created>
  <dcterms:modified xsi:type="dcterms:W3CDTF">2026-08-17T04:27:38Z</dcterms:modified>
</cp:coreProperties>
</file>