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Pitch it as data storage with a wearable side effect — lead with the byte, not the beads; that framing is what sold it to high schoolers last time. The faint strip up top spells BITS in ASCII; leave it for someone to notice — confirm it if they do, offer nothing if they don't. Do-now should already be on the board: 'Your computer can only store numbers, yet this sentence is on the screen. What's the trick?' Collect two or three guesses aloud before advancing.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Return to their do-now guesses here — someone has usually landed near 'each letter gets a number.' Give that guess full credit before naming it: they have just invented character encoding, sixty years late, which is still a respectable margin against most inventions. The minimum two computers must agree on to send text is a shared table — draw that answer out with questions rather than stating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Definitions land quickly; spend the time on the 'deal, not a discovery' idea — there is nothing 65-ish about A, and a different committee could have picked differently (other tables existed; ASCII won). Ask: why does A start at 65 instead of 1? Because the agreement covers more than capital letters — digits, punctuation, and control codes claimed the earlier numbers. Vocabulary to bold on the board: character, character encoding, ASCII.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Work HI on the board rather than reading the slide — look up H together, copy the bits left to right, then I. Point at the last-bit difference: the codes are counting, so neighboring letters get neighboring numbers, which is also why the conversion step later will land between 65 and 90. Common copy errors to preview: dropped bit (seven beads), transposed pair. The check is always the same: count to eight, then compare against the chart.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lesson's center of mass — the same sequence of bits represents different data in different contexts. Feed 01000001 to the 4-bit adder's big sibling and it's 65; hand it to a text renderer and it's A. Neither reading is more true. Ask: so who decides? (The program reading it — context is a choice someone made.) This byte is on their wrists by end of period, which makes the point unusually literal.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or three minutes, individually, in notebooks — this is the whole lab in miniature, done once with training wheels before any bead moves. Circulate for the left-to-right place-value error; it survived Digital Logic in some notebooks and will surface here. Cover or reveal the small answer line as you prefer, then release to planning: 'understand your mission for today?'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Logistics slide — keep it under two minutes. The tray rule does the enforcement: beads are issued only against a finished, checked table, which makes the supply line the checkpoint and saves the re-thread tears. Mid-thread color swaps are the quiet killer (every bit after the swap inverts); the written key is the fix. Overflow callback lands here for free — same word, now in centimeters.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Restate the deliverables, then point at the rubric: a 4 is 'the wrist and the notebook agree' — correct bytes, a matching bracelet, visible conversion work, and a decode the owner signed off on. The mystery bracelet in the lab is the buffer task for early finishers (it says GOAT; keep a straight face). Wrap question for the last two minutes: '01000001 lands in your group chat. Number or letter — and who decides?'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457200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3A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01000010 01001001 01010100 01010011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0" y="1554480"/>
            <a:ext cx="121916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5A6B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01000001</a:t>
            </a:r>
            <a:pPr algn="ctr" indent="0" marL="0">
              <a:buNone/>
            </a:pPr>
            <a:r>
              <a:rPr lang="en-US" sz="4000" b="1" dirty="0">
                <a:solidFill>
                  <a:srgbClr val="1B3A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algn="ctr" indent="0" marL="0">
              <a:buNone/>
            </a:pPr>
            <a:r>
              <a:rPr lang="en-US" sz="4000" b="1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0" y="2286000"/>
            <a:ext cx="1219169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Binary Bracelets and ASCII</a:t>
            </a:r>
            <a:endParaRPr lang="en-US" sz="5000" dirty="0"/>
          </a:p>
        </p:txBody>
      </p:sp>
      <p:sp>
        <p:nvSpPr>
          <p:cNvPr id="5" name="Text 3"/>
          <p:cNvSpPr/>
          <p:nvPr/>
        </p:nvSpPr>
        <p:spPr>
          <a:xfrm>
            <a:off x="0" y="3383280"/>
            <a:ext cx="12191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Today, you will wear data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0" y="5852160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School Computer Science  •  Data Representation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A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gap in the story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Logic proved computers do numbers. Numbers were never the point.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548640" y="1874520"/>
            <a:ext cx="5943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last unit you counted in binary, converted both directions, and built an adder that computes with pure voltage. Everything the machine touched was a number.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3749040"/>
            <a:ext cx="5760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explain this slide.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548640" y="4480560"/>
            <a:ext cx="5760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message you've ever sent was numbers the whole time.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675120" y="1920240"/>
            <a:ext cx="4937760" cy="356616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C7D2D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49440" y="210312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your phone stores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949440" y="2560320"/>
            <a:ext cx="4389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name. Your texts. This sentence. Song lyrics, subtitles, group-chat arguments —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949440" y="3657600"/>
            <a:ext cx="4389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of it in a machine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only stores numbers.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A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agreement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character encoding is a deal, not a discovery.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548640" y="1828800"/>
            <a:ext cx="58521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character is a single letter, digit, or symbol. A character encoding assigns every character a number — and any two computers honoring the same table can trade text without garbling it.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3474720"/>
            <a:ext cx="5852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Ours is ASCII — the American Standard Code for Information Interchange, adopted 1963 and still inside every computer you own.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4846320"/>
            <a:ext cx="5852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about the letter A makes it 65. The agreement does.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766560" y="2011680"/>
            <a:ext cx="1463040" cy="2103120"/>
          </a:xfrm>
          <a:prstGeom prst="roundRect">
            <a:avLst>
              <a:gd name="adj" fmla="val 5000"/>
            </a:avLst>
          </a:prstGeom>
          <a:solidFill>
            <a:srgbClr val="13324F"/>
          </a:solidFill>
          <a:ln w="12700">
            <a:solidFill>
              <a:srgbClr val="13324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766560" y="2121408"/>
            <a:ext cx="1463040" cy="10936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6766560" y="323149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character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366760" y="2011680"/>
            <a:ext cx="1463040" cy="2103120"/>
          </a:xfrm>
          <a:prstGeom prst="roundRect">
            <a:avLst>
              <a:gd name="adj" fmla="val 5000"/>
            </a:avLst>
          </a:prstGeom>
          <a:solidFill>
            <a:srgbClr val="13324F"/>
          </a:solidFill>
          <a:ln w="12700">
            <a:solidFill>
              <a:srgbClr val="13324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366760" y="2121408"/>
            <a:ext cx="1463040" cy="10936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65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8366760" y="323149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9966960" y="2011680"/>
            <a:ext cx="1737360" cy="2103120"/>
          </a:xfrm>
          <a:prstGeom prst="roundRect">
            <a:avLst>
              <a:gd name="adj" fmla="val 4211"/>
            </a:avLst>
          </a:prstGeom>
          <a:solidFill>
            <a:srgbClr val="13324F"/>
          </a:solidFill>
          <a:ln w="12700">
            <a:solidFill>
              <a:srgbClr val="13324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966960" y="2121408"/>
            <a:ext cx="1737360" cy="10936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01000001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9966960" y="323149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byte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766560" y="438912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character, one number, one byte — eight beads, if you're wearing it.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A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Reading the chart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up the letter, copy all eight bits, in order.</a:t>
            </a:r>
            <a:endParaRPr lang="en-US" sz="17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011680"/>
          <a:ext cx="329184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164592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Binary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3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A1F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A1F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01000001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A1F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B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A1F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01000010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A1F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A1F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01000011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A1F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H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6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A1F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01001000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6E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A1F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6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A1F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01001001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6E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A1F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…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A1F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…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470916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full A–Z chart is in the lab document.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4572000" y="2011680"/>
            <a:ext cx="7040880" cy="32918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C7D2D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846320" y="2194560"/>
            <a:ext cx="6492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Encoding  HI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4846320" y="2743200"/>
            <a:ext cx="6492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A6B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</a:t>
            </a:r>
            <a:pPr indent="0" marL="0">
              <a:buNone/>
            </a:pPr>
            <a:r>
              <a:rPr lang="en-US" sz="2200" b="1" dirty="0">
                <a:solidFill>
                  <a:srgbClr val="C7D2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→  </a:t>
            </a:r>
            <a:pPr indent="0" marL="0">
              <a:buNone/>
            </a:pPr>
            <a:r>
              <a:rPr lang="en-US" sz="2200" b="1" dirty="0">
                <a:solidFill>
                  <a:srgbClr val="0A1F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01001000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4846320" y="3383280"/>
            <a:ext cx="6492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A6B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pPr indent="0" marL="0">
              <a:buNone/>
            </a:pPr>
            <a:r>
              <a:rPr lang="en-US" sz="2200" b="1" dirty="0">
                <a:solidFill>
                  <a:srgbClr val="C7D2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→  </a:t>
            </a:r>
            <a:pPr indent="0" marL="0">
              <a:buNone/>
            </a:pPr>
            <a:r>
              <a:rPr lang="en-US" sz="2200" b="1" dirty="0">
                <a:solidFill>
                  <a:srgbClr val="0A1F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01001001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4846320" y="4114800"/>
            <a:ext cx="6492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Sixteen data beads, one separator between the letters, reading away from the knot. Two letters differing by one bit — H and I sit next to each other in the alphabet, and the chart counts.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byte, two meanings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7D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bits don't know what they are. Context decides.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0" y="2103120"/>
            <a:ext cx="1219169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01000001</a:t>
            </a:r>
            <a:endParaRPr lang="en-US" sz="7200" dirty="0"/>
          </a:p>
        </p:txBody>
      </p:sp>
      <p:sp>
        <p:nvSpPr>
          <p:cNvPr id="5" name="Shape 3"/>
          <p:cNvSpPr/>
          <p:nvPr/>
        </p:nvSpPr>
        <p:spPr>
          <a:xfrm>
            <a:off x="3108960" y="3566160"/>
            <a:ext cx="2651760" cy="1737360"/>
          </a:xfrm>
          <a:prstGeom prst="roundRect">
            <a:avLst>
              <a:gd name="adj" fmla="val 4211"/>
            </a:avLst>
          </a:prstGeom>
          <a:solidFill>
            <a:srgbClr val="13324F"/>
          </a:solidFill>
          <a:ln w="12700">
            <a:solidFill>
              <a:srgbClr val="13324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108960" y="3675888"/>
            <a:ext cx="2651760" cy="9034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65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3108960" y="4573829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your adder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400800" y="3566160"/>
            <a:ext cx="2651760" cy="1737360"/>
          </a:xfrm>
          <a:prstGeom prst="roundRect">
            <a:avLst>
              <a:gd name="adj" fmla="val 4211"/>
            </a:avLst>
          </a:prstGeom>
          <a:solidFill>
            <a:srgbClr val="13324F"/>
          </a:solidFill>
          <a:ln w="12700">
            <a:solidFill>
              <a:srgbClr val="13324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0" y="3675888"/>
            <a:ext cx="2651760" cy="9034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4B7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6400800" y="4573829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a text message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0" y="5577840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C7D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bits. Same beads. The meaning lives in the agreement, not the byte.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A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turn — before beads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small proofs. The chart grades the first; the scaffold grades the second.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5394960" cy="356616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C7D2D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224028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278892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A1F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01000011   01010011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914400" y="3520440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letters, from the chart in the lab document. An abbreviation this class should recognize.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0" y="2011680"/>
            <a:ext cx="5394960" cy="356616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C7D2D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675120" y="224028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675120" y="2788920"/>
            <a:ext cx="4846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the first byte and turn it into a decimal number using place values — lab 10 math on the board scaffold.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675120" y="4114800"/>
            <a:ext cx="4846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Sanity check: capital letters live at 65–90. If you land outside that range, a place value slipped.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40080" y="58978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Answers: C and S — CS · the first byte is 64 + 2 + 1 = 67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A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rules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on paper, thread from the knot, check before the final knot.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539496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7D2D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214884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key comes first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2606040"/>
            <a:ext cx="4846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a color for 0, a color for 1, and a separator color — and write the key in your notebook before touching a bead. Your key is your own tiny ASCII: no key, no decode.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3977640"/>
            <a:ext cx="539496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7D2D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416052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knot is the start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14400" y="4617720"/>
            <a:ext cx="4846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Eight beads per letter, a separator between letters, everything reading away from the knot. Check the strand against your table before the final knot — there is no insert key on a bracelet.</a:t>
            </a:r>
            <a:endParaRPr lang="en-US" sz="13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949440" y="2103120"/>
          <a:ext cx="420624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210312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Letters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Beads on the string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3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0A1F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6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0A1F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26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6E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0A1F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4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6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0A1F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35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6E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0A1F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5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0A1F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44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0A1F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6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0D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0A1F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53 — that's a necklace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0D5"/>
                    </a:solidFill>
                  </a:tcPr>
                </a:tc>
              </a:tr>
            </a:tbl>
          </a:graphicData>
        </a:graphic>
      </p:graphicFrame>
      <p:sp>
        <p:nvSpPr>
          <p:cNvPr id="11" name="Text 8"/>
          <p:cNvSpPr/>
          <p:nvPr/>
        </p:nvSpPr>
        <p:spPr>
          <a:xfrm>
            <a:off x="6949440" y="4434840"/>
            <a:ext cx="4389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wrist is fixed-width storage. A word too big for it is an overflow — you know how those end.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00584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mission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731520" y="210312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3DDC84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103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463040" y="2075688"/>
            <a:ext cx="9966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Encoding table in your notebook — word, 8-bit codes, bead counts, and color key.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31520" y="292608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3DDC84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2926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463040" y="2898648"/>
            <a:ext cx="9966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initials converted to decimal, place-value work shown.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31520" y="374904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3DDC84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3749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463040" y="3721608"/>
            <a:ext cx="9966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bracelet — threaded from the knot, matching the table, photo in your notebook.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31520" y="457200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3DDC84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4572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463040" y="4544568"/>
            <a:ext cx="9966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neighbor's word decoded, confirmed and initialed by its owner.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0" y="6263640"/>
            <a:ext cx="121916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4B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is settled. Next we ask what else is secretly numbers — and the list is everything.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2026-08-22T21:07:16Z</dcterms:created>
  <dcterms:modified xsi:type="dcterms:W3CDTF">2026-08-22T21:07:16Z</dcterms:modified>
</cp:coreProperties>
</file>