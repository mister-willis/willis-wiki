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Creating a Beat: everyone owns a one-measure beat string, and it plays exactly once. Copying the makeBeat call sixteen times would work — and would be sixteen chances for a typo. Today: the for loop, the print() window into what it's doing, and a second loop with a job of the student's own choosing.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paste version be genuinely tempting before condemning it — it does work, and students will have written it. The argument against is maintenance, not laziness: sixteen copies means sixteen opportunities to drift apart. This is the readability/performance tradeoff conversation in miniature, and the loop wins it on every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header as English before dissecting syntax. The hardcoded-measure bug deserves preemption: makeBeat(drums, 2, 1, beat) inside a loop runs sixteen times and plays measure 1 sixteen times — ask 'where does your loop variable get USED?' whenever a song sounds like a skipping record. Live demo: loop the class beat across 8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green row is the target pattern; the amber row is the classic bite — a fifteen-measure song and no idea why. The step argument (third row) is a gift for second-loop designs: every OTHER measure is range(1, 17, 2). Let the console prove all three rows during practice rather than arguing from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WHERE the console lives (below the editor — easy to miss) before anyone writes a print. The requirement is print INSIDE the loop showing the loop index; one lonely number means the print sits outside the indentation. Console-as-debugger is the transferable skill: it answers 'what is my loop actually doing?' for the rest of their programming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loop is the period's one open design decision — no recipe. Looping makeBeat again does NOT satisfy it (the assignment italicizes 'other than'), and the rubric enforces it. Students stuck choosing get the section 4.3 pointer, not an assignment of one of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the trap worth springing: it loops perfectly and prints NOTHING, because there's no print call — predicting output means reading what's there, not what's usual. Verify all three live in EarSketch after predictions are down. Then release: loop the beat, add the print, design the second loop.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Deliverables mirror Turn It In: the script downloaded and submitted as .py in Google Classroom. Rubric's 4: the loop-driven beat with no copy-paste wreckage left, the measure printing from inside the loop, and a second loop with a genuinely different job. Tease: effects next — the difference between a sound and YOUR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for measure in range(1, 17):</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3DDC84"/>
                </a:solidFill>
                <a:latin typeface="Courier New" pitchFamily="34" charset="0"/>
                <a:ea typeface="Courier New" pitchFamily="34" charset="-122"/>
                <a:cs typeface="Courier New" pitchFamily="34" charset="-120"/>
              </a:rPr>
              <a:t>× 16</a:t>
            </a:r>
            <a:pPr algn="ctr" indent="0" marL="0">
              <a:buNone/>
            </a:pPr>
            <a:r>
              <a:rPr lang="en-US" sz="3800" b="1" dirty="0">
                <a:solidFill>
                  <a:srgbClr val="5A6B7B"/>
                </a:solidFill>
                <a:latin typeface="Courier New" pitchFamily="34" charset="0"/>
                <a:ea typeface="Courier New" pitchFamily="34" charset="-122"/>
                <a:cs typeface="Courier New" pitchFamily="34" charset="-120"/>
              </a:rPr>
              <a:t>, typed once</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Loops</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“Do it again,” the professional way</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High School Computer Science  •  EarSketch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sixteen-paste problem</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It works. That's the worst thing about it.</a:t>
            </a:r>
            <a:endParaRPr lang="en-US" sz="1700" dirty="0"/>
          </a:p>
        </p:txBody>
      </p:sp>
      <p:sp>
        <p:nvSpPr>
          <p:cNvPr id="4" name="Shape 2"/>
          <p:cNvSpPr/>
          <p:nvPr/>
        </p:nvSpPr>
        <p:spPr>
          <a:xfrm>
            <a:off x="640080" y="2011680"/>
            <a:ext cx="5303520" cy="3200400"/>
          </a:xfrm>
          <a:prstGeom prst="roundRect">
            <a:avLst>
              <a:gd name="adj" fmla="val 2286"/>
            </a:avLst>
          </a:prstGeom>
          <a:solidFill>
            <a:srgbClr val="13324F"/>
          </a:solidFill>
          <a:ln/>
        </p:spPr>
      </p:sp>
      <p:sp>
        <p:nvSpPr>
          <p:cNvPr id="5" name="Text 3"/>
          <p:cNvSpPr/>
          <p:nvPr/>
        </p:nvSpPr>
        <p:spPr>
          <a:xfrm>
            <a:off x="914400" y="2176272"/>
            <a:ext cx="4754880" cy="2871216"/>
          </a:xfrm>
          <a:prstGeom prst="rect">
            <a:avLst/>
          </a:prstGeom>
          <a:noFill/>
          <a:ln/>
        </p:spPr>
        <p:txBody>
          <a:bodyPr wrap="square" lIns="0" tIns="0" rIns="0" bIns="0" rtlCol="0" anchor="t"/>
          <a:lstStyle/>
          <a:p>
            <a:pPr indent="0" marL="0">
              <a:lnSpc>
                <a:spcPts val="2200"/>
              </a:lnSpc>
              <a:buNone/>
            </a:pPr>
            <a:r>
              <a:rPr lang="en-US" sz="1400" dirty="0">
                <a:solidFill>
                  <a:srgbClr val="DFF6EA"/>
                </a:solidFill>
                <a:latin typeface="Courier New" pitchFamily="34" charset="0"/>
                <a:ea typeface="Courier New" pitchFamily="34" charset="-122"/>
                <a:cs typeface="Courier New" pitchFamily="34" charset="-120"/>
              </a:rPr>
              <a:t>makeBeat(drums, 2, 1, beat)</a:t>
            </a:r>
            <a:endParaRPr lang="en-US" sz="1400" dirty="0"/>
          </a:p>
          <a:p>
            <a:pPr indent="0" marL="0">
              <a:lnSpc>
                <a:spcPts val="2200"/>
              </a:lnSpc>
              <a:buNone/>
            </a:pPr>
            <a:r>
              <a:rPr lang="en-US" sz="1400" dirty="0">
                <a:solidFill>
                  <a:srgbClr val="DFF6EA"/>
                </a:solidFill>
                <a:latin typeface="Courier New" pitchFamily="34" charset="0"/>
                <a:ea typeface="Courier New" pitchFamily="34" charset="-122"/>
                <a:cs typeface="Courier New" pitchFamily="34" charset="-120"/>
              </a:rPr>
              <a:t>makeBeat(drums, 2, 2, beat)</a:t>
            </a:r>
            <a:endParaRPr lang="en-US" sz="1400" dirty="0"/>
          </a:p>
          <a:p>
            <a:pPr indent="0" marL="0">
              <a:lnSpc>
                <a:spcPts val="2200"/>
              </a:lnSpc>
              <a:buNone/>
            </a:pPr>
            <a:r>
              <a:rPr lang="en-US" sz="1400" dirty="0">
                <a:solidFill>
                  <a:srgbClr val="DFF6EA"/>
                </a:solidFill>
                <a:latin typeface="Courier New" pitchFamily="34" charset="0"/>
                <a:ea typeface="Courier New" pitchFamily="34" charset="-122"/>
                <a:cs typeface="Courier New" pitchFamily="34" charset="-120"/>
              </a:rPr>
              <a:t>makeBeat(drums, 2, 3, beat)</a:t>
            </a:r>
            <a:endParaRPr lang="en-US" sz="1400" dirty="0"/>
          </a:p>
          <a:p>
            <a:pPr indent="0" marL="0">
              <a:lnSpc>
                <a:spcPts val="2200"/>
              </a:lnSpc>
              <a:buNone/>
            </a:pPr>
            <a:r>
              <a:rPr lang="en-US" sz="1400" dirty="0">
                <a:solidFill>
                  <a:srgbClr val="DFF6EA"/>
                </a:solidFill>
                <a:latin typeface="Courier New" pitchFamily="34" charset="0"/>
                <a:ea typeface="Courier New" pitchFamily="34" charset="-122"/>
                <a:cs typeface="Courier New" pitchFamily="34" charset="-120"/>
              </a:rPr>
              <a:t>makeBeat(drums, 2, 4, beat)</a:t>
            </a:r>
            <a:endParaRPr lang="en-US" sz="1400" dirty="0"/>
          </a:p>
          <a:p>
            <a:pPr indent="0" marL="0">
              <a:lnSpc>
                <a:spcPts val="2200"/>
              </a:lnSpc>
              <a:buNone/>
            </a:pPr>
            <a:r>
              <a:rPr lang="en-US" sz="1400" dirty="0">
                <a:solidFill>
                  <a:srgbClr val="DFF6EA"/>
                </a:solidFill>
                <a:latin typeface="Courier New" pitchFamily="34" charset="0"/>
                <a:ea typeface="Courier New" pitchFamily="34" charset="-122"/>
                <a:cs typeface="Courier New" pitchFamily="34" charset="-120"/>
              </a:rPr>
              <a:t># ...twelve more of these</a:t>
            </a:r>
            <a:endParaRPr lang="en-US" sz="1400" dirty="0"/>
          </a:p>
        </p:txBody>
      </p:sp>
      <p:sp>
        <p:nvSpPr>
          <p:cNvPr id="6" name="Shape 4"/>
          <p:cNvSpPr/>
          <p:nvPr/>
        </p:nvSpPr>
        <p:spPr>
          <a:xfrm>
            <a:off x="6217920" y="2011680"/>
            <a:ext cx="5303520" cy="3200400"/>
          </a:xfrm>
          <a:prstGeom prst="roundRect">
            <a:avLst>
              <a:gd name="adj" fmla="val 2286"/>
            </a:avLst>
          </a:prstGeom>
          <a:solidFill>
            <a:srgbClr val="FFFFFF"/>
          </a:solidFill>
          <a:ln w="12700">
            <a:solidFill>
              <a:srgbClr val="F4B740"/>
            </a:solidFill>
            <a:prstDash val="solid"/>
          </a:ln>
        </p:spPr>
      </p:sp>
      <p:sp>
        <p:nvSpPr>
          <p:cNvPr id="7" name="Text 5"/>
          <p:cNvSpPr/>
          <p:nvPr/>
        </p:nvSpPr>
        <p:spPr>
          <a:xfrm>
            <a:off x="6492240" y="2194560"/>
            <a:ext cx="475488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The cost</a:t>
            </a:r>
            <a:endParaRPr lang="en-US" sz="1600" dirty="0"/>
          </a:p>
        </p:txBody>
      </p:sp>
      <p:sp>
        <p:nvSpPr>
          <p:cNvPr id="8" name="Text 6"/>
          <p:cNvSpPr/>
          <p:nvPr/>
        </p:nvSpPr>
        <p:spPr>
          <a:xfrm>
            <a:off x="6492240" y="2670048"/>
            <a:ext cx="4754880" cy="235915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Sixteen lines that must agree with each other forever. Change the track? Sixteen edits. One typo in measure 11? Good luck hearing which line.</a:t>
            </a:r>
            <a:endParaRPr lang="en-US" sz="1350" dirty="0"/>
          </a:p>
          <a:p>
            <a:pPr indent="0" marL="0">
              <a:buNone/>
            </a:pPr>
            <a:endParaRPr lang="en-US" sz="1350" dirty="0"/>
          </a:p>
          <a:p>
            <a:pPr indent="0" marL="0">
              <a:buNone/>
            </a:pPr>
            <a:r>
              <a:rPr lang="en-US" sz="1350" dirty="0">
                <a:solidFill>
                  <a:srgbClr val="5A6B7B"/>
                </a:solidFill>
                <a:latin typeface="Calibri" pitchFamily="34" charset="0"/>
                <a:ea typeface="Calibri" pitchFamily="34" charset="-122"/>
                <a:cs typeface="Calibri" pitchFamily="34" charset="-120"/>
              </a:rPr>
              <a:t>Repetition a machine could do is repetition a machine SHOULD do.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for loop, read aloud</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“For each measure from 1 up to — not including — 17…”</a:t>
            </a:r>
            <a:endParaRPr lang="en-US" sz="1700" dirty="0"/>
          </a:p>
        </p:txBody>
      </p:sp>
      <p:sp>
        <p:nvSpPr>
          <p:cNvPr id="4" name="Shape 2"/>
          <p:cNvSpPr/>
          <p:nvPr/>
        </p:nvSpPr>
        <p:spPr>
          <a:xfrm>
            <a:off x="640080" y="2011680"/>
            <a:ext cx="6309360" cy="1828800"/>
          </a:xfrm>
          <a:prstGeom prst="roundRect">
            <a:avLst>
              <a:gd name="adj" fmla="val 4000"/>
            </a:avLst>
          </a:prstGeom>
          <a:solidFill>
            <a:srgbClr val="13324F"/>
          </a:solidFill>
          <a:ln/>
        </p:spPr>
      </p:sp>
      <p:sp>
        <p:nvSpPr>
          <p:cNvPr id="5" name="Text 3"/>
          <p:cNvSpPr/>
          <p:nvPr/>
        </p:nvSpPr>
        <p:spPr>
          <a:xfrm>
            <a:off x="914400" y="2176272"/>
            <a:ext cx="5760720" cy="1499616"/>
          </a:xfrm>
          <a:prstGeom prst="rect">
            <a:avLst/>
          </a:prstGeom>
          <a:noFill/>
          <a:ln/>
        </p:spPr>
        <p:txBody>
          <a:bodyPr wrap="square" lIns="0" tIns="0" rIns="0" bIns="0" rtlCol="0" anchor="t"/>
          <a:lstStyle/>
          <a:p>
            <a:pPr indent="0" marL="0">
              <a:lnSpc>
                <a:spcPts val="2800"/>
              </a:lnSpc>
              <a:buNone/>
            </a:pPr>
            <a:r>
              <a:rPr lang="en-US" sz="1700" dirty="0">
                <a:solidFill>
                  <a:srgbClr val="DFF6EA"/>
                </a:solidFill>
                <a:latin typeface="Courier New" pitchFamily="34" charset="0"/>
                <a:ea typeface="Courier New" pitchFamily="34" charset="-122"/>
                <a:cs typeface="Courier New" pitchFamily="34" charset="-120"/>
              </a:rPr>
              <a:t>for measure in range(1, 17):</a:t>
            </a:r>
            <a:endParaRPr lang="en-US" sz="1700" dirty="0"/>
          </a:p>
          <a:p>
            <a:pPr indent="0" marL="0">
              <a:lnSpc>
                <a:spcPts val="2800"/>
              </a:lnSpc>
              <a:buNone/>
            </a:pPr>
            <a:r>
              <a:rPr lang="en-US" sz="1700" dirty="0">
                <a:solidFill>
                  <a:srgbClr val="DFF6EA"/>
                </a:solidFill>
                <a:latin typeface="Courier New" pitchFamily="34" charset="0"/>
                <a:ea typeface="Courier New" pitchFamily="34" charset="-122"/>
                <a:cs typeface="Courier New" pitchFamily="34" charset="-120"/>
              </a:rPr>
              <a:t>    makeBeat(drums, 2, measure, beat)</a:t>
            </a:r>
            <a:endParaRPr lang="en-US" sz="1700" dirty="0"/>
          </a:p>
        </p:txBody>
      </p:sp>
      <p:sp>
        <p:nvSpPr>
          <p:cNvPr id="6" name="Shape 4"/>
          <p:cNvSpPr/>
          <p:nvPr/>
        </p:nvSpPr>
        <p:spPr>
          <a:xfrm>
            <a:off x="7315200" y="2011680"/>
            <a:ext cx="4297680" cy="3108960"/>
          </a:xfrm>
          <a:prstGeom prst="roundRect">
            <a:avLst>
              <a:gd name="adj" fmla="val 2353"/>
            </a:avLst>
          </a:prstGeom>
          <a:solidFill>
            <a:srgbClr val="FFFFFF"/>
          </a:solidFill>
          <a:ln w="12700">
            <a:solidFill>
              <a:srgbClr val="C7D2DC"/>
            </a:solidFill>
            <a:prstDash val="solid"/>
          </a:ln>
        </p:spPr>
      </p:sp>
      <p:sp>
        <p:nvSpPr>
          <p:cNvPr id="7" name="Text 5"/>
          <p:cNvSpPr/>
          <p:nvPr/>
        </p:nvSpPr>
        <p:spPr>
          <a:xfrm>
            <a:off x="7589520" y="2194560"/>
            <a:ext cx="374904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The loop variable works for a living</a:t>
            </a:r>
            <a:endParaRPr lang="en-US" sz="1600" dirty="0"/>
          </a:p>
        </p:txBody>
      </p:sp>
      <p:sp>
        <p:nvSpPr>
          <p:cNvPr id="8" name="Text 6"/>
          <p:cNvSpPr/>
          <p:nvPr/>
        </p:nvSpPr>
        <p:spPr>
          <a:xfrm>
            <a:off x="7589520" y="2670048"/>
            <a:ext cx="3749040" cy="226771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measure counts 1, 2, 3, … 16 — and each pass hands its current value to makeBeat as the measure argument.</a:t>
            </a:r>
            <a:endParaRPr lang="en-US" sz="1350" dirty="0"/>
          </a:p>
          <a:p>
            <a:pPr indent="0" marL="0">
              <a:buNone/>
            </a:pPr>
            <a:endParaRPr lang="en-US" sz="1350" dirty="0"/>
          </a:p>
          <a:p>
            <a:pPr indent="0" marL="0">
              <a:buNone/>
            </a:pPr>
            <a:r>
              <a:rPr lang="en-US" sz="1350" dirty="0">
                <a:solidFill>
                  <a:srgbClr val="5A6B7B"/>
                </a:solidFill>
                <a:latin typeface="Calibri" pitchFamily="34" charset="0"/>
                <a:ea typeface="Calibri" pitchFamily="34" charset="-122"/>
                <a:cs typeface="Calibri" pitchFamily="34" charset="-120"/>
              </a:rPr>
              <a:t>That's the whole trick: the variable that counts is a variable you can USE.</a:t>
            </a:r>
            <a:endParaRPr lang="en-US" sz="1350" dirty="0"/>
          </a:p>
        </p:txBody>
      </p:sp>
      <p:sp>
        <p:nvSpPr>
          <p:cNvPr id="9" name="Text 7"/>
          <p:cNvSpPr/>
          <p:nvPr/>
        </p:nvSpPr>
        <p:spPr>
          <a:xfrm>
            <a:off x="640080" y="4297680"/>
            <a:ext cx="6309360" cy="822960"/>
          </a:xfrm>
          <a:prstGeom prst="rect">
            <a:avLst/>
          </a:prstGeom>
          <a:noFill/>
          <a:ln/>
        </p:spPr>
        <p:txBody>
          <a:bodyPr wrap="square" lIns="0" tIns="0" rIns="0" bIns="0" rtlCol="0" anchor="ctr"/>
          <a:lstStyle/>
          <a:p>
            <a:pPr indent="0" marL="0">
              <a:buNone/>
            </a:pPr>
            <a:r>
              <a:rPr lang="en-US" sz="1500" b="1" dirty="0">
                <a:solidFill>
                  <a:srgbClr val="0A1F33"/>
                </a:solidFill>
                <a:latin typeface="Calibri" pitchFamily="34" charset="0"/>
                <a:ea typeface="Calibri" pitchFamily="34" charset="-122"/>
                <a:cs typeface="Calibri" pitchFamily="34" charset="-120"/>
              </a:rPr>
              <a:t>Two lines replace sixteen. The indented line is the loop's body — it runs every pass.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range()'s off-by-one personality</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end is excluded. Everyone gets bitten once.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88720" y="2103120"/>
          <a:ext cx="9784080" cy="914400"/>
        </p:xfrm>
        <a:graphic>
          <a:graphicData uri="http://schemas.openxmlformats.org/drawingml/2006/table">
            <a:tbl>
              <a:tblPr/>
              <a:tblGrid>
                <a:gridCol w="3261360"/>
                <a:gridCol w="3261360"/>
                <a:gridCol w="3261360"/>
              </a:tblGrid>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produces</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how many</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r>
              <a:tr h="56692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range(1, 17)</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1, 2, 3, … 16</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16</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r>
              <a:tr h="56692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range(1, 16)</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1, 2, 3, … 15</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15  — the mysteriously short song</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r>
              <a:tr h="56692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range(0, 8, 2)</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0, 2, 4, 6</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4  — the third number is the step</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029200"/>
            <a:ext cx="10972800" cy="548640"/>
          </a:xfrm>
          <a:prstGeom prst="rect">
            <a:avLst/>
          </a:prstGeom>
          <a:noFill/>
          <a:ln/>
        </p:spPr>
        <p:txBody>
          <a:bodyPr wrap="square" lIns="0" tIns="0" rIns="0" bIns="0" rtlCol="0" anchor="ctr"/>
          <a:lstStyle/>
          <a:p>
            <a:pPr algn="ctr" indent="0" marL="0">
              <a:buNone/>
            </a:pPr>
            <a:r>
              <a:rPr lang="en-US" sz="1600" b="1" dirty="0">
                <a:solidFill>
                  <a:srgbClr val="0A1F33"/>
                </a:solidFill>
                <a:latin typeface="Calibri" pitchFamily="34" charset="0"/>
                <a:ea typeface="Calibri" pitchFamily="34" charset="-122"/>
                <a:cs typeface="Calibri" pitchFamily="34" charset="-120"/>
              </a:rPr>
              <a:t>Want measures 1 through 16? Ask for range(1, 17). Yes, really.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console is the loop's heartbeat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print(measure) — and the invisible becomes visible.</a:t>
            </a:r>
            <a:endParaRPr lang="en-US" sz="1700" dirty="0"/>
          </a:p>
        </p:txBody>
      </p:sp>
      <p:sp>
        <p:nvSpPr>
          <p:cNvPr id="4" name="Text 2"/>
          <p:cNvSpPr/>
          <p:nvPr/>
        </p:nvSpPr>
        <p:spPr>
          <a:xfrm>
            <a:off x="2011680" y="2103120"/>
            <a:ext cx="1463040" cy="3108960"/>
          </a:xfrm>
          <a:prstGeom prst="rect">
            <a:avLst/>
          </a:prstGeom>
          <a:noFill/>
          <a:ln/>
        </p:spPr>
        <p:txBody>
          <a:bodyPr wrap="square" lIns="0" tIns="0" rIns="0" bIns="0" rtlCol="0" anchor="ctr"/>
          <a:lstStyle/>
          <a:p>
            <a:pPr indent="0" marL="0">
              <a:lnSpc>
                <a:spcPts val="3800"/>
              </a:lnSpc>
              <a:buNone/>
            </a:pPr>
            <a:r>
              <a:rPr lang="en-US" sz="3000" b="1" dirty="0">
                <a:solidFill>
                  <a:srgbClr val="3DDC84"/>
                </a:solidFill>
                <a:latin typeface="Courier New" pitchFamily="34" charset="0"/>
                <a:ea typeface="Courier New" pitchFamily="34" charset="-122"/>
                <a:cs typeface="Courier New" pitchFamily="34" charset="-120"/>
              </a:rPr>
              <a:t>1</a:t>
            </a:r>
            <a:endParaRPr lang="en-US" sz="3000" dirty="0"/>
          </a:p>
          <a:p>
            <a:pPr indent="0" marL="0">
              <a:lnSpc>
                <a:spcPts val="3800"/>
              </a:lnSpc>
              <a:buNone/>
            </a:pPr>
            <a:r>
              <a:rPr lang="en-US" sz="3000" b="1" dirty="0">
                <a:solidFill>
                  <a:srgbClr val="3DDC84"/>
                </a:solidFill>
                <a:latin typeface="Courier New" pitchFamily="34" charset="0"/>
                <a:ea typeface="Courier New" pitchFamily="34" charset="-122"/>
                <a:cs typeface="Courier New" pitchFamily="34" charset="-120"/>
              </a:rPr>
              <a:t>2</a:t>
            </a:r>
            <a:endParaRPr lang="en-US" sz="3000" dirty="0"/>
          </a:p>
          <a:p>
            <a:pPr indent="0" marL="0">
              <a:lnSpc>
                <a:spcPts val="3800"/>
              </a:lnSpc>
              <a:buNone/>
            </a:pPr>
            <a:r>
              <a:rPr lang="en-US" sz="3000" b="1" dirty="0">
                <a:solidFill>
                  <a:srgbClr val="3DDC84"/>
                </a:solidFill>
                <a:latin typeface="Courier New" pitchFamily="34" charset="0"/>
                <a:ea typeface="Courier New" pitchFamily="34" charset="-122"/>
                <a:cs typeface="Courier New" pitchFamily="34" charset="-120"/>
              </a:rPr>
              <a:t>3</a:t>
            </a:r>
            <a:endParaRPr lang="en-US" sz="3000" dirty="0"/>
          </a:p>
          <a:p>
            <a:pPr indent="0" marL="0">
              <a:lnSpc>
                <a:spcPts val="3800"/>
              </a:lnSpc>
              <a:buNone/>
            </a:pPr>
            <a:r>
              <a:rPr lang="en-US" sz="3000" b="1" dirty="0">
                <a:solidFill>
                  <a:srgbClr val="3DDC84"/>
                </a:solidFill>
                <a:latin typeface="Courier New" pitchFamily="34" charset="0"/>
                <a:ea typeface="Courier New" pitchFamily="34" charset="-122"/>
                <a:cs typeface="Courier New" pitchFamily="34" charset="-120"/>
              </a:rPr>
              <a:t>4</a:t>
            </a:r>
            <a:endParaRPr lang="en-US" sz="3000" dirty="0"/>
          </a:p>
          <a:p>
            <a:pPr indent="0" marL="0">
              <a:lnSpc>
                <a:spcPts val="3800"/>
              </a:lnSpc>
              <a:buNone/>
            </a:pPr>
            <a:r>
              <a:rPr lang="en-US" sz="3000" b="1" dirty="0">
                <a:solidFill>
                  <a:srgbClr val="3DDC84"/>
                </a:solidFill>
                <a:latin typeface="Courier New" pitchFamily="34" charset="0"/>
                <a:ea typeface="Courier New" pitchFamily="34" charset="-122"/>
                <a:cs typeface="Courier New" pitchFamily="34" charset="-120"/>
              </a:rPr>
              <a:t>…</a:t>
            </a:r>
            <a:endParaRPr lang="en-US" sz="3000" dirty="0"/>
          </a:p>
        </p:txBody>
      </p:sp>
      <p:sp>
        <p:nvSpPr>
          <p:cNvPr id="5" name="Text 3"/>
          <p:cNvSpPr/>
          <p:nvPr/>
        </p:nvSpPr>
        <p:spPr>
          <a:xfrm>
            <a:off x="4206240" y="2194560"/>
            <a:ext cx="6949440" cy="292608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Sixteen lines in the console — one per pass — each printing the loop variable's value at that moment.</a:t>
            </a:r>
            <a:endParaRPr lang="en-US" sz="1700" dirty="0"/>
          </a:p>
          <a:p>
            <a:pPr indent="0" marL="0">
              <a:buNone/>
            </a:pPr>
            <a:endParaRPr lang="en-US" sz="1700" dirty="0"/>
          </a:p>
          <a:p>
            <a:pPr indent="0" marL="0">
              <a:buNone/>
            </a:pPr>
            <a:r>
              <a:rPr lang="en-US" sz="1700" dirty="0">
                <a:solidFill>
                  <a:srgbClr val="C7D2DC"/>
                </a:solidFill>
                <a:latin typeface="Calibri" pitchFamily="34" charset="0"/>
                <a:ea typeface="Calibri" pitchFamily="34" charset="-122"/>
                <a:cs typeface="Calibri" pitchFamily="34" charset="-120"/>
              </a:rPr>
              <a:t>When a loop misbehaves, this is how you interrogate it. Musicians get a timeline; programmers get a console. You have both.</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A second loop, a different job</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requirement says: anything but makeBeat().</a:t>
            </a:r>
            <a:endParaRPr lang="en-US" sz="1700" dirty="0"/>
          </a:p>
        </p:txBody>
      </p:sp>
      <p:sp>
        <p:nvSpPr>
          <p:cNvPr id="4" name="Shape 2"/>
          <p:cNvSpPr/>
          <p:nvPr/>
        </p:nvSpPr>
        <p:spPr>
          <a:xfrm>
            <a:off x="640080" y="2011680"/>
            <a:ext cx="3566160" cy="3017520"/>
          </a:xfrm>
          <a:prstGeom prst="roundRect">
            <a:avLst>
              <a:gd name="adj" fmla="val 2424"/>
            </a:avLst>
          </a:prstGeom>
          <a:solidFill>
            <a:srgbClr val="FFFFFF"/>
          </a:solidFill>
          <a:ln w="12700">
            <a:solidFill>
              <a:srgbClr val="C7D2DC"/>
            </a:solidFill>
            <a:prstDash val="solid"/>
          </a:ln>
        </p:spPr>
      </p:sp>
      <p:sp>
        <p:nvSpPr>
          <p:cNvPr id="5" name="Text 3"/>
          <p:cNvSpPr/>
          <p:nvPr/>
        </p:nvSpPr>
        <p:spPr>
          <a:xfrm>
            <a:off x="914400" y="2194560"/>
            <a:ext cx="301752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Layer with fitMedia</a:t>
            </a:r>
            <a:endParaRPr lang="en-US" sz="1600" dirty="0"/>
          </a:p>
        </p:txBody>
      </p:sp>
      <p:sp>
        <p:nvSpPr>
          <p:cNvPr id="6" name="Text 4"/>
          <p:cNvSpPr/>
          <p:nvPr/>
        </p:nvSpPr>
        <p:spPr>
          <a:xfrm>
            <a:off x="914400" y="2670048"/>
            <a:ext cx="3017520" cy="21762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Loop fitMedia to tile a sound across measures — or every OTHER measure with a step of 2.</a:t>
            </a:r>
            <a:endParaRPr lang="en-US" sz="1350" dirty="0"/>
          </a:p>
        </p:txBody>
      </p:sp>
      <p:sp>
        <p:nvSpPr>
          <p:cNvPr id="7" name="Shape 5"/>
          <p:cNvSpPr/>
          <p:nvPr/>
        </p:nvSpPr>
        <p:spPr>
          <a:xfrm>
            <a:off x="4343400" y="2011680"/>
            <a:ext cx="3566160" cy="3017520"/>
          </a:xfrm>
          <a:prstGeom prst="roundRect">
            <a:avLst>
              <a:gd name="adj" fmla="val 2424"/>
            </a:avLst>
          </a:prstGeom>
          <a:solidFill>
            <a:srgbClr val="FFFFFF"/>
          </a:solidFill>
          <a:ln w="12700">
            <a:solidFill>
              <a:srgbClr val="C7D2DC"/>
            </a:solidFill>
            <a:prstDash val="solid"/>
          </a:ln>
        </p:spPr>
      </p:sp>
      <p:sp>
        <p:nvSpPr>
          <p:cNvPr id="8" name="Text 6"/>
          <p:cNvSpPr/>
          <p:nvPr/>
        </p:nvSpPr>
        <p:spPr>
          <a:xfrm>
            <a:off x="4617720" y="2194560"/>
            <a:ext cx="301752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Alternate sounds</a:t>
            </a:r>
            <a:endParaRPr lang="en-US" sz="1600" dirty="0"/>
          </a:p>
        </p:txBody>
      </p:sp>
      <p:sp>
        <p:nvSpPr>
          <p:cNvPr id="9" name="Text 7"/>
          <p:cNvSpPr/>
          <p:nvPr/>
        </p:nvSpPr>
        <p:spPr>
          <a:xfrm>
            <a:off x="4617720" y="2670048"/>
            <a:ext cx="3017520" cy="21762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Even measures get one sound, odd measures another — an if on the loop variable, or index arithmetic.</a:t>
            </a:r>
            <a:endParaRPr lang="en-US" sz="1350" dirty="0"/>
          </a:p>
        </p:txBody>
      </p:sp>
      <p:sp>
        <p:nvSpPr>
          <p:cNvPr id="10" name="Shape 8"/>
          <p:cNvSpPr/>
          <p:nvPr/>
        </p:nvSpPr>
        <p:spPr>
          <a:xfrm>
            <a:off x="8046720" y="2011680"/>
            <a:ext cx="3566160" cy="3017520"/>
          </a:xfrm>
          <a:prstGeom prst="roundRect">
            <a:avLst>
              <a:gd name="adj" fmla="val 2424"/>
            </a:avLst>
          </a:prstGeom>
          <a:solidFill>
            <a:srgbClr val="FFFFFF"/>
          </a:solidFill>
          <a:ln w="12700">
            <a:solidFill>
              <a:srgbClr val="C7D2DC"/>
            </a:solidFill>
            <a:prstDash val="solid"/>
          </a:ln>
        </p:spPr>
      </p:sp>
      <p:sp>
        <p:nvSpPr>
          <p:cNvPr id="11" name="Text 9"/>
          <p:cNvSpPr/>
          <p:nvPr/>
        </p:nvSpPr>
        <p:spPr>
          <a:xfrm>
            <a:off x="8321040" y="2194560"/>
            <a:ext cx="301752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Build a riser</a:t>
            </a:r>
            <a:endParaRPr lang="en-US" sz="1600" dirty="0"/>
          </a:p>
        </p:txBody>
      </p:sp>
      <p:sp>
        <p:nvSpPr>
          <p:cNvPr id="12" name="Text 10"/>
          <p:cNvSpPr/>
          <p:nvPr/>
        </p:nvSpPr>
        <p:spPr>
          <a:xfrm>
            <a:off x="8321040" y="2670048"/>
            <a:ext cx="3017520" cy="21762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Add a one-shot sound every 4 measures leading to a drop. Section 4.3 has more inspiration.</a:t>
            </a:r>
            <a:endParaRPr lang="en-US" sz="1350" dirty="0"/>
          </a:p>
        </p:txBody>
      </p:sp>
      <p:sp>
        <p:nvSpPr>
          <p:cNvPr id="13" name="Text 11"/>
          <p:cNvSpPr/>
          <p:nvPr/>
        </p:nvSpPr>
        <p:spPr>
          <a:xfrm>
            <a:off x="640080" y="5257800"/>
            <a:ext cx="10972800" cy="548640"/>
          </a:xfrm>
          <a:prstGeom prst="rect">
            <a:avLst/>
          </a:prstGeom>
          <a:noFill/>
          <a:ln/>
        </p:spPr>
        <p:txBody>
          <a:bodyPr wrap="square" lIns="0" tIns="0" rIns="0" bIns="0" rtlCol="0" anchor="ctr"/>
          <a:lstStyle/>
          <a:p>
            <a:pPr algn="ctr" indent="0" marL="0">
              <a:buNone/>
            </a:pPr>
            <a:r>
              <a:rPr lang="en-US" sz="1600" b="1" dirty="0">
                <a:solidFill>
                  <a:srgbClr val="0A1F33"/>
                </a:solidFill>
                <a:latin typeface="Calibri" pitchFamily="34" charset="0"/>
                <a:ea typeface="Calibri" pitchFamily="34" charset="-122"/>
                <a:cs typeface="Calibri" pitchFamily="34" charset="-120"/>
              </a:rPr>
              <a:t>Pick one, or invent one. The design decision is yours — that's the point.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predict the print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Console output on paper first. The console settles disputes.</a:t>
            </a:r>
            <a:endParaRPr lang="en-US" sz="1700" dirty="0"/>
          </a:p>
        </p:txBody>
      </p:sp>
      <p:sp>
        <p:nvSpPr>
          <p:cNvPr id="4" name="Shape 2"/>
          <p:cNvSpPr/>
          <p:nvPr/>
        </p:nvSpPr>
        <p:spPr>
          <a:xfrm>
            <a:off x="640080" y="2011680"/>
            <a:ext cx="5852160" cy="3108960"/>
          </a:xfrm>
          <a:prstGeom prst="roundRect">
            <a:avLst>
              <a:gd name="adj" fmla="val 2353"/>
            </a:avLst>
          </a:prstGeom>
          <a:solidFill>
            <a:srgbClr val="13324F"/>
          </a:solidFill>
          <a:ln/>
        </p:spPr>
      </p:sp>
      <p:sp>
        <p:nvSpPr>
          <p:cNvPr id="5" name="Text 3"/>
          <p:cNvSpPr/>
          <p:nvPr/>
        </p:nvSpPr>
        <p:spPr>
          <a:xfrm>
            <a:off x="914400" y="2176272"/>
            <a:ext cx="5303520" cy="2779776"/>
          </a:xfrm>
          <a:prstGeom prst="rect">
            <a:avLst/>
          </a:prstGeom>
          <a:noFill/>
          <a:ln/>
        </p:spPr>
        <p:txBody>
          <a:bodyPr wrap="square" lIns="0" tIns="0" rIns="0" bIns="0" rtlCol="0" anchor="t"/>
          <a:lstStyle/>
          <a:p>
            <a:pPr indent="0" marL="0">
              <a:lnSpc>
                <a:spcPts val="1900"/>
              </a:lnSpc>
              <a:buNone/>
            </a:pPr>
            <a:r>
              <a:rPr lang="en-US" sz="1350" dirty="0">
                <a:solidFill>
                  <a:srgbClr val="DFF6EA"/>
                </a:solidFill>
                <a:latin typeface="Courier New" pitchFamily="34" charset="0"/>
                <a:ea typeface="Courier New" pitchFamily="34" charset="-122"/>
                <a:cs typeface="Courier New" pitchFamily="34" charset="-120"/>
              </a:rPr>
              <a:t>A)  for i in range(2, 6):</a:t>
            </a:r>
            <a:endParaRPr lang="en-US" sz="1350" dirty="0"/>
          </a:p>
          <a:p>
            <a:pPr indent="0" marL="0">
              <a:lnSpc>
                <a:spcPts val="1900"/>
              </a:lnSpc>
              <a:buNone/>
            </a:pPr>
            <a:r>
              <a:rPr lang="en-US" sz="1350" dirty="0">
                <a:solidFill>
                  <a:srgbClr val="DFF6EA"/>
                </a:solidFill>
                <a:latin typeface="Courier New" pitchFamily="34" charset="0"/>
                <a:ea typeface="Courier New" pitchFamily="34" charset="-122"/>
                <a:cs typeface="Courier New" pitchFamily="34" charset="-120"/>
              </a:rPr>
              <a:t>        print(i)</a:t>
            </a:r>
            <a:endParaRPr lang="en-US" sz="1350" dirty="0"/>
          </a:p>
          <a:p>
            <a:pPr indent="0" marL="0">
              <a:lnSpc>
                <a:spcPts val="1900"/>
              </a:lnSpc>
              <a:buNone/>
            </a:pPr>
            <a:endParaRPr lang="en-US" sz="1350" dirty="0"/>
          </a:p>
          <a:p>
            <a:pPr indent="0" marL="0">
              <a:lnSpc>
                <a:spcPts val="1900"/>
              </a:lnSpc>
              <a:buNone/>
            </a:pPr>
            <a:r>
              <a:rPr lang="en-US" sz="1350" dirty="0">
                <a:solidFill>
                  <a:srgbClr val="DFF6EA"/>
                </a:solidFill>
                <a:latin typeface="Courier New" pitchFamily="34" charset="0"/>
                <a:ea typeface="Courier New" pitchFamily="34" charset="-122"/>
                <a:cs typeface="Courier New" pitchFamily="34" charset="-120"/>
              </a:rPr>
              <a:t>B)  for m in range(1, 17):</a:t>
            </a:r>
            <a:endParaRPr lang="en-US" sz="1350" dirty="0"/>
          </a:p>
          <a:p>
            <a:pPr indent="0" marL="0">
              <a:lnSpc>
                <a:spcPts val="1900"/>
              </a:lnSpc>
              <a:buNone/>
            </a:pPr>
            <a:r>
              <a:rPr lang="en-US" sz="1350" dirty="0">
                <a:solidFill>
                  <a:srgbClr val="DFF6EA"/>
                </a:solidFill>
                <a:latin typeface="Courier New" pitchFamily="34" charset="0"/>
                <a:ea typeface="Courier New" pitchFamily="34" charset="-122"/>
                <a:cs typeface="Courier New" pitchFamily="34" charset="-120"/>
              </a:rPr>
              <a:t>        makeBeat(drums, 2, m, beat)</a:t>
            </a:r>
            <a:endParaRPr lang="en-US" sz="1350" dirty="0"/>
          </a:p>
          <a:p>
            <a:pPr indent="0" marL="0">
              <a:lnSpc>
                <a:spcPts val="1900"/>
              </a:lnSpc>
              <a:buNone/>
            </a:pPr>
            <a:endParaRPr lang="en-US" sz="1350" dirty="0"/>
          </a:p>
          <a:p>
            <a:pPr indent="0" marL="0">
              <a:lnSpc>
                <a:spcPts val="1900"/>
              </a:lnSpc>
              <a:buNone/>
            </a:pPr>
            <a:r>
              <a:rPr lang="en-US" sz="1350" dirty="0">
                <a:solidFill>
                  <a:srgbClr val="DFF6EA"/>
                </a:solidFill>
                <a:latin typeface="Courier New" pitchFamily="34" charset="0"/>
                <a:ea typeface="Courier New" pitchFamily="34" charset="-122"/>
                <a:cs typeface="Courier New" pitchFamily="34" charset="-120"/>
              </a:rPr>
              <a:t>C)  for i in range(0, 8, 2):</a:t>
            </a:r>
            <a:endParaRPr lang="en-US" sz="1350" dirty="0"/>
          </a:p>
          <a:p>
            <a:pPr indent="0" marL="0">
              <a:lnSpc>
                <a:spcPts val="1900"/>
              </a:lnSpc>
              <a:buNone/>
            </a:pPr>
            <a:r>
              <a:rPr lang="en-US" sz="1350" dirty="0">
                <a:solidFill>
                  <a:srgbClr val="DFF6EA"/>
                </a:solidFill>
                <a:latin typeface="Courier New" pitchFamily="34" charset="0"/>
                <a:ea typeface="Courier New" pitchFamily="34" charset="-122"/>
                <a:cs typeface="Courier New" pitchFamily="34" charset="-120"/>
              </a:rPr>
              <a:t>        print(i)</a:t>
            </a:r>
            <a:endParaRPr lang="en-US" sz="1350" dirty="0"/>
          </a:p>
        </p:txBody>
      </p:sp>
      <p:sp>
        <p:nvSpPr>
          <p:cNvPr id="6" name="Shape 4"/>
          <p:cNvSpPr/>
          <p:nvPr/>
        </p:nvSpPr>
        <p:spPr>
          <a:xfrm>
            <a:off x="7040880" y="2011680"/>
            <a:ext cx="4572000" cy="3108960"/>
          </a:xfrm>
          <a:prstGeom prst="roundRect">
            <a:avLst>
              <a:gd name="adj" fmla="val 2353"/>
            </a:avLst>
          </a:prstGeom>
          <a:solidFill>
            <a:srgbClr val="FFFFFF"/>
          </a:solidFill>
          <a:ln w="12700">
            <a:solidFill>
              <a:srgbClr val="C7D2DC"/>
            </a:solidFill>
            <a:prstDash val="solid"/>
          </a:ln>
        </p:spPr>
      </p:sp>
      <p:sp>
        <p:nvSpPr>
          <p:cNvPr id="7" name="Text 5"/>
          <p:cNvSpPr/>
          <p:nvPr/>
        </p:nvSpPr>
        <p:spPr>
          <a:xfrm>
            <a:off x="7315200" y="2194560"/>
            <a:ext cx="402336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In your notebook</a:t>
            </a:r>
            <a:endParaRPr lang="en-US" sz="1600" dirty="0"/>
          </a:p>
        </p:txBody>
      </p:sp>
      <p:sp>
        <p:nvSpPr>
          <p:cNvPr id="8" name="Text 6"/>
          <p:cNvSpPr/>
          <p:nvPr/>
        </p:nvSpPr>
        <p:spPr>
          <a:xfrm>
            <a:off x="7315200" y="2670048"/>
            <a:ext cx="4023360" cy="2267712"/>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A: exactly what prints?</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B: how many measures of drums — and what prints? (Careful.)</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C: exactly what prints?</a:t>
            </a:r>
            <a:endParaRPr lang="en-US" sz="1400" dirty="0"/>
          </a:p>
        </p:txBody>
      </p:sp>
      <p:sp>
        <p:nvSpPr>
          <p:cNvPr id="9" name="Text 7"/>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100" dirty="0">
                <a:solidFill>
                  <a:srgbClr val="5A6B7B"/>
                </a:solidFill>
                <a:latin typeface="Courier New" pitchFamily="34" charset="0"/>
                <a:ea typeface="Courier New" pitchFamily="34" charset="-122"/>
                <a:cs typeface="Courier New" pitchFamily="34" charset="-120"/>
              </a:rPr>
              <a:t>Answers: A → 2 3 4 5 · B → 16 measures, nothing prints (no print in the body) · C → 0 2 4 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00584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148840"/>
            <a:ext cx="502920" cy="502920"/>
          </a:xfrm>
          <a:prstGeom prst="roundRect">
            <a:avLst>
              <a:gd name="adj" fmla="val 10909"/>
            </a:avLst>
          </a:prstGeom>
          <a:solidFill>
            <a:srgbClr val="3DDC84"/>
          </a:solidFill>
          <a:ln/>
        </p:spPr>
      </p:sp>
      <p:sp>
        <p:nvSpPr>
          <p:cNvPr id="4" name="Text 2"/>
          <p:cNvSpPr/>
          <p:nvPr/>
        </p:nvSpPr>
        <p:spPr>
          <a:xfrm>
            <a:off x="731520" y="21488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1214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Repeat your 16-character beat over multiple measures with a for loop — no pasted blocks left.</a:t>
            </a:r>
            <a:endParaRPr lang="en-US" sz="1600" dirty="0"/>
          </a:p>
        </p:txBody>
      </p:sp>
      <p:sp>
        <p:nvSpPr>
          <p:cNvPr id="6" name="Shape 4"/>
          <p:cNvSpPr/>
          <p:nvPr/>
        </p:nvSpPr>
        <p:spPr>
          <a:xfrm>
            <a:off x="731520" y="3063240"/>
            <a:ext cx="502920" cy="502920"/>
          </a:xfrm>
          <a:prstGeom prst="roundRect">
            <a:avLst>
              <a:gd name="adj" fmla="val 10909"/>
            </a:avLst>
          </a:prstGeom>
          <a:solidFill>
            <a:srgbClr val="3DDC84"/>
          </a:solidFill>
          <a:ln/>
        </p:spPr>
      </p:sp>
      <p:sp>
        <p:nvSpPr>
          <p:cNvPr id="7" name="Text 5"/>
          <p:cNvSpPr/>
          <p:nvPr/>
        </p:nvSpPr>
        <p:spPr>
          <a:xfrm>
            <a:off x="731520" y="30632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0358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print() the loop index (the song measure) from inside the loop, and add a second loop that does something other than makeBeat().</a:t>
            </a:r>
            <a:endParaRPr lang="en-US" sz="1600" dirty="0"/>
          </a:p>
        </p:txBody>
      </p:sp>
      <p:sp>
        <p:nvSpPr>
          <p:cNvPr id="9" name="Shape 7"/>
          <p:cNvSpPr/>
          <p:nvPr/>
        </p:nvSpPr>
        <p:spPr>
          <a:xfrm>
            <a:off x="731520" y="3977640"/>
            <a:ext cx="502920" cy="502920"/>
          </a:xfrm>
          <a:prstGeom prst="roundRect">
            <a:avLst>
              <a:gd name="adj" fmla="val 10909"/>
            </a:avLst>
          </a:prstGeom>
          <a:solidFill>
            <a:srgbClr val="3DDC84"/>
          </a:solidFill>
          <a:ln/>
        </p:spPr>
      </p:sp>
      <p:sp>
        <p:nvSpPr>
          <p:cNvPr id="10" name="Text 8"/>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39502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Turn in: download your script and submit the .py file in Google Classroom.</a:t>
            </a:r>
            <a:endParaRPr lang="en-US" sz="160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the effects rack — echo, reverb, and a fade you control from code.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2026-08-19T15:41:56Z</dcterms:created>
  <dcterms:modified xsi:type="dcterms:W3CDTF">2026-08-19T15:41:56Z</dcterms:modified>
</cp:coreProperties>
</file>