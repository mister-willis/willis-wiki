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finally, a game you can WIN — or at least rack up points in. Click the alien, score a point, and it teleports somewhere new so nobody parks the cursor. Three new tools today: text on screen, mouse events, and random numbers. Bridge from lab 40: same update/draw skeleton, new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do-now sentences onto the three tools — a spec became a feature list. Name the pattern out loud: games are rules plus feedback. Point out what's familiar (Actor, draw()) and what's new (a function that runs on CLICK, not on a timer). The alien Actor is named 'target' in this lab — a variable name that says what it's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wrong version FIRST — string without the f, braces printed verbatim. It's the literalism lesson again, and it inoculates against the day's most common bug. The ptext docs link in the lab has shadows, gradients, and fancier options for fast finishers. Score lives on the Actor (target.score = 0) — a variable we attach where it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special function they've met (update, draw, now on_mouse_down) — same deal: define it, and the engine calls it at the right moment, with information attached. Ask: 'Why does this one need pos when update() needs nothing?' A click is an event with a location. Distinguish collidepoint (point vs Actor) from lab 30's colliderect (Actor vs Actor) — grabbing the wrong one is a classic.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games need randomness: a predictable respawn is a solved game — park the cursor, click forever. Loot drops, shuffle play, dice — they already live on randint's cousins. Mechanics: import random goes with the other import at the top (imports live together), and randint INCLUDES both endpoints — which means 800 is possible, which means the alien can hang half off the edge. Hold that thought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the lab says 'please make these changes on your own,' and the rubric's 4 includes both, tested. Challenge 2 is the thinker: the margin has to account for the alien's size — a guessed constant that 'looks fine' fails the test question in the lab ('does it stay fully on screen at ALL times?'). Nudge strugglers toward asking how wide the alien is, not toward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 two minutes total, compare with a neighbor. Left card locks in the f-string rule before anyone types it wrong. Right card hands them the reasoning for challenge 2 without the numbers. Then release: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one file, bop_the_alien.py. Rubric's 4 includes both challenges TESTED — the miss penalty working and the margin holding on all four edges. A fun wrap if time allows: thirty-second bop tournament on the projector while the class watches the score behave. Tease: lab 60 throws hearts — lists and your first self-made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def on_mouse_down(pos):</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5A6B7B"/>
                </a:solidFill>
                <a:latin typeface="Courier New" pitchFamily="34" charset="0"/>
                <a:ea typeface="Courier New" pitchFamily="34" charset="-122"/>
                <a:cs typeface="Courier New" pitchFamily="34" charset="-120"/>
              </a:rPr>
              <a:t>f"Score: </a:t>
            </a:r>
            <a:pPr algn="ctr" indent="0" marL="0">
              <a:buNone/>
            </a:pPr>
            <a:r>
              <a:rPr lang="en-US" sz="3800" b="1" dirty="0">
                <a:solidFill>
                  <a:srgbClr val="3DDC84"/>
                </a:solidFill>
                <a:latin typeface="Courier New" pitchFamily="34" charset="0"/>
                <a:ea typeface="Courier New" pitchFamily="34" charset="-122"/>
                <a:cs typeface="Courier New" pitchFamily="34" charset="-120"/>
              </a:rPr>
              <a:t>{target.score}</a:t>
            </a:r>
            <a:pPr algn="ctr" indent="0" marL="0">
              <a:buNone/>
            </a:pPr>
            <a:r>
              <a:rPr lang="en-US" sz="3800" b="1" dirty="0">
                <a:solidFill>
                  <a:srgbClr val="5A6B7B"/>
                </a:solidFill>
                <a:latin typeface="Courier New" pitchFamily="34" charset="0"/>
                <a:ea typeface="Courier New" pitchFamily="34" charset="-122"/>
                <a:cs typeface="Courier New" pitchFamily="34" charset="-120"/>
              </a:rPr>
              <a:t>"</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Bop the Alien</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Mouse clicks, random respawns, and a score worth chasing</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Middle School Computer Science  •  Pygame Turbo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game, in three rules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You wrote these in the do-now. Now we build them.</a:t>
            </a:r>
            <a:endParaRPr lang="en-US" sz="1700" dirty="0"/>
          </a:p>
        </p:txBody>
      </p:sp>
      <p:sp>
        <p:nvSpPr>
          <p:cNvPr id="4" name="Shape 2"/>
          <p:cNvSpPr/>
          <p:nvPr/>
        </p:nvSpPr>
        <p:spPr>
          <a:xfrm>
            <a:off x="594360" y="2103120"/>
            <a:ext cx="3520440" cy="3017520"/>
          </a:xfrm>
          <a:prstGeom prst="roundRect">
            <a:avLst>
              <a:gd name="adj" fmla="val 2424"/>
            </a:avLst>
          </a:prstGeom>
          <a:solidFill>
            <a:srgbClr val="FFFFFF"/>
          </a:solidFill>
          <a:ln w="12700">
            <a:solidFill>
              <a:srgbClr val="C7D2DC"/>
            </a:solidFill>
            <a:prstDash val="solid"/>
          </a:ln>
        </p:spPr>
        <p:txBody>
          <a:bodyPr/>
          <a:p/>
        </p:txBody>
      </p:sp>
      <p:sp>
        <p:nvSpPr>
          <p:cNvPr id="5" name="Shape 3"/>
          <p:cNvSpPr/>
          <p:nvPr/>
        </p:nvSpPr>
        <p:spPr>
          <a:xfrm>
            <a:off x="868680" y="2331720"/>
            <a:ext cx="502920" cy="502920"/>
          </a:xfrm>
          <a:prstGeom prst="roundRect">
            <a:avLst>
              <a:gd name="adj" fmla="val 10909"/>
            </a:avLst>
          </a:prstGeom>
          <a:solidFill>
            <a:srgbClr val="3DDC84"/>
          </a:solidFill>
          <a:ln/>
        </p:spPr>
        <p:txBody>
          <a:bodyPr/>
          <a:p/>
        </p:txBody>
      </p:sp>
      <p:sp>
        <p:nvSpPr>
          <p:cNvPr id="6" name="Text 4"/>
          <p:cNvSpPr/>
          <p:nvPr/>
        </p:nvSpPr>
        <p:spPr>
          <a:xfrm>
            <a:off x="868680" y="23317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508760" y="2331720"/>
            <a:ext cx="2468880" cy="50292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Click the alien</a:t>
            </a:r>
            <a:endParaRPr lang="en-US" sz="1600" dirty="0"/>
          </a:p>
        </p:txBody>
      </p:sp>
      <p:sp>
        <p:nvSpPr>
          <p:cNvPr id="8" name="Text 6"/>
          <p:cNvSpPr/>
          <p:nvPr/>
        </p:nvSpPr>
        <p:spPr>
          <a:xfrm>
            <a:off x="868680" y="3063240"/>
            <a:ext cx="2971800" cy="182880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on_mouse_down() fires on every click; collidepoint() asks if it landed on the target.</a:t>
            </a:r>
            <a:endParaRPr lang="en-US" sz="1300" dirty="0"/>
          </a:p>
        </p:txBody>
      </p:sp>
      <p:sp>
        <p:nvSpPr>
          <p:cNvPr id="9" name="Shape 7"/>
          <p:cNvSpPr/>
          <p:nvPr/>
        </p:nvSpPr>
        <p:spPr>
          <a:xfrm>
            <a:off x="4389120" y="2103120"/>
            <a:ext cx="3520440" cy="3017520"/>
          </a:xfrm>
          <a:prstGeom prst="roundRect">
            <a:avLst>
              <a:gd name="adj" fmla="val 2424"/>
            </a:avLst>
          </a:prstGeom>
          <a:solidFill>
            <a:srgbClr val="FFFFFF"/>
          </a:solidFill>
          <a:ln w="12700">
            <a:solidFill>
              <a:srgbClr val="C7D2DC"/>
            </a:solidFill>
            <a:prstDash val="solid"/>
          </a:ln>
        </p:spPr>
        <p:txBody>
          <a:bodyPr/>
          <a:p/>
        </p:txBody>
      </p:sp>
      <p:sp>
        <p:nvSpPr>
          <p:cNvPr id="10" name="Shape 8"/>
          <p:cNvSpPr/>
          <p:nvPr/>
        </p:nvSpPr>
        <p:spPr>
          <a:xfrm>
            <a:off x="4663440" y="2331720"/>
            <a:ext cx="502920" cy="502920"/>
          </a:xfrm>
          <a:prstGeom prst="roundRect">
            <a:avLst>
              <a:gd name="adj" fmla="val 10909"/>
            </a:avLst>
          </a:prstGeom>
          <a:solidFill>
            <a:srgbClr val="3DDC84"/>
          </a:solidFill>
          <a:ln/>
        </p:spPr>
        <p:txBody>
          <a:bodyPr/>
          <a:p/>
        </p:txBody>
      </p:sp>
      <p:sp>
        <p:nvSpPr>
          <p:cNvPr id="11" name="Text 9"/>
          <p:cNvSpPr/>
          <p:nvPr/>
        </p:nvSpPr>
        <p:spPr>
          <a:xfrm>
            <a:off x="4663440" y="23317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5303520" y="2331720"/>
            <a:ext cx="2468880" cy="50292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Score a point</a:t>
            </a:r>
            <a:endParaRPr lang="en-US" sz="1600" dirty="0"/>
          </a:p>
        </p:txBody>
      </p:sp>
      <p:sp>
        <p:nvSpPr>
          <p:cNvPr id="13" name="Text 11"/>
          <p:cNvSpPr/>
          <p:nvPr/>
        </p:nvSpPr>
        <p:spPr>
          <a:xfrm>
            <a:off x="4663440" y="3063240"/>
            <a:ext cx="2971800" cy="182880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A number goes up, and the screen shows it live — that takes an f-string.</a:t>
            </a:r>
            <a:endParaRPr lang="en-US" sz="1300" dirty="0"/>
          </a:p>
        </p:txBody>
      </p:sp>
      <p:sp>
        <p:nvSpPr>
          <p:cNvPr id="14" name="Shape 12"/>
          <p:cNvSpPr/>
          <p:nvPr/>
        </p:nvSpPr>
        <p:spPr>
          <a:xfrm>
            <a:off x="8183880" y="2103120"/>
            <a:ext cx="3520440" cy="3017520"/>
          </a:xfrm>
          <a:prstGeom prst="roundRect">
            <a:avLst>
              <a:gd name="adj" fmla="val 2424"/>
            </a:avLst>
          </a:prstGeom>
          <a:solidFill>
            <a:srgbClr val="FFFFFF"/>
          </a:solidFill>
          <a:ln w="12700">
            <a:solidFill>
              <a:srgbClr val="C7D2DC"/>
            </a:solidFill>
            <a:prstDash val="solid"/>
          </a:ln>
        </p:spPr>
        <p:txBody>
          <a:bodyPr/>
          <a:p/>
        </p:txBody>
      </p:sp>
      <p:sp>
        <p:nvSpPr>
          <p:cNvPr id="15" name="Shape 13"/>
          <p:cNvSpPr/>
          <p:nvPr/>
        </p:nvSpPr>
        <p:spPr>
          <a:xfrm>
            <a:off x="8458200" y="2331720"/>
            <a:ext cx="502920" cy="502920"/>
          </a:xfrm>
          <a:prstGeom prst="roundRect">
            <a:avLst>
              <a:gd name="adj" fmla="val 10909"/>
            </a:avLst>
          </a:prstGeom>
          <a:solidFill>
            <a:srgbClr val="3DDC84"/>
          </a:solidFill>
          <a:ln/>
        </p:spPr>
        <p:txBody>
          <a:bodyPr/>
          <a:p/>
        </p:txBody>
      </p:sp>
      <p:sp>
        <p:nvSpPr>
          <p:cNvPr id="16" name="Text 14"/>
          <p:cNvSpPr/>
          <p:nvPr/>
        </p:nvSpPr>
        <p:spPr>
          <a:xfrm>
            <a:off x="8458200" y="23317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9098280" y="2331720"/>
            <a:ext cx="2468880" cy="50292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It moves</a:t>
            </a:r>
            <a:endParaRPr lang="en-US" sz="1600" dirty="0"/>
          </a:p>
        </p:txBody>
      </p:sp>
      <p:sp>
        <p:nvSpPr>
          <p:cNvPr id="18" name="Text 16"/>
          <p:cNvSpPr/>
          <p:nvPr/>
        </p:nvSpPr>
        <p:spPr>
          <a:xfrm>
            <a:off x="8458200" y="3063240"/>
            <a:ext cx="2971800" cy="182880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The alien respawns at a random spot. random.randint() picks it.</a:t>
            </a:r>
            <a:endParaRPr lang="en-US" sz="1300" dirty="0"/>
          </a:p>
        </p:txBody>
      </p:sp>
      <p:sp>
        <p:nvSpPr>
          <p:cNvPr id="19" name="Text 17"/>
          <p:cNvSpPr/>
          <p:nvPr/>
        </p:nvSpPr>
        <p:spPr>
          <a:xfrm>
            <a:off x="594360" y="5440680"/>
            <a:ext cx="10972800" cy="457200"/>
          </a:xfrm>
          <a:prstGeom prst="rect">
            <a:avLst/>
          </a:prstGeom>
          <a:noFill/>
          <a:ln/>
        </p:spPr>
        <p:txBody>
          <a:bodyPr wrap="square" lIns="0" tIns="0" rIns="0" bIns="0" rtlCol="0" anchor="ctr"/>
          <a:lstStyle/>
          <a:p>
            <a:pPr algn="ctr" indent="0" marL="0">
              <a:buNone/>
            </a:pPr>
            <a:r>
              <a:rPr lang="en-US" sz="1500" i="1" dirty="0">
                <a:solidFill>
                  <a:srgbClr val="5A6B7B"/>
                </a:solidFill>
                <a:latin typeface="Calibri" pitchFamily="34" charset="0"/>
                <a:ea typeface="Calibri" pitchFamily="34" charset="-122"/>
                <a:cs typeface="Calibri" pitchFamily="34" charset="-120"/>
              </a:rPr>
              <a:t>Whack-a-mole, minus the mallet insurance.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Putting words on the screen</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And putting a live number inside the words.</a:t>
            </a:r>
            <a:endParaRPr lang="en-US" sz="1700" dirty="0"/>
          </a:p>
        </p:txBody>
      </p:sp>
      <p:sp>
        <p:nvSpPr>
          <p:cNvPr id="4" name="Shape 2"/>
          <p:cNvSpPr/>
          <p:nvPr/>
        </p:nvSpPr>
        <p:spPr>
          <a:xfrm>
            <a:off x="731520" y="2011680"/>
            <a:ext cx="10698480" cy="1188720"/>
          </a:xfrm>
          <a:prstGeom prst="roundRect">
            <a:avLst>
              <a:gd name="adj" fmla="val 6154"/>
            </a:avLst>
          </a:prstGeom>
          <a:solidFill>
            <a:srgbClr val="13324F"/>
          </a:solidFill>
          <a:ln/>
        </p:spPr>
        <p:txBody>
          <a:bodyPr/>
          <a:p/>
        </p:txBody>
      </p:sp>
      <p:sp>
        <p:nvSpPr>
          <p:cNvPr id="5" name="Text 3"/>
          <p:cNvSpPr/>
          <p:nvPr/>
        </p:nvSpPr>
        <p:spPr>
          <a:xfrm>
            <a:off x="731520" y="2240280"/>
            <a:ext cx="1069848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screen.draw.text(</a:t>
            </a:r>
            <a:pPr algn="ctr" indent="0" marL="0">
              <a:buNone/>
            </a:pPr>
            <a:r>
              <a:rPr lang="en-US" sz="1500" b="1" dirty="0">
                <a:solidFill>
                  <a:srgbClr val="3DDC84"/>
                </a:solidFill>
                <a:latin typeface="Courier New" pitchFamily="34" charset="0"/>
                <a:ea typeface="Courier New" pitchFamily="34" charset="-122"/>
                <a:cs typeface="Courier New" pitchFamily="34" charset="-120"/>
              </a:rPr>
              <a:t>f"Score: {target.score}"</a:t>
            </a:r>
            <a:pPr algn="ctr" indent="0" marL="0">
              <a:buNone/>
            </a:pPr>
            <a:r>
              <a:rPr lang="en-US" sz="1500" b="1" dirty="0">
                <a:solidFill>
                  <a:srgbClr val="FFFFFF"/>
                </a:solidFill>
                <a:latin typeface="Courier New" pitchFamily="34" charset="0"/>
                <a:ea typeface="Courier New" pitchFamily="34" charset="-122"/>
                <a:cs typeface="Courier New" pitchFamily="34" charset="-120"/>
              </a:rPr>
              <a:t>, (20, 20), fontsize=48, color="black")</a:t>
            </a:r>
            <a:endParaRPr lang="en-US" sz="1500" dirty="0"/>
          </a:p>
        </p:txBody>
      </p:sp>
      <p:sp>
        <p:nvSpPr>
          <p:cNvPr id="6" name="Shape 4"/>
          <p:cNvSpPr/>
          <p:nvPr/>
        </p:nvSpPr>
        <p:spPr>
          <a:xfrm>
            <a:off x="731520" y="3566160"/>
            <a:ext cx="5303520" cy="2194560"/>
          </a:xfrm>
          <a:prstGeom prst="roundRect">
            <a:avLst>
              <a:gd name="adj" fmla="val 3333"/>
            </a:avLst>
          </a:prstGeom>
          <a:solidFill>
            <a:srgbClr val="FFFFFF"/>
          </a:solidFill>
          <a:ln w="12700">
            <a:solidFill>
              <a:srgbClr val="C7D2DC"/>
            </a:solidFill>
            <a:prstDash val="solid"/>
          </a:ln>
        </p:spPr>
        <p:txBody>
          <a:bodyPr/>
          <a:p/>
        </p:txBody>
      </p:sp>
      <p:sp>
        <p:nvSpPr>
          <p:cNvPr id="7" name="Text 5"/>
          <p:cNvSpPr/>
          <p:nvPr/>
        </p:nvSpPr>
        <p:spPr>
          <a:xfrm>
            <a:off x="1005840" y="3749040"/>
            <a:ext cx="475488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f does the magic</a:t>
            </a:r>
            <a:endParaRPr lang="en-US" sz="1700" dirty="0"/>
          </a:p>
        </p:txBody>
      </p:sp>
      <p:sp>
        <p:nvSpPr>
          <p:cNvPr id="8" name="Text 6"/>
          <p:cNvSpPr/>
          <p:nvPr/>
        </p:nvSpPr>
        <p:spPr>
          <a:xfrm>
            <a:off x="1005840" y="4224528"/>
            <a:ext cx="4754880" cy="135331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An f-string swaps whatever sits in { } for its current value. Without the f, the screen shows the words {target.score} — literally. Try it once on purpose.</a:t>
            </a:r>
            <a:endParaRPr lang="en-US" sz="1350" dirty="0"/>
          </a:p>
        </p:txBody>
      </p:sp>
      <p:sp>
        <p:nvSpPr>
          <p:cNvPr id="9" name="Shape 7"/>
          <p:cNvSpPr/>
          <p:nvPr/>
        </p:nvSpPr>
        <p:spPr>
          <a:xfrm>
            <a:off x="6309360" y="3566160"/>
            <a:ext cx="5303520" cy="2194560"/>
          </a:xfrm>
          <a:prstGeom prst="roundRect">
            <a:avLst>
              <a:gd name="adj" fmla="val 3333"/>
            </a:avLst>
          </a:prstGeom>
          <a:solidFill>
            <a:srgbClr val="FFFFFF"/>
          </a:solidFill>
          <a:ln w="12700">
            <a:solidFill>
              <a:srgbClr val="C7D2DC"/>
            </a:solidFill>
            <a:prstDash val="solid"/>
          </a:ln>
        </p:spPr>
        <p:txBody>
          <a:bodyPr/>
          <a:p/>
        </p:txBody>
      </p:sp>
      <p:sp>
        <p:nvSpPr>
          <p:cNvPr id="10" name="Text 8"/>
          <p:cNvSpPr/>
          <p:nvPr/>
        </p:nvSpPr>
        <p:spPr>
          <a:xfrm>
            <a:off x="6583680" y="3749040"/>
            <a:ext cx="475488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rest is placement</a:t>
            </a:r>
            <a:endParaRPr lang="en-US" sz="1700" dirty="0"/>
          </a:p>
        </p:txBody>
      </p:sp>
      <p:sp>
        <p:nvSpPr>
          <p:cNvPr id="11" name="Text 9"/>
          <p:cNvSpPr/>
          <p:nvPr/>
        </p:nvSpPr>
        <p:spPr>
          <a:xfrm>
            <a:off x="6583680" y="4224528"/>
            <a:ext cx="4754880" cy="135331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(20, 20) is where the text starts — 20 across, 20 down, in the coordinates you already know. fontsize and color mean what they say.</a:t>
            </a:r>
            <a:endParaRPr lang="en-US" sz="1350" dirty="0"/>
          </a:p>
        </p:txBody>
      </p:sp>
      <p:sp>
        <p:nvSpPr>
          <p:cNvPr id="12" name="Text 10"/>
          <p:cNvSpPr/>
          <p:nvPr/>
        </p:nvSpPr>
        <p:spPr>
          <a:xfrm>
            <a:off x="731520" y="5943600"/>
            <a:ext cx="10698480" cy="411480"/>
          </a:xfrm>
          <a:prstGeom prst="rect">
            <a:avLst/>
          </a:prstGeom>
          <a:noFill/>
          <a:ln/>
        </p:spPr>
        <p:txBody>
          <a:bodyPr wrap="square" lIns="0" tIns="0" rIns="0" bIns="0" rtlCol="0" anchor="ctr"/>
          <a:lstStyle/>
          <a:p>
            <a:pPr algn="ctr" indent="0" marL="0">
              <a:buNone/>
            </a:pPr>
            <a:r>
              <a:rPr lang="en-US" sz="1400" b="1" dirty="0">
                <a:solidFill>
                  <a:srgbClr val="0A1F33"/>
                </a:solidFill>
                <a:latin typeface="Calibri" pitchFamily="34" charset="0"/>
                <a:ea typeface="Calibri" pitchFamily="34" charset="-122"/>
                <a:cs typeface="Calibri" pitchFamily="34" charset="-120"/>
              </a:rPr>
              <a:t>Drawn in draw(), so it repaints every frame — the score is never stale.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mouse is an event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Clicks don't wait for update() — they arrive.</a:t>
            </a:r>
            <a:endParaRPr lang="en-US" sz="1700" dirty="0"/>
          </a:p>
        </p:txBody>
      </p:sp>
      <p:sp>
        <p:nvSpPr>
          <p:cNvPr id="4" name="Shape 2"/>
          <p:cNvSpPr/>
          <p:nvPr/>
        </p:nvSpPr>
        <p:spPr>
          <a:xfrm>
            <a:off x="731520" y="2103120"/>
            <a:ext cx="5852160" cy="2377440"/>
          </a:xfrm>
          <a:prstGeom prst="roundRect">
            <a:avLst>
              <a:gd name="adj" fmla="val 3077"/>
            </a:avLst>
          </a:prstGeom>
          <a:solidFill>
            <a:srgbClr val="13324F"/>
          </a:solidFill>
          <a:ln/>
        </p:spPr>
        <p:txBody>
          <a:bodyPr/>
          <a:p/>
        </p:txBody>
      </p:sp>
      <p:sp>
        <p:nvSpPr>
          <p:cNvPr id="5" name="Text 3"/>
          <p:cNvSpPr/>
          <p:nvPr/>
        </p:nvSpPr>
        <p:spPr>
          <a:xfrm>
            <a:off x="1005840" y="2423160"/>
            <a:ext cx="5394960" cy="1828800"/>
          </a:xfrm>
          <a:prstGeom prst="rect">
            <a:avLst/>
          </a:prstGeom>
          <a:noFill/>
          <a:ln/>
        </p:spPr>
        <p:txBody>
          <a:bodyPr wrap="square" lIns="0" tIns="0" rIns="0" bIns="0" rtlCol="0" anchor="ctr"/>
          <a:lstStyle/>
          <a:p>
            <a:pPr indent="0" marL="0">
              <a:lnSpc>
                <a:spcPts val="2600"/>
              </a:lnSpc>
              <a:buNone/>
            </a:pPr>
            <a:r>
              <a:rPr lang="en-US" sz="1350" b="1" dirty="0">
                <a:solidFill>
                  <a:srgbClr val="FFFFFF"/>
                </a:solidFill>
                <a:latin typeface="Courier New" pitchFamily="34" charset="0"/>
                <a:ea typeface="Courier New" pitchFamily="34" charset="-122"/>
                <a:cs typeface="Courier New" pitchFamily="34" charset="-120"/>
              </a:rPr>
              <a:t>def on_mouse_down(pos):
</a:t>
            </a:r>
            <a:pPr indent="0" marL="0">
              <a:lnSpc>
                <a:spcPts val="2600"/>
              </a:lnSpc>
              <a:buNone/>
            </a:pPr>
            <a:r>
              <a:rPr lang="en-US" sz="1350" b="1" dirty="0">
                <a:solidFill>
                  <a:srgbClr val="3DDC84"/>
                </a:solidFill>
                <a:latin typeface="Courier New" pitchFamily="34" charset="0"/>
                <a:ea typeface="Courier New" pitchFamily="34" charset="-122"/>
                <a:cs typeface="Courier New" pitchFamily="34" charset="-120"/>
              </a:rPr>
              <a:t>    if target.collidepoint(pos):
</a:t>
            </a:r>
            <a:pPr indent="0" marL="0">
              <a:lnSpc>
                <a:spcPts val="2600"/>
              </a:lnSpc>
              <a:buNone/>
            </a:pPr>
            <a:r>
              <a:rPr lang="en-US" sz="1350" b="1" dirty="0">
                <a:solidFill>
                  <a:srgbClr val="F4B740"/>
                </a:solidFill>
                <a:latin typeface="Courier New" pitchFamily="34" charset="0"/>
                <a:ea typeface="Courier New" pitchFamily="34" charset="-122"/>
                <a:cs typeface="Courier New" pitchFamily="34" charset="-120"/>
              </a:rPr>
              <a:t>        target.score = target.score + 1</a:t>
            </a:r>
            <a:endParaRPr lang="en-US" sz="1350" dirty="0"/>
          </a:p>
        </p:txBody>
      </p:sp>
      <p:sp>
        <p:nvSpPr>
          <p:cNvPr id="6" name="Shape 4"/>
          <p:cNvSpPr/>
          <p:nvPr/>
        </p:nvSpPr>
        <p:spPr>
          <a:xfrm>
            <a:off x="6949440" y="2103120"/>
            <a:ext cx="4663440" cy="1691640"/>
          </a:xfrm>
          <a:prstGeom prst="roundRect">
            <a:avLst>
              <a:gd name="adj" fmla="val 4324"/>
            </a:avLst>
          </a:prstGeom>
          <a:solidFill>
            <a:srgbClr val="FFFFFF"/>
          </a:solidFill>
          <a:ln w="12700">
            <a:solidFill>
              <a:srgbClr val="C7D2DC"/>
            </a:solidFill>
            <a:prstDash val="solid"/>
          </a:ln>
        </p:spPr>
        <p:txBody>
          <a:bodyPr/>
          <a:p/>
        </p:txBody>
      </p:sp>
      <p:sp>
        <p:nvSpPr>
          <p:cNvPr id="7" name="Text 5"/>
          <p:cNvSpPr/>
          <p:nvPr/>
        </p:nvSpPr>
        <p:spPr>
          <a:xfrm>
            <a:off x="7223760" y="2286000"/>
            <a:ext cx="411480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Pygame Turbo calls it for you</a:t>
            </a:r>
            <a:endParaRPr lang="en-US" sz="1700" dirty="0"/>
          </a:p>
        </p:txBody>
      </p:sp>
      <p:sp>
        <p:nvSpPr>
          <p:cNvPr id="8" name="Text 6"/>
          <p:cNvSpPr/>
          <p:nvPr/>
        </p:nvSpPr>
        <p:spPr>
          <a:xfrm>
            <a:off x="7223760" y="2761488"/>
            <a:ext cx="4114800" cy="8503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Like update() and draw() — you define it, the engine calls it on every click and hands you pos, the (x, y) of the click.</a:t>
            </a:r>
            <a:endParaRPr lang="en-US" sz="1350" dirty="0"/>
          </a:p>
        </p:txBody>
      </p:sp>
      <p:sp>
        <p:nvSpPr>
          <p:cNvPr id="9" name="Shape 7"/>
          <p:cNvSpPr/>
          <p:nvPr/>
        </p:nvSpPr>
        <p:spPr>
          <a:xfrm>
            <a:off x="6949440" y="3977640"/>
            <a:ext cx="4663440" cy="1691640"/>
          </a:xfrm>
          <a:prstGeom prst="roundRect">
            <a:avLst>
              <a:gd name="adj" fmla="val 4324"/>
            </a:avLst>
          </a:prstGeom>
          <a:solidFill>
            <a:srgbClr val="FFFFFF"/>
          </a:solidFill>
          <a:ln w="12700">
            <a:solidFill>
              <a:srgbClr val="F4B740"/>
            </a:solidFill>
            <a:prstDash val="solid"/>
          </a:ln>
        </p:spPr>
        <p:txBody>
          <a:bodyPr/>
          <a:p/>
        </p:txBody>
      </p:sp>
      <p:sp>
        <p:nvSpPr>
          <p:cNvPr id="10" name="Text 8"/>
          <p:cNvSpPr/>
          <p:nvPr/>
        </p:nvSpPr>
        <p:spPr>
          <a:xfrm>
            <a:off x="7223760" y="4160520"/>
            <a:ext cx="411480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collidepoint, not colliderect</a:t>
            </a:r>
            <a:endParaRPr lang="en-US" sz="1700" dirty="0"/>
          </a:p>
        </p:txBody>
      </p:sp>
      <p:sp>
        <p:nvSpPr>
          <p:cNvPr id="11" name="Text 9"/>
          <p:cNvSpPr/>
          <p:nvPr/>
        </p:nvSpPr>
        <p:spPr>
          <a:xfrm>
            <a:off x="7223760" y="4636008"/>
            <a:ext cx="4114800" cy="8503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 click is a point, not a rectangle. collidepoint(pos) asks: is this point inside the Actor's rectangle?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Unpredictability, on demand</a:t>
            </a:r>
            <a:endParaRPr lang="en-US" sz="3400" dirty="0"/>
          </a:p>
        </p:txBody>
      </p:sp>
      <p:sp>
        <p:nvSpPr>
          <p:cNvPr id="3" name="Text 1"/>
          <p:cNvSpPr/>
          <p:nvPr/>
        </p:nvSpPr>
        <p:spPr>
          <a:xfrm>
            <a:off x="0" y="2011680"/>
            <a:ext cx="12191695" cy="1188720"/>
          </a:xfrm>
          <a:prstGeom prst="rect">
            <a:avLst/>
          </a:prstGeom>
          <a:noFill/>
          <a:ln/>
        </p:spPr>
        <p:txBody>
          <a:bodyPr wrap="square" lIns="0" tIns="0" rIns="0" bIns="0" rtlCol="0" anchor="ctr"/>
          <a:lstStyle/>
          <a:p>
            <a:pPr algn="ctr" indent="0" marL="0">
              <a:buNone/>
            </a:pPr>
            <a:r>
              <a:rPr lang="en-US" sz="5200" b="1" dirty="0">
                <a:solidFill>
                  <a:srgbClr val="3DDC84"/>
                </a:solidFill>
                <a:latin typeface="Courier New" pitchFamily="34" charset="0"/>
                <a:ea typeface="Courier New" pitchFamily="34" charset="-122"/>
                <a:cs typeface="Courier New" pitchFamily="34" charset="-120"/>
              </a:rPr>
              <a:t>random.randint(0, 800)</a:t>
            </a:r>
            <a:endParaRPr lang="en-US" sz="5200" dirty="0"/>
          </a:p>
        </p:txBody>
      </p:sp>
      <p:sp>
        <p:nvSpPr>
          <p:cNvPr id="4" name="Text 2"/>
          <p:cNvSpPr/>
          <p:nvPr/>
        </p:nvSpPr>
        <p:spPr>
          <a:xfrm>
            <a:off x="0" y="3337560"/>
            <a:ext cx="12191695" cy="457200"/>
          </a:xfrm>
          <a:prstGeom prst="rect">
            <a:avLst/>
          </a:prstGeom>
          <a:noFill/>
          <a:ln/>
        </p:spPr>
        <p:txBody>
          <a:bodyPr wrap="square" lIns="0" tIns="0" rIns="0" bIns="0" rtlCol="0" anchor="ctr"/>
          <a:lstStyle/>
          <a:p>
            <a:pPr algn="ctr" indent="0" marL="0">
              <a:buNone/>
            </a:pPr>
            <a:r>
              <a:rPr lang="en-US" sz="1800" dirty="0">
                <a:solidFill>
                  <a:srgbClr val="C7D2DC"/>
                </a:solidFill>
                <a:latin typeface="Calibri" pitchFamily="34" charset="0"/>
                <a:ea typeface="Calibri" pitchFamily="34" charset="-122"/>
                <a:cs typeface="Calibri" pitchFamily="34" charset="-120"/>
              </a:rPr>
              <a:t>a whole number from 0 to 800 — endpoints included, different every time</a:t>
            </a:r>
            <a:endParaRPr lang="en-US" sz="1800" dirty="0"/>
          </a:p>
        </p:txBody>
      </p:sp>
      <p:sp>
        <p:nvSpPr>
          <p:cNvPr id="5" name="Text 3"/>
          <p:cNvSpPr/>
          <p:nvPr/>
        </p:nvSpPr>
        <p:spPr>
          <a:xfrm>
            <a:off x="0" y="4160520"/>
            <a:ext cx="12191695" cy="640080"/>
          </a:xfrm>
          <a:prstGeom prst="rect">
            <a:avLst/>
          </a:prstGeom>
          <a:noFill/>
          <a:ln/>
        </p:spPr>
        <p:txBody>
          <a:bodyPr wrap="square" lIns="0" tIns="0" rIns="0" bIns="0" rtlCol="0" anchor="ctr"/>
          <a:lstStyle/>
          <a:p>
            <a:pPr algn="ctr" indent="0" marL="0">
              <a:buNone/>
            </a:pPr>
            <a:r>
              <a:rPr lang="en-US" sz="2400" b="1" dirty="0">
                <a:solidFill>
                  <a:srgbClr val="C7D2DC"/>
                </a:solidFill>
                <a:latin typeface="Courier New" pitchFamily="34" charset="0"/>
                <a:ea typeface="Courier New" pitchFamily="34" charset="-122"/>
                <a:cs typeface="Courier New" pitchFamily="34" charset="-120"/>
              </a:rPr>
              <a:t>import random  </a:t>
            </a:r>
            <a:pPr algn="ctr" indent="0" marL="0">
              <a:buNone/>
            </a:pPr>
            <a:r>
              <a:rPr lang="en-US" sz="2400" b="1" dirty="0">
                <a:solidFill>
                  <a:srgbClr val="F4B740"/>
                </a:solidFill>
                <a:latin typeface="Courier New" pitchFamily="34" charset="0"/>
                <a:ea typeface="Courier New" pitchFamily="34" charset="-122"/>
                <a:cs typeface="Courier New" pitchFamily="34" charset="-120"/>
              </a:rPr>
              <a:t>— second line of the program</a:t>
            </a:r>
            <a:endParaRPr lang="en-US" sz="2400" dirty="0"/>
          </a:p>
        </p:txBody>
      </p:sp>
      <p:sp>
        <p:nvSpPr>
          <p:cNvPr id="6" name="Text 4"/>
          <p:cNvSpPr/>
          <p:nvPr/>
        </p:nvSpPr>
        <p:spPr>
          <a:xfrm>
            <a:off x="0" y="5029200"/>
            <a:ext cx="12191695" cy="548640"/>
          </a:xfrm>
          <a:prstGeom prst="rect">
            <a:avLst/>
          </a:prstGeom>
          <a:noFill/>
          <a:ln/>
        </p:spPr>
        <p:txBody>
          <a:bodyPr wrap="square" lIns="0" tIns="0" rIns="0" bIns="0" rtlCol="0" anchor="ctr"/>
          <a:lstStyle/>
          <a:p>
            <a:pPr algn="ctr" indent="0" marL="0">
              <a:buNone/>
            </a:pPr>
            <a:r>
              <a:rPr lang="en-US" sz="1600" i="1" dirty="0">
                <a:solidFill>
                  <a:srgbClr val="5A6B7B"/>
                </a:solidFill>
                <a:latin typeface="Calibri" pitchFamily="34" charset="0"/>
                <a:ea typeface="Calibri" pitchFamily="34" charset="-122"/>
                <a:cs typeface="Calibri" pitchFamily="34" charset="-120"/>
              </a:rPr>
              <a:t>Without randomness, the alien respawns in the same spot and the player parks the cursor. Games need surprise.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challenges — required, not decorative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changes you make on your own.</a:t>
            </a:r>
            <a:endParaRPr lang="en-US" sz="1700" dirty="0"/>
          </a:p>
        </p:txBody>
      </p:sp>
      <p:sp>
        <p:nvSpPr>
          <p:cNvPr id="4" name="Shape 2"/>
          <p:cNvSpPr/>
          <p:nvPr/>
        </p:nvSpPr>
        <p:spPr>
          <a:xfrm>
            <a:off x="731520" y="2103120"/>
            <a:ext cx="5303520" cy="3291840"/>
          </a:xfrm>
          <a:prstGeom prst="roundRect">
            <a:avLst>
              <a:gd name="adj" fmla="val 2222"/>
            </a:avLst>
          </a:prstGeom>
          <a:solidFill>
            <a:srgbClr val="FFFFFF"/>
          </a:solidFill>
          <a:ln w="12700">
            <a:solidFill>
              <a:srgbClr val="C7D2DC"/>
            </a:solidFill>
            <a:prstDash val="solid"/>
          </a:ln>
        </p:spPr>
        <p:txBody>
          <a:bodyPr/>
          <a:p/>
        </p:txBody>
      </p:sp>
      <p:sp>
        <p:nvSpPr>
          <p:cNvPr id="5" name="Text 3"/>
          <p:cNvSpPr/>
          <p:nvPr/>
        </p:nvSpPr>
        <p:spPr>
          <a:xfrm>
            <a:off x="1005840" y="2286000"/>
            <a:ext cx="475488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1 · Misses cost a point</a:t>
            </a:r>
            <a:endParaRPr lang="en-US" sz="1700" dirty="0"/>
          </a:p>
        </p:txBody>
      </p:sp>
      <p:sp>
        <p:nvSpPr>
          <p:cNvPr id="6" name="Text 4"/>
          <p:cNvSpPr/>
          <p:nvPr/>
        </p:nvSpPr>
        <p:spPr>
          <a:xfrm>
            <a:off x="1005840" y="2761488"/>
            <a:ext cx="4754880" cy="24505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Add an else to the collidepoint if: a click that misses the alien subtracts one from the score. Suddenly spraying clicks has a price, and the game has stakes.</a:t>
            </a:r>
            <a:endParaRPr lang="en-US" sz="1350" dirty="0"/>
          </a:p>
        </p:txBody>
      </p:sp>
      <p:sp>
        <p:nvSpPr>
          <p:cNvPr id="7" name="Shape 5"/>
          <p:cNvSpPr/>
          <p:nvPr/>
        </p:nvSpPr>
        <p:spPr>
          <a:xfrm>
            <a:off x="6309360" y="2103120"/>
            <a:ext cx="5303520" cy="3291840"/>
          </a:xfrm>
          <a:prstGeom prst="roundRect">
            <a:avLst>
              <a:gd name="adj" fmla="val 2222"/>
            </a:avLst>
          </a:prstGeom>
          <a:solidFill>
            <a:srgbClr val="FFFFFF"/>
          </a:solidFill>
          <a:ln w="12700">
            <a:solidFill>
              <a:srgbClr val="F4B740"/>
            </a:solidFill>
            <a:prstDash val="solid"/>
          </a:ln>
        </p:spPr>
        <p:txBody>
          <a:bodyPr/>
          <a:p/>
        </p:txBody>
      </p:sp>
      <p:sp>
        <p:nvSpPr>
          <p:cNvPr id="8" name="Text 6"/>
          <p:cNvSpPr/>
          <p:nvPr/>
        </p:nvSpPr>
        <p:spPr>
          <a:xfrm>
            <a:off x="6583680" y="2286000"/>
            <a:ext cx="475488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2 · Keep it fully on screen</a:t>
            </a:r>
            <a:endParaRPr lang="en-US" sz="1700" dirty="0"/>
          </a:p>
        </p:txBody>
      </p:sp>
      <p:sp>
        <p:nvSpPr>
          <p:cNvPr id="9" name="Text 7"/>
          <p:cNvSpPr/>
          <p:nvPr/>
        </p:nvSpPr>
        <p:spPr>
          <a:xfrm>
            <a:off x="6583680" y="2761488"/>
            <a:ext cx="4754880" cy="24505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randint(0, WIDTH) can put the alien's CENTER on the edge — half of it hangs off. Shrink the range on both ends so the whole alien always fits. Then test it: does it ever clip, on any edge?</a:t>
            </a:r>
            <a:endParaRPr lang="en-US" sz="1350" dirty="0"/>
          </a:p>
        </p:txBody>
      </p:sp>
      <p:sp>
        <p:nvSpPr>
          <p:cNvPr id="10" name="Text 8"/>
          <p:cNvSpPr/>
          <p:nvPr/>
        </p:nvSpPr>
        <p:spPr>
          <a:xfrm>
            <a:off x="731520" y="5669280"/>
            <a:ext cx="10881360" cy="457200"/>
          </a:xfrm>
          <a:prstGeom prst="rect">
            <a:avLst/>
          </a:prstGeom>
          <a:noFill/>
          <a:ln/>
        </p:spPr>
        <p:txBody>
          <a:bodyPr wrap="square" lIns="0" tIns="0" rIns="0" bIns="0" rtlCol="0" anchor="ctr"/>
          <a:lstStyle/>
          <a:p>
            <a:pPr algn="ctr" indent="0" marL="0">
              <a:buNone/>
            </a:pPr>
            <a:r>
              <a:rPr lang="en-US" sz="1450" b="1" dirty="0">
                <a:solidFill>
                  <a:srgbClr val="0A1F33"/>
                </a:solidFill>
                <a:latin typeface="Calibri" pitchFamily="34" charset="0"/>
                <a:ea typeface="Calibri" pitchFamily="34" charset="-122"/>
                <a:cs typeface="Calibri" pitchFamily="34" charset="-120"/>
              </a:rPr>
              <a:t>The guided steps taught the tools. The challenges are where you use them without a recipe.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before lab</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predictions, thirty seconds each.</a:t>
            </a:r>
            <a:endParaRPr lang="en-US" sz="1700" dirty="0"/>
          </a:p>
        </p:txBody>
      </p:sp>
      <p:sp>
        <p:nvSpPr>
          <p:cNvPr id="4" name="Shape 2"/>
          <p:cNvSpPr/>
          <p:nvPr/>
        </p:nvSpPr>
        <p:spPr>
          <a:xfrm>
            <a:off x="640080" y="2011680"/>
            <a:ext cx="5394960" cy="3566160"/>
          </a:xfrm>
          <a:prstGeom prst="roundRect">
            <a:avLst>
              <a:gd name="adj" fmla="val 2051"/>
            </a:avLst>
          </a:prstGeom>
          <a:solidFill>
            <a:srgbClr val="FFFFFF"/>
          </a:solidFill>
          <a:ln w="12700">
            <a:solidFill>
              <a:srgbClr val="C7D2DC"/>
            </a:solidFill>
            <a:prstDash val="solid"/>
          </a:ln>
        </p:spPr>
        <p:txBody>
          <a:bodyPr/>
          <a:p/>
        </p:txBody>
      </p:sp>
      <p:sp>
        <p:nvSpPr>
          <p:cNvPr id="5" name="Text 3"/>
          <p:cNvSpPr/>
          <p:nvPr/>
        </p:nvSpPr>
        <p:spPr>
          <a:xfrm>
            <a:off x="914400" y="2240280"/>
            <a:ext cx="4846320" cy="45720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Predict the string</a:t>
            </a:r>
            <a:endParaRPr lang="en-US" sz="1800" dirty="0"/>
          </a:p>
        </p:txBody>
      </p:sp>
      <p:sp>
        <p:nvSpPr>
          <p:cNvPr id="6" name="Text 4"/>
          <p:cNvSpPr/>
          <p:nvPr/>
        </p:nvSpPr>
        <p:spPr>
          <a:xfrm>
            <a:off x="914400" y="2743200"/>
            <a:ext cx="4846320" cy="548640"/>
          </a:xfrm>
          <a:prstGeom prst="rect">
            <a:avLst/>
          </a:prstGeom>
          <a:noFill/>
          <a:ln/>
        </p:spPr>
        <p:txBody>
          <a:bodyPr wrap="square" lIns="0" tIns="0" rIns="0" bIns="0" rtlCol="0" anchor="ctr"/>
          <a:lstStyle/>
          <a:p>
            <a:pPr indent="0" marL="0">
              <a:buNone/>
            </a:pPr>
            <a:r>
              <a:rPr lang="en-US" sz="1450" dirty="0">
                <a:solidFill>
                  <a:srgbClr val="5A6B7B"/>
                </a:solidFill>
                <a:latin typeface="Calibri" pitchFamily="34" charset="0"/>
                <a:ea typeface="Calibri" pitchFamily="34" charset="-122"/>
                <a:cs typeface="Calibri" pitchFamily="34" charset="-120"/>
              </a:rPr>
              <a:t>What exactly appears on screen for each of these?</a:t>
            </a:r>
            <a:endParaRPr lang="en-US" sz="1450" dirty="0"/>
          </a:p>
        </p:txBody>
      </p:sp>
      <p:sp>
        <p:nvSpPr>
          <p:cNvPr id="7" name="Text 5"/>
          <p:cNvSpPr/>
          <p:nvPr/>
        </p:nvSpPr>
        <p:spPr>
          <a:xfrm>
            <a:off x="914400" y="3383280"/>
            <a:ext cx="4846320" cy="1005840"/>
          </a:xfrm>
          <a:prstGeom prst="rect">
            <a:avLst/>
          </a:prstGeom>
          <a:noFill/>
          <a:ln/>
        </p:spPr>
        <p:txBody>
          <a:bodyPr wrap="square" lIns="0" tIns="0" rIns="0" bIns="0" rtlCol="0" anchor="ctr"/>
          <a:lstStyle/>
          <a:p>
            <a:pPr indent="0" marL="0">
              <a:lnSpc>
                <a:spcPts val="2800"/>
              </a:lnSpc>
              <a:buNone/>
            </a:pPr>
            <a:r>
              <a:rPr lang="en-US" sz="1500" b="1" dirty="0">
                <a:solidFill>
                  <a:srgbClr val="0A1F33"/>
                </a:solidFill>
                <a:latin typeface="Courier New" pitchFamily="34" charset="0"/>
                <a:ea typeface="Courier New" pitchFamily="34" charset="-122"/>
                <a:cs typeface="Courier New" pitchFamily="34" charset="-120"/>
              </a:rPr>
              <a:t>f"Score: {2 + 3}"</a:t>
            </a:r>
            <a:endParaRPr lang="en-US" sz="1500" dirty="0"/>
          </a:p>
          <a:p>
            <a:pPr indent="0" marL="0">
              <a:lnSpc>
                <a:spcPts val="2800"/>
              </a:lnSpc>
              <a:buNone/>
            </a:pPr>
            <a:r>
              <a:rPr lang="en-US" sz="1500" b="1" dirty="0">
                <a:solidFill>
                  <a:srgbClr val="0A1F33"/>
                </a:solidFill>
                <a:latin typeface="Courier New" pitchFamily="34" charset="0"/>
                <a:ea typeface="Courier New" pitchFamily="34" charset="-122"/>
                <a:cs typeface="Courier New" pitchFamily="34" charset="-120"/>
              </a:rPr>
              <a:t>"Score: {2 + 3}"</a:t>
            </a:r>
            <a:endParaRPr lang="en-US" sz="1500" dirty="0"/>
          </a:p>
        </p:txBody>
      </p:sp>
      <p:sp>
        <p:nvSpPr>
          <p:cNvPr id="8" name="Shape 6"/>
          <p:cNvSpPr/>
          <p:nvPr/>
        </p:nvSpPr>
        <p:spPr>
          <a:xfrm>
            <a:off x="6400800" y="2011680"/>
            <a:ext cx="5394960" cy="3566160"/>
          </a:xfrm>
          <a:prstGeom prst="roundRect">
            <a:avLst>
              <a:gd name="adj" fmla="val 2051"/>
            </a:avLst>
          </a:prstGeom>
          <a:solidFill>
            <a:srgbClr val="FFFFFF"/>
          </a:solidFill>
          <a:ln w="12700">
            <a:solidFill>
              <a:srgbClr val="C7D2DC"/>
            </a:solidFill>
            <a:prstDash val="solid"/>
          </a:ln>
        </p:spPr>
        <p:txBody>
          <a:bodyPr/>
          <a:p/>
        </p:txBody>
      </p:sp>
      <p:sp>
        <p:nvSpPr>
          <p:cNvPr id="9" name="Text 7"/>
          <p:cNvSpPr/>
          <p:nvPr/>
        </p:nvSpPr>
        <p:spPr>
          <a:xfrm>
            <a:off x="6675120" y="2240280"/>
            <a:ext cx="4846320" cy="45720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Predict the edge</a:t>
            </a:r>
            <a:endParaRPr lang="en-US" sz="1800" dirty="0"/>
          </a:p>
        </p:txBody>
      </p:sp>
      <p:sp>
        <p:nvSpPr>
          <p:cNvPr id="10" name="Text 8"/>
          <p:cNvSpPr/>
          <p:nvPr/>
        </p:nvSpPr>
        <p:spPr>
          <a:xfrm>
            <a:off x="6675120" y="2743200"/>
            <a:ext cx="4846320" cy="1463040"/>
          </a:xfrm>
          <a:prstGeom prst="rect">
            <a:avLst/>
          </a:prstGeom>
          <a:noFill/>
          <a:ln/>
        </p:spPr>
        <p:txBody>
          <a:bodyPr wrap="square" lIns="0" tIns="0" rIns="0" bIns="0" rtlCol="0" anchor="ctr"/>
          <a:lstStyle/>
          <a:p>
            <a:pPr indent="0" marL="0">
              <a:buNone/>
            </a:pPr>
            <a:r>
              <a:rPr lang="en-US" sz="1450" dirty="0">
                <a:solidFill>
                  <a:srgbClr val="5A6B7B"/>
                </a:solidFill>
                <a:latin typeface="Calibri" pitchFamily="34" charset="0"/>
                <a:ea typeface="Calibri" pitchFamily="34" charset="-122"/>
                <a:cs typeface="Calibri" pitchFamily="34" charset="-120"/>
              </a:rPr>
              <a:t>target.x = random.randint(0, WIDTH) — can the alien end up half off the screen? Which edges? What would you change?</a:t>
            </a:r>
            <a:endParaRPr lang="en-US" sz="1450" dirty="0"/>
          </a:p>
        </p:txBody>
      </p:sp>
      <p:sp>
        <p:nvSpPr>
          <p:cNvPr id="11" name="Text 9"/>
          <p:cNvSpPr/>
          <p:nvPr/>
        </p:nvSpPr>
        <p:spPr>
          <a:xfrm>
            <a:off x="6675120" y="4754880"/>
            <a:ext cx="4846320" cy="54864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This one IS challenge 2. You're welcome.</a:t>
            </a:r>
            <a:endParaRPr lang="en-US" sz="1350" dirty="0"/>
          </a:p>
        </p:txBody>
      </p:sp>
      <p:sp>
        <p:nvSpPr>
          <p:cNvPr id="12" name="Text 10"/>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050" dirty="0">
                <a:solidFill>
                  <a:srgbClr val="5A6B7B"/>
                </a:solidFill>
                <a:latin typeface="Courier New" pitchFamily="34" charset="0"/>
                <a:ea typeface="Courier New" pitchFamily="34" charset="-122"/>
                <a:cs typeface="Courier New" pitchFamily="34" charset="-120"/>
              </a:rPr>
              <a:t>Answers: Score: 5 · Score: {2 + 3} verbatim  |  yes — all four edges · shrink both ends of the range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09728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286000"/>
            <a:ext cx="502920" cy="502920"/>
          </a:xfrm>
          <a:prstGeom prst="roundRect">
            <a:avLst>
              <a:gd name="adj" fmla="val 10909"/>
            </a:avLst>
          </a:prstGeom>
          <a:solidFill>
            <a:srgbClr val="3DDC84"/>
          </a:solidFill>
          <a:ln/>
        </p:spPr>
        <p:txBody>
          <a:bodyPr/>
          <a:p/>
        </p:txBody>
      </p:sp>
      <p:sp>
        <p:nvSpPr>
          <p:cNvPr id="4" name="Text 2"/>
          <p:cNvSpPr/>
          <p:nvPr/>
        </p:nvSpPr>
        <p:spPr>
          <a:xfrm>
            <a:off x="731520" y="22860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25856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score label in the corner that updates on every hit.</a:t>
            </a:r>
            <a:endParaRPr lang="en-US" sz="1600" dirty="0"/>
          </a:p>
        </p:txBody>
      </p:sp>
      <p:sp>
        <p:nvSpPr>
          <p:cNvPr id="6" name="Shape 4"/>
          <p:cNvSpPr/>
          <p:nvPr/>
        </p:nvSpPr>
        <p:spPr>
          <a:xfrm>
            <a:off x="731520" y="3154680"/>
            <a:ext cx="502920" cy="502920"/>
          </a:xfrm>
          <a:prstGeom prst="roundRect">
            <a:avLst>
              <a:gd name="adj" fmla="val 10909"/>
            </a:avLst>
          </a:prstGeom>
          <a:solidFill>
            <a:srgbClr val="3DDC84"/>
          </a:solidFill>
          <a:ln/>
        </p:spPr>
        <p:txBody>
          <a:bodyPr/>
          <a:p/>
        </p:txBody>
      </p:sp>
      <p:sp>
        <p:nvSpPr>
          <p:cNvPr id="7" name="Text 5"/>
          <p:cNvSpPr/>
          <p:nvPr/>
        </p:nvSpPr>
        <p:spPr>
          <a:xfrm>
            <a:off x="731520" y="315468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12724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alien respawns at a random spot after each bop — fully on screen, every time.</a:t>
            </a:r>
            <a:endParaRPr lang="en-US" sz="1600" dirty="0"/>
          </a:p>
        </p:txBody>
      </p:sp>
      <p:sp>
        <p:nvSpPr>
          <p:cNvPr id="9" name="Shape 7"/>
          <p:cNvSpPr/>
          <p:nvPr/>
        </p:nvSpPr>
        <p:spPr>
          <a:xfrm>
            <a:off x="731520" y="4023360"/>
            <a:ext cx="502920" cy="502920"/>
          </a:xfrm>
          <a:prstGeom prst="roundRect">
            <a:avLst>
              <a:gd name="adj" fmla="val 10909"/>
            </a:avLst>
          </a:prstGeom>
          <a:solidFill>
            <a:srgbClr val="3DDC84"/>
          </a:solidFill>
          <a:ln/>
        </p:spPr>
        <p:txBody>
          <a:bodyPr/>
          <a:p/>
        </p:txBody>
      </p:sp>
      <p:sp>
        <p:nvSpPr>
          <p:cNvPr id="10" name="Text 8"/>
          <p:cNvSpPr/>
          <p:nvPr/>
        </p:nvSpPr>
        <p:spPr>
          <a:xfrm>
            <a:off x="731520" y="402336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399592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Misses subtract a point. Test both challenges, then submit bop_the_alien.py in Google Classroom.</a:t>
            </a:r>
            <a:endParaRPr lang="en-US" sz="160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lesson: the alien goes on offense — projectiles, and your first custom function.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2026-08-19T15:30:53Z</dcterms:created>
  <dcterms:modified xsi:type="dcterms:W3CDTF">2026-08-19T15:30:53Z</dcterms:modified>
</cp:coreProperties>
</file>