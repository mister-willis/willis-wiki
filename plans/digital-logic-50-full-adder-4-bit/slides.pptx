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0574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capstone, two days. Day 1: the full adder — a half adder that accepts a carry — built from two HAs and an OR. Day 2: chain four of them and add real 4-bit numbers, including the one that doesn't fit. The title isn't a joke; by tomorrow's bell their circuit performs actual arithmetic, and the ladder from voltage to computation is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move as the XOR reveal: extract the algorithm from what students already do by hand. Every column past the first adds THREE bits. So the required part is defined by its interface — three in, two out — before anyone wires anything. That's engineering order: spec first, build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new parts — the FA is composed from two sealed HAs plus MyOR, which is the ladder doing its job. Eight rows because three inputs: 2³, the truth-table slide from lab 20 paying off. The 1+1+1 row (amber) totals 3, which is binary 11: SUM 1, Cout 1. The side question (can both HAs carry at once?) has answer no — worth a notebook argument, not a lecture. Day 1 lab: predict eight rows, build FA, verify every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chain is hand addition, mechanized: each column's carry-out feeds the next column's carry-in. 'Ripple carry' because a carry born in column 0 can propagate the whole width — have them trace 0001 + 1111 and watch it travel. The ground note is the lab's second-most-common bug and a straight callback to the Z lesson: floating means no answer, and the first Cin must be told 'zero,' not left to guess. Wiring order discipline: A0 to the TOP adder — the lab warns twice for a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Overflow graduates from vocabulary (lab 10) to an event they can produce on demand. The sum bits alone LIE — they read 2 — and only Cout tells the truth. Real-world hooks: old car odometers rolling over, vintage game scores wrapping to zero, and real integer-overflow bugs in shipping software. AP CSP connection: DAT-1.B, consequences of fixed-width representation. This becomes test condition 3 in their test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test plan is the deliverable that makes this engineering instead of arts and crafts. One condition per case — an overflow case that also happens to be the only carry case proves less than two separate cases would. The by-hand expected sums are non-negotiable and the rubric pays for them: a confidently wrong adder (scrambled input order) produces beautiful screenshots. Students pick their own numbers; the examples here are defaults, not assignments.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quiet minutes in notebooks before any wiring — the plan exists before the machine does. Circulate and challenge weak cases: 'does your carry case overflow too? Then which condition does it prove?' Once plans are down, release to the build. The rest of the period is the 4-bit adder and evidence collection.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unit with the students doing the closing: reconstruct the ladder aloud, bottom-up, one rung per volunteer. Then the zoom-out: a real ALU is this idea at 64 bits with cleverer carry handling — wider and faster, not different. Deliverables restated in the footer. If there's a minute left: 'we analyzed it to death, and you built it anyway.'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0111 + 0011 = 1010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 </a:t>
            </a: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 </a:t>
            </a: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r>
              <a:rPr lang="en-US" sz="38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×4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Useful Binary Computer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adder, and a machine that does real math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Computer Science  •  Digital Logic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 with carry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280160" y="2011680"/>
            <a:ext cx="2377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30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19</a:t>
            </a:r>
            <a:endParaRPr lang="en-US" sz="30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+27</a:t>
            </a:r>
            <a:endParaRPr lang="en-US" sz="30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</a:t>
            </a:r>
            <a:endParaRPr lang="en-US" sz="30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46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206240" y="21031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tens column you added three things: 1 (the carry), then 1 and 2. Your half adder has sockets for two.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06240" y="3566160"/>
            <a:ext cx="73152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480560" y="37490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upgrade, stated as an interface: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80560" y="42062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adder:  </a:t>
            </a:r>
            <a:r>
              <a:rPr lang="en-US" sz="21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+ B + Cin</a:t>
            </a:r>
            <a:r>
              <a:rPr lang="en-US" sz="21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21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SUM, Cout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adder: built, not invented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half adders and an OR gate.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858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34440" y="2148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HA adds A + B.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34440" y="2697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HA adds that result + Cin → final SUM.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34440" y="3246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HA may carry — OR merges them into Cout.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9776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both half adders carry at once? Work a row and see — it’s a good notebook argument.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874520"/>
          <a:ext cx="4846320" cy="3456432"/>
        </p:xfrm>
        <a:graphic>
          <a:graphicData uri="http://schemas.openxmlformats.org/drawingml/2006/table">
            <a:tbl>
              <a:tblPr/>
              <a:tblGrid>
                <a:gridCol w="969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85800" y="52120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all eight rows before you build. 1+1+1 is the row that humbles people.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Ripple carry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the columns the way your pencil does.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1332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  B0  →  S0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0" y="31089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66160" y="274320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1332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66160" y="274320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FA₁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66160" y="3794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  B1  →  S1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31089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09360" y="274320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1332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0" y="274320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FA₂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309360" y="3794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  B2  →  S2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0" y="31089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052560" y="274320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1332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052560" y="274320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FA₃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052560" y="3794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A3  B3  →  S3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572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Cout feeds the next Cin — a carry born in column 0 can ripple through every column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5257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column has no incoming carry — tie FA₀’s Cin to </a:t>
            </a: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</a:t>
            </a:r>
            <a:r>
              <a:rPr lang="en-US" sz="15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Left floating, it reads Z — lab 30 already taught you that mystery.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Overflow: when the box is too small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173736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1001 + 1001 = 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+ 9 = 18, which is </a:t>
            </a:r>
            <a:r>
              <a:rPr lang="en-US" sz="19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10010</a:t>
            </a:r>
            <a:r>
              <a:rPr lang="en-US" sz="19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five bits. Your adder has four.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194560" y="356616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194560" y="3675888"/>
            <a:ext cx="3657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0010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194560" y="462686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as 2 — wrong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356616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09360" y="3675888"/>
            <a:ext cx="3657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 = 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309360" y="462686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truth-teller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0" y="571500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Fixed-width numbers are a promise with a limit. Cout is the wire that admits it.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Engineers don’t hope. They test.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conditions, chosen on purpose.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94767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carry anywhere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0" y="194767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e.g. 0101 + 0010 — the plumbing works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318211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carry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0" y="318211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e.g. 0011 + 0011 — the ripple works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443484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441655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0" y="441655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e.g. 1001 + 1001 — Cout tells the truth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1520" y="54864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555955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each expected sum by hand first and write it down. Evidence that checks itself — a screenshot of a wrong answer looks exactly like a screenshot of a right one until you know what to expect.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design your tests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wire anything today.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23317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1 — no carry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68680" y="310896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two 4-bit numbers whose columns never carry. Prove it by adding them by hand.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4840" y="210312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63440" y="23317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2 — carry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663440" y="310896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pair where at least one column carries. Mark which column, and where the carry lands.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0" y="210312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58200" y="23317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3 — overflow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458200" y="310896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pair whose sum needs five bits. Write the true sum, then what S3–S0 will falsely read.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morning do-now already produced condition 3. Two to go.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ladder, complete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5074920"/>
            <a:ext cx="3749040" cy="603504"/>
          </a:xfrm>
          <a:prstGeom prst="roundRect">
            <a:avLst>
              <a:gd name="adj" fmla="val 12121"/>
            </a:avLst>
          </a:prstGeom>
          <a:solidFill>
            <a:srgbClr val="1332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0120" y="510235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voltage</a:t>
            </a:r>
            <a:r>
              <a:rPr lang="en-US" sz="12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high / low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89888" y="4325112"/>
            <a:ext cx="3749040" cy="603504"/>
          </a:xfrm>
          <a:prstGeom prst="roundRect">
            <a:avLst>
              <a:gd name="adj" fmla="val 12121"/>
            </a:avLst>
          </a:prstGeom>
          <a:solidFill>
            <a:srgbClr val="1332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18488" y="435254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transistor</a:t>
            </a:r>
            <a:r>
              <a:rPr lang="en-US" sz="12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 switch voltage flips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48256" y="3575304"/>
            <a:ext cx="3749040" cy="603504"/>
          </a:xfrm>
          <a:prstGeom prst="roundRect">
            <a:avLst>
              <a:gd name="adj" fmla="val 12121"/>
            </a:avLst>
          </a:prstGeom>
          <a:solidFill>
            <a:srgbClr val="1332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76856" y="360273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</a:t>
            </a:r>
            <a:r>
              <a:rPr lang="en-US" sz="12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AND · OR · NOT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06624" y="2825496"/>
            <a:ext cx="3749040" cy="603504"/>
          </a:xfrm>
          <a:prstGeom prst="roundRect">
            <a:avLst>
              <a:gd name="adj" fmla="val 12121"/>
            </a:avLst>
          </a:prstGeom>
          <a:solidFill>
            <a:srgbClr val="1332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35224" y="28529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compound gate</a:t>
            </a:r>
            <a:r>
              <a:rPr lang="en-US" sz="12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XOR · half adder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64992" y="2075688"/>
            <a:ext cx="3749040" cy="603504"/>
          </a:xfrm>
          <a:prstGeom prst="roundRect">
            <a:avLst>
              <a:gd name="adj" fmla="val 12121"/>
            </a:avLst>
          </a:prstGeom>
          <a:solidFill>
            <a:srgbClr val="3DDC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93592" y="21031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adder</a:t>
            </a:r>
            <a:r>
              <a:rPr lang="en-US" sz="1200" dirty="0">
                <a:solidFill>
                  <a:srgbClr val="13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FA × 4 — real arithmetic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0" y="301752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every processor sits an ALU — an arithmetic logic unit — and inside it, this exact idea, wider and faster.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0" y="46634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3DD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didn’t draw a computer. You built one.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in: eight-row truth table, test plan, and three screenshots — one per condition.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1279</Words>
  <Application>Microsoft Macintosh PowerPoint</Application>
  <PresentationFormat>Widescreen</PresentationFormat>
  <Paragraphs>138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Steve Willis</cp:lastModifiedBy>
  <cp:revision>3</cp:revision>
  <dcterms:created xsi:type="dcterms:W3CDTF">2026-08-17T04:27:38Z</dcterms:created>
  <dcterms:modified xsi:type="dcterms:W3CDTF">2026-08-20T15:05:22Z</dcterms:modified>
</cp:coreProperties>
</file>