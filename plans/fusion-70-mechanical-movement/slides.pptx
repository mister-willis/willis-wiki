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numbers: Henry T. Brown published his catalog in 1868, it has 507 movements, every one of ours mounts on a 112 mm square base, and Part I runs eight class days. Open 507movements.com on the projector before this slide and leave it up; the animations do the selling. What's different from the patent project: that was one part built from a drawing; this is several parts that move against each other, and every one of them has to survive a printer. Part I ends when the mechanism runs in Fusion. The next project prints it and hangs it on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test everything else hangs on: one motion in, a different motion out. A wheel on an axle with a handle moves, and it's not a mechanism, because the output is the input. The slider-crank from the joints lab is the reference case: the crank goes around, the slider goes back and forth, three moving parts, revolute and slider joints. Ask: 'What was the input on the slider-crank? What was the output?' (The crank; the slider.) Then: 'Name the input and output on a bicycle.' (Pedals turn; the wheel turns. Same motion, but faster: the chain and sprockets change the speed, which counts.) Vocabulary on the slide: mechanism, input, output. The lab bolds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 a table in the lab, word for word. Walk them with the projector on the 507 site: click a color thumbnail, watch it, and count out loud: input, output, moving parts, joint types. Then click a trivial one and show why it fails. Rule 4's ceiling matters as much as its floor; a 30-part escapement is next semester. Rule 5 is the one nobody thinks about until the print hangs on the wall and the slider falls to the bottom of its slot. Approval is step 2 of the lab: they show you the page and point at the input, the output, and each moving part. Hold that line; a movement that fails a rule on day 4 is a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is a plate with holes in it. Everything that sticks out of it is a separate part. Why: an axle grown out of the base prints standing up, every layer line across the direction it gets pushed, and it snaps (Strength rule). A separate axle prints lying down and presses into a hole with a 0.1 mm gap. The back face rule and the edges rule are about the display: these hang flat against a wall, tiled edge to edge, so nothing may poke out the back or past the sides. Don't explain the wall; just hold the rule. The print-limits exemption is only for the base; a 112 mm plate is about the size of the limit by itself. Point at the Design Rules page for the limits and the Strength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Fits rule from the Design Rules page, with a column added: which Fusion joint goes with each fit. The joint table in the notebook has these three columns on the right, filled from this table, so the model and the assembly agree before either exists. The trap is per side: 0.3 per side makes the hole 0.6 bigger across. Say it twice. Gears: two meshing gears don't get a joint between them; each gets a revolute joint to its own axle and a Motion Link ties the two joints together. The lab has a short gear section that points at the Spur Gear Plug-in page; don't sell gears, most movements don't need them. Ways to hold a part on without glue, since fasteners and glue are out: a head on the axle and a press-fit cap, a shoulder, a flange. Each one is a row in the joint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minute with a neighbor, then take answers. A: the crank, the connecting rod, and the slider move; the axle and pins are rigid to the parts they're pressed into. Revolute (crank on axle, rod on both pins) and slider (slider in the rails): two types, four joints that aren't rigid-to-base. Passes. B: a person turns the wheel, and the wheel turns. That's a wheel, not a mechanism; it fails the first rule no matter how nice the handle is. Add a second wheel of a different size touching it and now the output turns at a different speed, which passes. The answers are in small type at the bottom edge for you, not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as the lab's Pacing box. Today is day 1, and Fusion stays closed until the notebook has the movement record, the parts list, and the joint table; step 7 makes the project folder and that's as far as day 1 goes. Days 2 through 4 are one row on purpose: how the modeling divides up depends on the movement, so the check-in question those days is 'how many rows of your parts list are done?' Day 6 exists because the assembly always exposes something. Day 7 is drawings, every unique part, on the NPA template; the wrong template is the default ASME sheet, and a drawing on it gets sent back. Day 8 is a one-minute demonstration each, in 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items; they are the lab's Turn It In word for word. The notebook entry carries most of the evidence: four tables, a screenshot, and the drawing PDFs. The demonstration is one minute, Fusion on the screen, describing the movement the way the 507 site describes it. The next slide is the same list broken into ten checkable lines; the lab ends with it too.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lab's closing section, The Short List, one line per deliverable with no explanation, because the explanations are all above it in the document. It's the day 7 self-check: before demonstrations, every line should be true. Leave this slide up while they start steps 1 through 7. Fusion stays closed until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txBox="1"/>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MOVEMENT 1  ·  MOVEMENT 2  ·  MOVEMENT 3  ·  …  ·  MOVEMENT 507</a:t>
            </a:r>
            <a:endParaRPr lang="en-US" sz="1200" dirty="0"/>
          </a:p>
        </p:txBody>
      </p:sp>
      <p:sp>
        <p:nvSpPr>
          <p:cNvPr id="3" name="Text 1"/>
          <p:cNvSpPr txBox="1"/>
          <p:nvPr/>
        </p:nvSpPr>
        <p:spPr>
          <a:xfrm>
            <a:off x="0" y="1463040"/>
            <a:ext cx="12191695" cy="822960"/>
          </a:xfrm>
          <a:prstGeom prst="rect">
            <a:avLst/>
          </a:prstGeom>
          <a:noFill/>
          <a:ln/>
        </p:spPr>
        <p:txBody>
          <a:bodyPr wrap="square" lIns="0" tIns="0" rIns="0" bIns="0" rtlCol="0" anchor="ctr"/>
          <a:lstStyle/>
          <a:p>
            <a:pPr algn="ctr" indent="0" marL="0">
              <a:buNone/>
            </a:pPr>
            <a:r>
              <a:rPr lang="en-US" sz="3000" b="1" dirty="0">
                <a:solidFill>
                  <a:srgbClr val="3DDC84"/>
                </a:solidFill>
                <a:latin typeface="Courier New" pitchFamily="34" charset="0"/>
                <a:ea typeface="Courier New" pitchFamily="34" charset="-122"/>
                <a:cs typeface="Courier New" pitchFamily="34" charset="-120"/>
              </a:rPr>
              <a:t>1868  ·  507  ·  112 mm  ·  8 days</a:t>
            </a:r>
            <a:endParaRPr lang="en-US" sz="3000" dirty="0"/>
          </a:p>
        </p:txBody>
      </p:sp>
      <p:sp>
        <p:nvSpPr>
          <p:cNvPr id="4" name="Text 2"/>
          <p:cNvSpPr txBox="1"/>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Mechanical Movement Project</a:t>
            </a:r>
            <a:endParaRPr lang="en-US" sz="5400" dirty="0"/>
          </a:p>
        </p:txBody>
      </p:sp>
      <p:sp>
        <p:nvSpPr>
          <p:cNvPr id="5" name="Text 3"/>
          <p:cNvSpPr txBox="1"/>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One motion in. A different motion out.</a:t>
            </a:r>
            <a:endParaRPr lang="en-US" sz="2200" dirty="0"/>
          </a:p>
        </p:txBody>
      </p:sp>
      <p:sp>
        <p:nvSpPr>
          <p:cNvPr id="6" name="Text 4"/>
          <p:cNvSpPr txBox="1"/>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Engineering  •  Autodesk Fusion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What counts as a mechanism</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input is what a person does. The output is what happens. They have to be different motions.</a:t>
            </a:r>
            <a:endParaRPr lang="en-US" sz="1700" dirty="0"/>
          </a:p>
        </p:txBody>
      </p:sp>
      <p:sp>
        <p:nvSpPr>
          <p:cNvPr id="4" name="Shape 2"/>
          <p:cNvSpPr/>
          <p:nvPr/>
        </p:nvSpPr>
        <p:spPr>
          <a:xfrm>
            <a:off x="548640" y="1828800"/>
            <a:ext cx="3246120" cy="1965960"/>
          </a:xfrm>
          <a:prstGeom prst="roundRect">
            <a:avLst>
              <a:gd name="adj" fmla="val 3721"/>
            </a:avLst>
          </a:prstGeom>
          <a:solidFill>
            <a:srgbClr val="FFFFFF"/>
          </a:solidFill>
          <a:ln w="12700">
            <a:solidFill>
              <a:srgbClr val="C7D2DC"/>
            </a:solidFill>
            <a:prstDash val="solid"/>
          </a:ln>
        </p:spPr>
      </p:sp>
      <p:sp>
        <p:nvSpPr>
          <p:cNvPr id="5" name="Text 3"/>
          <p:cNvSpPr txBox="1"/>
          <p:nvPr/>
        </p:nvSpPr>
        <p:spPr>
          <a:xfrm>
            <a:off x="777240" y="2011680"/>
            <a:ext cx="2788920" cy="502920"/>
          </a:xfrm>
          <a:prstGeom prst="rect">
            <a:avLst/>
          </a:prstGeom>
          <a:noFill/>
          <a:ln/>
        </p:spPr>
        <p:txBody>
          <a:bodyPr wrap="square" lIns="0" tIns="0" rIns="0" bIns="0" rtlCol="0" anchor="ctr"/>
          <a:lstStyle/>
          <a:p>
            <a:pPr indent="0" marL="0">
              <a:buNone/>
            </a:pPr>
            <a:r>
              <a:rPr lang="en-US" sz="2400" b="1" dirty="0">
                <a:solidFill>
                  <a:srgbClr val="0A1F33"/>
                </a:solidFill>
                <a:latin typeface="Cambria" pitchFamily="34" charset="0"/>
                <a:ea typeface="Cambria" pitchFamily="34" charset="-122"/>
                <a:cs typeface="Cambria" pitchFamily="34" charset="-120"/>
              </a:rPr>
              <a:t>Input</a:t>
            </a:r>
            <a:endParaRPr lang="en-US" sz="2400" dirty="0"/>
          </a:p>
        </p:txBody>
      </p:sp>
      <p:sp>
        <p:nvSpPr>
          <p:cNvPr id="6" name="Text 4"/>
          <p:cNvSpPr txBox="1"/>
          <p:nvPr/>
        </p:nvSpPr>
        <p:spPr>
          <a:xfrm>
            <a:off x="777240" y="2606040"/>
            <a:ext cx="2788920" cy="1005840"/>
          </a:xfrm>
          <a:prstGeom prst="rect">
            <a:avLst/>
          </a:prstGeom>
          <a:noFill/>
          <a:ln/>
        </p:spPr>
        <p:txBody>
          <a:bodyPr wrap="square" lIns="0" tIns="0" rIns="0" bIns="0" rtlCol="0" anchor="t"/>
          <a:lstStyle/>
          <a:p>
            <a:pPr indent="0" marL="0">
              <a:buNone/>
            </a:pPr>
            <a:r>
              <a:rPr lang="en-US" sz="1600" dirty="0">
                <a:solidFill>
                  <a:srgbClr val="5A6B7B"/>
                </a:solidFill>
                <a:latin typeface="Calibri" pitchFamily="34" charset="0"/>
                <a:ea typeface="Calibri" pitchFamily="34" charset="-122"/>
                <a:cs typeface="Calibri" pitchFamily="34" charset="-120"/>
              </a:rPr>
              <a:t>A crank, knob, or lever.</a:t>
            </a:r>
            <a:endParaRPr lang="en-US" sz="1600" dirty="0"/>
          </a:p>
          <a:p>
            <a:pPr indent="0" marL="0">
              <a:buNone/>
            </a:pPr>
            <a:r>
              <a:rPr lang="en-US" sz="1600" dirty="0">
                <a:solidFill>
                  <a:srgbClr val="5A6B7B"/>
                </a:solidFill>
                <a:latin typeface="Calibri" pitchFamily="34" charset="0"/>
                <a:ea typeface="Calibri" pitchFamily="34" charset="-122"/>
                <a:cs typeface="Calibri" pitchFamily="34" charset="-120"/>
              </a:rPr>
              <a:t>One hand operates it.</a:t>
            </a:r>
            <a:endParaRPr lang="en-US" sz="1600" dirty="0"/>
          </a:p>
        </p:txBody>
      </p:sp>
      <p:sp>
        <p:nvSpPr>
          <p:cNvPr id="7" name="Shape 5"/>
          <p:cNvSpPr/>
          <p:nvPr/>
        </p:nvSpPr>
        <p:spPr>
          <a:xfrm>
            <a:off x="4480560" y="1828800"/>
            <a:ext cx="3246120" cy="1965960"/>
          </a:xfrm>
          <a:prstGeom prst="roundRect">
            <a:avLst>
              <a:gd name="adj" fmla="val 3721"/>
            </a:avLst>
          </a:prstGeom>
          <a:solidFill>
            <a:srgbClr val="FFFFFF"/>
          </a:solidFill>
          <a:ln w="12700">
            <a:solidFill>
              <a:srgbClr val="C7D2DC"/>
            </a:solidFill>
            <a:prstDash val="solid"/>
          </a:ln>
        </p:spPr>
      </p:sp>
      <p:sp>
        <p:nvSpPr>
          <p:cNvPr id="8" name="Text 6"/>
          <p:cNvSpPr txBox="1"/>
          <p:nvPr/>
        </p:nvSpPr>
        <p:spPr>
          <a:xfrm>
            <a:off x="4709160" y="2011680"/>
            <a:ext cx="2788920" cy="502920"/>
          </a:xfrm>
          <a:prstGeom prst="rect">
            <a:avLst/>
          </a:prstGeom>
          <a:noFill/>
          <a:ln/>
        </p:spPr>
        <p:txBody>
          <a:bodyPr wrap="square" lIns="0" tIns="0" rIns="0" bIns="0" rtlCol="0" anchor="ctr"/>
          <a:lstStyle/>
          <a:p>
            <a:pPr indent="0" marL="0">
              <a:buNone/>
            </a:pPr>
            <a:r>
              <a:rPr lang="en-US" sz="2400" b="1" dirty="0">
                <a:solidFill>
                  <a:srgbClr val="0A1F33"/>
                </a:solidFill>
                <a:latin typeface="Cambria" pitchFamily="34" charset="0"/>
                <a:ea typeface="Cambria" pitchFamily="34" charset="-122"/>
                <a:cs typeface="Cambria" pitchFamily="34" charset="-120"/>
              </a:rPr>
              <a:t>Parts and joints</a:t>
            </a:r>
            <a:endParaRPr lang="en-US" sz="2400" dirty="0"/>
          </a:p>
        </p:txBody>
      </p:sp>
      <p:sp>
        <p:nvSpPr>
          <p:cNvPr id="9" name="Text 7"/>
          <p:cNvSpPr txBox="1"/>
          <p:nvPr/>
        </p:nvSpPr>
        <p:spPr>
          <a:xfrm>
            <a:off x="4709160" y="2606040"/>
            <a:ext cx="2788920" cy="1005840"/>
          </a:xfrm>
          <a:prstGeom prst="rect">
            <a:avLst/>
          </a:prstGeom>
          <a:noFill/>
          <a:ln/>
        </p:spPr>
        <p:txBody>
          <a:bodyPr wrap="square" lIns="0" tIns="0" rIns="0" bIns="0" rtlCol="0" anchor="t"/>
          <a:lstStyle/>
          <a:p>
            <a:pPr indent="0" marL="0">
              <a:buNone/>
            </a:pPr>
            <a:r>
              <a:rPr lang="en-US" sz="1600" dirty="0">
                <a:solidFill>
                  <a:srgbClr val="5A6B7B"/>
                </a:solidFill>
                <a:latin typeface="Calibri" pitchFamily="34" charset="0"/>
                <a:ea typeface="Calibri" pitchFamily="34" charset="-122"/>
                <a:cs typeface="Calibri" pitchFamily="34" charset="-120"/>
              </a:rPr>
              <a:t>At least 3 moving parts.</a:t>
            </a:r>
            <a:endParaRPr lang="en-US" sz="1600" dirty="0"/>
          </a:p>
          <a:p>
            <a:pPr indent="0" marL="0">
              <a:buNone/>
            </a:pPr>
            <a:r>
              <a:rPr lang="en-US" sz="1600" dirty="0">
                <a:solidFill>
                  <a:srgbClr val="5A6B7B"/>
                </a:solidFill>
                <a:latin typeface="Calibri" pitchFamily="34" charset="0"/>
                <a:ea typeface="Calibri" pitchFamily="34" charset="-122"/>
                <a:cs typeface="Calibri" pitchFamily="34" charset="-120"/>
              </a:rPr>
              <a:t>At least 4 joints of 2 types.</a:t>
            </a:r>
            <a:endParaRPr lang="en-US" sz="1600" dirty="0"/>
          </a:p>
        </p:txBody>
      </p:sp>
      <p:sp>
        <p:nvSpPr>
          <p:cNvPr id="10" name="Shape 8"/>
          <p:cNvSpPr/>
          <p:nvPr/>
        </p:nvSpPr>
        <p:spPr>
          <a:xfrm>
            <a:off x="8412480" y="1828800"/>
            <a:ext cx="3246120" cy="1965960"/>
          </a:xfrm>
          <a:prstGeom prst="roundRect">
            <a:avLst>
              <a:gd name="adj" fmla="val 3721"/>
            </a:avLst>
          </a:prstGeom>
          <a:solidFill>
            <a:srgbClr val="FFFFFF"/>
          </a:solidFill>
          <a:ln w="12700">
            <a:solidFill>
              <a:srgbClr val="C7D2DC"/>
            </a:solidFill>
            <a:prstDash val="solid"/>
          </a:ln>
        </p:spPr>
      </p:sp>
      <p:sp>
        <p:nvSpPr>
          <p:cNvPr id="11" name="Text 9"/>
          <p:cNvSpPr txBox="1"/>
          <p:nvPr/>
        </p:nvSpPr>
        <p:spPr>
          <a:xfrm>
            <a:off x="8641080" y="2011680"/>
            <a:ext cx="2788920" cy="502920"/>
          </a:xfrm>
          <a:prstGeom prst="rect">
            <a:avLst/>
          </a:prstGeom>
          <a:noFill/>
          <a:ln/>
        </p:spPr>
        <p:txBody>
          <a:bodyPr wrap="square" lIns="0" tIns="0" rIns="0" bIns="0" rtlCol="0" anchor="ctr"/>
          <a:lstStyle/>
          <a:p>
            <a:pPr indent="0" marL="0">
              <a:buNone/>
            </a:pPr>
            <a:r>
              <a:rPr lang="en-US" sz="2400" b="1" dirty="0">
                <a:solidFill>
                  <a:srgbClr val="0A1F33"/>
                </a:solidFill>
                <a:latin typeface="Cambria" pitchFamily="34" charset="0"/>
                <a:ea typeface="Cambria" pitchFamily="34" charset="-122"/>
                <a:cs typeface="Cambria" pitchFamily="34" charset="-120"/>
              </a:rPr>
              <a:t>Output</a:t>
            </a:r>
            <a:endParaRPr lang="en-US" sz="2400" dirty="0"/>
          </a:p>
        </p:txBody>
      </p:sp>
      <p:sp>
        <p:nvSpPr>
          <p:cNvPr id="12" name="Text 10"/>
          <p:cNvSpPr txBox="1"/>
          <p:nvPr/>
        </p:nvSpPr>
        <p:spPr>
          <a:xfrm>
            <a:off x="8641080" y="2606040"/>
            <a:ext cx="2788920" cy="1005840"/>
          </a:xfrm>
          <a:prstGeom prst="rect">
            <a:avLst/>
          </a:prstGeom>
          <a:noFill/>
          <a:ln/>
        </p:spPr>
        <p:txBody>
          <a:bodyPr wrap="square" lIns="0" tIns="0" rIns="0" bIns="0" rtlCol="0" anchor="t"/>
          <a:lstStyle/>
          <a:p>
            <a:pPr indent="0" marL="0">
              <a:buNone/>
            </a:pPr>
            <a:r>
              <a:rPr lang="en-US" sz="1600" dirty="0">
                <a:solidFill>
                  <a:srgbClr val="5A6B7B"/>
                </a:solidFill>
                <a:latin typeface="Calibri" pitchFamily="34" charset="0"/>
                <a:ea typeface="Calibri" pitchFamily="34" charset="-122"/>
                <a:cs typeface="Calibri" pitchFamily="34" charset="-120"/>
              </a:rPr>
              <a:t>A slider, a wheel, a pawl.</a:t>
            </a:r>
            <a:endParaRPr lang="en-US" sz="1600" dirty="0"/>
          </a:p>
          <a:p>
            <a:pPr indent="0" marL="0">
              <a:buNone/>
            </a:pPr>
            <a:r>
              <a:rPr lang="en-US" sz="1600" dirty="0">
                <a:solidFill>
                  <a:srgbClr val="5A6B7B"/>
                </a:solidFill>
                <a:latin typeface="Calibri" pitchFamily="34" charset="0"/>
                <a:ea typeface="Calibri" pitchFamily="34" charset="-122"/>
                <a:cs typeface="Calibri" pitchFamily="34" charset="-120"/>
              </a:rPr>
              <a:t>A different kind of motion.</a:t>
            </a:r>
            <a:endParaRPr lang="en-US" sz="1600" dirty="0"/>
          </a:p>
        </p:txBody>
      </p:sp>
      <p:sp>
        <p:nvSpPr>
          <p:cNvPr id="13" name="Text 11"/>
          <p:cNvSpPr txBox="1"/>
          <p:nvPr/>
        </p:nvSpPr>
        <p:spPr>
          <a:xfrm>
            <a:off x="3794760" y="2468880"/>
            <a:ext cx="685800" cy="640080"/>
          </a:xfrm>
          <a:prstGeom prst="rect">
            <a:avLst/>
          </a:prstGeom>
          <a:noFill/>
          <a:ln/>
        </p:spPr>
        <p:txBody>
          <a:bodyPr wrap="square" lIns="0" tIns="0" rIns="0" bIns="0" rtlCol="0" anchor="ctr"/>
          <a:lstStyle/>
          <a:p>
            <a:pPr algn="ctr" indent="0" marL="0">
              <a:buNone/>
            </a:pPr>
            <a:r>
              <a:rPr lang="en-US" sz="3600" b="1" dirty="0">
                <a:solidFill>
                  <a:srgbClr val="3DDC84"/>
                </a:solidFill>
                <a:latin typeface="Calibri" pitchFamily="34" charset="0"/>
                <a:ea typeface="Calibri" pitchFamily="34" charset="-122"/>
                <a:cs typeface="Calibri" pitchFamily="34" charset="-120"/>
              </a:rPr>
              <a:t>→</a:t>
            </a:r>
            <a:endParaRPr lang="en-US" sz="3600" dirty="0"/>
          </a:p>
        </p:txBody>
      </p:sp>
      <p:sp>
        <p:nvSpPr>
          <p:cNvPr id="14" name="Text 12"/>
          <p:cNvSpPr txBox="1"/>
          <p:nvPr/>
        </p:nvSpPr>
        <p:spPr>
          <a:xfrm>
            <a:off x="7726680" y="2468880"/>
            <a:ext cx="685800" cy="640080"/>
          </a:xfrm>
          <a:prstGeom prst="rect">
            <a:avLst/>
          </a:prstGeom>
          <a:noFill/>
          <a:ln/>
        </p:spPr>
        <p:txBody>
          <a:bodyPr wrap="square" lIns="0" tIns="0" rIns="0" bIns="0" rtlCol="0" anchor="ctr"/>
          <a:lstStyle/>
          <a:p>
            <a:pPr algn="ctr" indent="0" marL="0">
              <a:buNone/>
            </a:pPr>
            <a:r>
              <a:rPr lang="en-US" sz="3600" b="1" dirty="0">
                <a:solidFill>
                  <a:srgbClr val="3DDC84"/>
                </a:solidFill>
                <a:latin typeface="Calibri" pitchFamily="34" charset="0"/>
                <a:ea typeface="Calibri" pitchFamily="34" charset="-122"/>
                <a:cs typeface="Calibri" pitchFamily="34" charset="-120"/>
              </a:rPr>
              <a: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109960" cy="914400"/>
        </p:xfrm>
        <a:graphic>
          <a:graphicData uri="http://schemas.openxmlformats.org/drawingml/2006/table">
            <a:tbl>
              <a:tblPr/>
              <a:tblGrid>
                <a:gridCol w="3291840"/>
                <a:gridCol w="4754880"/>
                <a:gridCol w="306324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Input motion</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Output motion</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Mechanism?</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r>
              <a:tr h="384048">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Crank turns around</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Slider goes back and forth</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Lever rocks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Wheel clicks forward one tooth</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b="1" dirty="0">
                          <a:solidFill>
                            <a:srgbClr val="0A1F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r h="384048">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Small gear turns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Big gear turns slower, the other way</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A1F33"/>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Wheel turns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Wheel turns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b="1" dirty="0">
                          <a:solidFill>
                            <a:srgbClr val="0A1F33"/>
                          </a:solidFill>
                          <a:latin typeface="Calibri" pitchFamily="34" charset="0"/>
                          <a:ea typeface="Calibri" pitchFamily="34" charset="-122"/>
                          <a:cs typeface="Calibri" pitchFamily="34" charset="-120"/>
                        </a:rPr>
                        <a:t>No: same motion in and out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rules your movement has to pass</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Check your pick against all five before you ask for approval. I will.</a:t>
            </a:r>
            <a:endParaRPr lang="en-US" sz="1700" dirty="0"/>
          </a:p>
        </p:txBody>
      </p:sp>
      <p:sp>
        <p:nvSpPr>
          <p:cNvPr id="4" name="Shape 2"/>
          <p:cNvSpPr/>
          <p:nvPr/>
        </p:nvSpPr>
        <p:spPr>
          <a:xfrm>
            <a:off x="548640" y="1828800"/>
            <a:ext cx="3566160" cy="1874520"/>
          </a:xfrm>
          <a:prstGeom prst="roundRect">
            <a:avLst>
              <a:gd name="adj" fmla="val 3902"/>
            </a:avLst>
          </a:prstGeom>
          <a:solidFill>
            <a:srgbClr val="FFFFFF"/>
          </a:solidFill>
          <a:ln w="12700">
            <a:solidFill>
              <a:srgbClr val="C7D2DC"/>
            </a:solidFill>
            <a:prstDash val="solid"/>
          </a:ln>
        </p:spPr>
      </p:sp>
      <p:sp>
        <p:nvSpPr>
          <p:cNvPr id="5" name="Shape 3"/>
          <p:cNvSpPr/>
          <p:nvPr/>
        </p:nvSpPr>
        <p:spPr>
          <a:xfrm>
            <a:off x="777240" y="2057400"/>
            <a:ext cx="457200" cy="457200"/>
          </a:xfrm>
          <a:prstGeom prst="roundRect">
            <a:avLst>
              <a:gd name="adj" fmla="val 12000"/>
            </a:avLst>
          </a:prstGeom>
          <a:solidFill>
            <a:srgbClr val="3DDC84"/>
          </a:solidFill>
          <a:ln/>
        </p:spPr>
      </p:sp>
      <p:sp>
        <p:nvSpPr>
          <p:cNvPr id="6" name="Text 4"/>
          <p:cNvSpPr txBox="1"/>
          <p:nvPr/>
        </p:nvSpPr>
        <p:spPr>
          <a:xfrm>
            <a:off x="777240" y="2057400"/>
            <a:ext cx="457200" cy="45720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2029968"/>
            <a:ext cx="2560320" cy="502920"/>
          </a:xfrm>
          <a:prstGeom prst="rect">
            <a:avLst/>
          </a:prstGeom>
          <a:noFill/>
          <a:ln/>
        </p:spPr>
        <p:txBody>
          <a:bodyPr wrap="square" lIns="0" tIns="0" rIns="0" bIns="0" rtlCol="0" anchor="ctr"/>
          <a:lstStyle/>
          <a:p>
            <a:pPr indent="0" marL="0">
              <a:buNone/>
            </a:pPr>
            <a:r>
              <a:rPr lang="en-US" sz="2000" b="1" dirty="0">
                <a:solidFill>
                  <a:srgbClr val="0A1F33"/>
                </a:solidFill>
                <a:latin typeface="Cambria" pitchFamily="34" charset="0"/>
                <a:ea typeface="Cambria" pitchFamily="34" charset="-122"/>
                <a:cs typeface="Cambria" pitchFamily="34" charset="-120"/>
              </a:rPr>
              <a:t>Converts motion</a:t>
            </a:r>
            <a:endParaRPr lang="en-US" sz="2000" dirty="0"/>
          </a:p>
        </p:txBody>
      </p:sp>
      <p:sp>
        <p:nvSpPr>
          <p:cNvPr id="8" name="Text 6"/>
          <p:cNvSpPr txBox="1"/>
          <p:nvPr/>
        </p:nvSpPr>
        <p:spPr>
          <a:xfrm>
            <a:off x="777240" y="2697480"/>
            <a:ext cx="3108960" cy="914400"/>
          </a:xfrm>
          <a:prstGeom prst="rect">
            <a:avLst/>
          </a:prstGeom>
          <a:noFill/>
          <a:ln/>
        </p:spPr>
        <p:txBody>
          <a:bodyPr wrap="square" lIns="0" tIns="0" rIns="0" bIns="0" rtlCol="0" anchor="t"/>
          <a:lstStyle/>
          <a:p>
            <a:pPr indent="0" marL="0">
              <a:buNone/>
            </a:pPr>
            <a:r>
              <a:rPr lang="en-US" sz="1500" dirty="0">
                <a:solidFill>
                  <a:srgbClr val="5A6B7B"/>
                </a:solidFill>
                <a:latin typeface="Calibri" pitchFamily="34" charset="0"/>
                <a:ea typeface="Calibri" pitchFamily="34" charset="-122"/>
                <a:cs typeface="Calibri" pitchFamily="34" charset="-120"/>
              </a:rPr>
              <a:t>One hand-operated input, a different kind of motion at the output.</a:t>
            </a:r>
            <a:endParaRPr lang="en-US" sz="1500" dirty="0"/>
          </a:p>
        </p:txBody>
      </p:sp>
      <p:sp>
        <p:nvSpPr>
          <p:cNvPr id="9" name="Shape 7"/>
          <p:cNvSpPr/>
          <p:nvPr/>
        </p:nvSpPr>
        <p:spPr>
          <a:xfrm>
            <a:off x="4297680" y="1828800"/>
            <a:ext cx="3566160" cy="1874520"/>
          </a:xfrm>
          <a:prstGeom prst="roundRect">
            <a:avLst>
              <a:gd name="adj" fmla="val 3902"/>
            </a:avLst>
          </a:prstGeom>
          <a:solidFill>
            <a:srgbClr val="FFFFFF"/>
          </a:solidFill>
          <a:ln w="12700">
            <a:solidFill>
              <a:srgbClr val="C7D2DC"/>
            </a:solidFill>
            <a:prstDash val="solid"/>
          </a:ln>
        </p:spPr>
      </p:sp>
      <p:sp>
        <p:nvSpPr>
          <p:cNvPr id="10" name="Shape 8"/>
          <p:cNvSpPr/>
          <p:nvPr/>
        </p:nvSpPr>
        <p:spPr>
          <a:xfrm>
            <a:off x="4526280" y="2057400"/>
            <a:ext cx="457200" cy="457200"/>
          </a:xfrm>
          <a:prstGeom prst="roundRect">
            <a:avLst>
              <a:gd name="adj" fmla="val 12000"/>
            </a:avLst>
          </a:prstGeom>
          <a:solidFill>
            <a:srgbClr val="3DDC84"/>
          </a:solidFill>
          <a:ln/>
        </p:spPr>
      </p:sp>
      <p:sp>
        <p:nvSpPr>
          <p:cNvPr id="11" name="Text 9"/>
          <p:cNvSpPr txBox="1"/>
          <p:nvPr/>
        </p:nvSpPr>
        <p:spPr>
          <a:xfrm>
            <a:off x="4526280" y="2057400"/>
            <a:ext cx="457200" cy="45720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120640" y="2029968"/>
            <a:ext cx="2560320" cy="502920"/>
          </a:xfrm>
          <a:prstGeom prst="rect">
            <a:avLst/>
          </a:prstGeom>
          <a:noFill/>
          <a:ln/>
        </p:spPr>
        <p:txBody>
          <a:bodyPr wrap="square" lIns="0" tIns="0" rIns="0" bIns="0" rtlCol="0" anchor="ctr"/>
          <a:lstStyle/>
          <a:p>
            <a:pPr indent="0" marL="0">
              <a:buNone/>
            </a:pPr>
            <a:r>
              <a:rPr lang="en-US" sz="2000" b="1" dirty="0">
                <a:solidFill>
                  <a:srgbClr val="0A1F33"/>
                </a:solidFill>
                <a:latin typeface="Cambria" pitchFamily="34" charset="0"/>
                <a:ea typeface="Cambria" pitchFamily="34" charset="-122"/>
                <a:cs typeface="Cambria" pitchFamily="34" charset="-120"/>
              </a:rPr>
              <a:t>3+ moving parts</a:t>
            </a:r>
            <a:endParaRPr lang="en-US" sz="2000" dirty="0"/>
          </a:p>
        </p:txBody>
      </p:sp>
      <p:sp>
        <p:nvSpPr>
          <p:cNvPr id="13" name="Text 11"/>
          <p:cNvSpPr txBox="1"/>
          <p:nvPr/>
        </p:nvSpPr>
        <p:spPr>
          <a:xfrm>
            <a:off x="4526280" y="2697480"/>
            <a:ext cx="3108960" cy="914400"/>
          </a:xfrm>
          <a:prstGeom prst="rect">
            <a:avLst/>
          </a:prstGeom>
          <a:noFill/>
          <a:ln/>
        </p:spPr>
        <p:txBody>
          <a:bodyPr wrap="square" lIns="0" tIns="0" rIns="0" bIns="0" rtlCol="0" anchor="t"/>
          <a:lstStyle/>
          <a:p>
            <a:pPr indent="0" marL="0">
              <a:buNone/>
            </a:pPr>
            <a:r>
              <a:rPr lang="en-US" sz="1500" dirty="0">
                <a:solidFill>
                  <a:srgbClr val="5A6B7B"/>
                </a:solidFill>
                <a:latin typeface="Calibri" pitchFamily="34" charset="0"/>
                <a:ea typeface="Calibri" pitchFamily="34" charset="-122"/>
                <a:cs typeface="Calibri" pitchFamily="34" charset="-120"/>
              </a:rPr>
              <a:t>Parts that move relative to the base. The slider-crank had three.</a:t>
            </a:r>
            <a:endParaRPr lang="en-US" sz="1500" dirty="0"/>
          </a:p>
        </p:txBody>
      </p:sp>
      <p:sp>
        <p:nvSpPr>
          <p:cNvPr id="14" name="Shape 12"/>
          <p:cNvSpPr/>
          <p:nvPr/>
        </p:nvSpPr>
        <p:spPr>
          <a:xfrm>
            <a:off x="8046720" y="1828800"/>
            <a:ext cx="3566160" cy="1874520"/>
          </a:xfrm>
          <a:prstGeom prst="roundRect">
            <a:avLst>
              <a:gd name="adj" fmla="val 3902"/>
            </a:avLst>
          </a:prstGeom>
          <a:solidFill>
            <a:srgbClr val="FFFFFF"/>
          </a:solidFill>
          <a:ln w="12700">
            <a:solidFill>
              <a:srgbClr val="C7D2DC"/>
            </a:solidFill>
            <a:prstDash val="solid"/>
          </a:ln>
        </p:spPr>
      </p:sp>
      <p:sp>
        <p:nvSpPr>
          <p:cNvPr id="15" name="Shape 13"/>
          <p:cNvSpPr/>
          <p:nvPr/>
        </p:nvSpPr>
        <p:spPr>
          <a:xfrm>
            <a:off x="8275320" y="2057400"/>
            <a:ext cx="457200" cy="457200"/>
          </a:xfrm>
          <a:prstGeom prst="roundRect">
            <a:avLst>
              <a:gd name="adj" fmla="val 12000"/>
            </a:avLst>
          </a:prstGeom>
          <a:solidFill>
            <a:srgbClr val="3DDC84"/>
          </a:solidFill>
          <a:ln/>
        </p:spPr>
      </p:sp>
      <p:sp>
        <p:nvSpPr>
          <p:cNvPr id="16" name="Text 14"/>
          <p:cNvSpPr txBox="1"/>
          <p:nvPr/>
        </p:nvSpPr>
        <p:spPr>
          <a:xfrm>
            <a:off x="8275320" y="2057400"/>
            <a:ext cx="457200" cy="45720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8869680" y="2029968"/>
            <a:ext cx="2560320" cy="502920"/>
          </a:xfrm>
          <a:prstGeom prst="rect">
            <a:avLst/>
          </a:prstGeom>
          <a:noFill/>
          <a:ln/>
        </p:spPr>
        <p:txBody>
          <a:bodyPr wrap="square" lIns="0" tIns="0" rIns="0" bIns="0" rtlCol="0" anchor="ctr"/>
          <a:lstStyle/>
          <a:p>
            <a:pPr indent="0" marL="0">
              <a:buNone/>
            </a:pPr>
            <a:r>
              <a:rPr lang="en-US" sz="2000" b="1" dirty="0">
                <a:solidFill>
                  <a:srgbClr val="0A1F33"/>
                </a:solidFill>
                <a:latin typeface="Cambria" pitchFamily="34" charset="0"/>
                <a:ea typeface="Cambria" pitchFamily="34" charset="-122"/>
                <a:cs typeface="Cambria" pitchFamily="34" charset="-120"/>
              </a:rPr>
              <a:t>4+ joints, 2+ types</a:t>
            </a:r>
            <a:endParaRPr lang="en-US" sz="2000" dirty="0"/>
          </a:p>
        </p:txBody>
      </p:sp>
      <p:sp>
        <p:nvSpPr>
          <p:cNvPr id="18" name="Text 16"/>
          <p:cNvSpPr txBox="1"/>
          <p:nvPr/>
        </p:nvSpPr>
        <p:spPr>
          <a:xfrm>
            <a:off x="8275320" y="2697480"/>
            <a:ext cx="3108960" cy="914400"/>
          </a:xfrm>
          <a:prstGeom prst="rect">
            <a:avLst/>
          </a:prstGeom>
          <a:noFill/>
          <a:ln/>
        </p:spPr>
        <p:txBody>
          <a:bodyPr wrap="square" lIns="0" tIns="0" rIns="0" bIns="0" rtlCol="0" anchor="t"/>
          <a:lstStyle/>
          <a:p>
            <a:pPr indent="0" marL="0">
              <a:buNone/>
            </a:pPr>
            <a:r>
              <a:rPr lang="en-US" sz="1500" dirty="0">
                <a:solidFill>
                  <a:srgbClr val="5A6B7B"/>
                </a:solidFill>
                <a:latin typeface="Calibri" pitchFamily="34" charset="0"/>
                <a:ea typeface="Calibri" pitchFamily="34" charset="-122"/>
                <a:cs typeface="Calibri" pitchFamily="34" charset="-120"/>
              </a:rPr>
              <a:t>Not counting rigid joints to the base. A gear pair counts as a type.</a:t>
            </a:r>
            <a:endParaRPr lang="en-US" sz="1500" dirty="0"/>
          </a:p>
        </p:txBody>
      </p:sp>
      <p:sp>
        <p:nvSpPr>
          <p:cNvPr id="19" name="Shape 17"/>
          <p:cNvSpPr/>
          <p:nvPr/>
        </p:nvSpPr>
        <p:spPr>
          <a:xfrm>
            <a:off x="548640" y="3977640"/>
            <a:ext cx="3566160" cy="1874520"/>
          </a:xfrm>
          <a:prstGeom prst="roundRect">
            <a:avLst>
              <a:gd name="adj" fmla="val 3902"/>
            </a:avLst>
          </a:prstGeom>
          <a:solidFill>
            <a:srgbClr val="FFFFFF"/>
          </a:solidFill>
          <a:ln w="12700">
            <a:solidFill>
              <a:srgbClr val="C7D2DC"/>
            </a:solidFill>
            <a:prstDash val="solid"/>
          </a:ln>
        </p:spPr>
      </p:sp>
      <p:sp>
        <p:nvSpPr>
          <p:cNvPr id="20" name="Shape 18"/>
          <p:cNvSpPr/>
          <p:nvPr/>
        </p:nvSpPr>
        <p:spPr>
          <a:xfrm>
            <a:off x="777240" y="4206240"/>
            <a:ext cx="457200" cy="457200"/>
          </a:xfrm>
          <a:prstGeom prst="roundRect">
            <a:avLst>
              <a:gd name="adj" fmla="val 12000"/>
            </a:avLst>
          </a:prstGeom>
          <a:solidFill>
            <a:srgbClr val="3DDC84"/>
          </a:solidFill>
          <a:ln/>
        </p:spPr>
      </p:sp>
      <p:sp>
        <p:nvSpPr>
          <p:cNvPr id="21" name="Text 19"/>
          <p:cNvSpPr txBox="1"/>
          <p:nvPr/>
        </p:nvSpPr>
        <p:spPr>
          <a:xfrm>
            <a:off x="777240" y="4206240"/>
            <a:ext cx="457200" cy="45720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1371600" y="4178808"/>
            <a:ext cx="2560320" cy="502920"/>
          </a:xfrm>
          <a:prstGeom prst="rect">
            <a:avLst/>
          </a:prstGeom>
          <a:noFill/>
          <a:ln/>
        </p:spPr>
        <p:txBody>
          <a:bodyPr wrap="square" lIns="0" tIns="0" rIns="0" bIns="0" rtlCol="0" anchor="ctr"/>
          <a:lstStyle/>
          <a:p>
            <a:pPr indent="0" marL="0">
              <a:buNone/>
            </a:pPr>
            <a:r>
              <a:rPr lang="en-US" sz="2000" b="1" dirty="0">
                <a:solidFill>
                  <a:srgbClr val="0A1F33"/>
                </a:solidFill>
                <a:latin typeface="Cambria" pitchFamily="34" charset="0"/>
                <a:ea typeface="Cambria" pitchFamily="34" charset="-122"/>
                <a:cs typeface="Cambria" pitchFamily="34" charset="-120"/>
              </a:rPr>
              <a:t>5 to 12 printed parts</a:t>
            </a:r>
            <a:endParaRPr lang="en-US" sz="2000" dirty="0"/>
          </a:p>
        </p:txBody>
      </p:sp>
      <p:sp>
        <p:nvSpPr>
          <p:cNvPr id="23" name="Text 21"/>
          <p:cNvSpPr txBox="1"/>
          <p:nvPr/>
        </p:nvSpPr>
        <p:spPr>
          <a:xfrm>
            <a:off x="777240" y="4846320"/>
            <a:ext cx="3108960" cy="914400"/>
          </a:xfrm>
          <a:prstGeom prst="rect">
            <a:avLst/>
          </a:prstGeom>
          <a:noFill/>
          <a:ln/>
        </p:spPr>
        <p:txBody>
          <a:bodyPr wrap="square" lIns="0" tIns="0" rIns="0" bIns="0" rtlCol="0" anchor="t"/>
          <a:lstStyle/>
          <a:p>
            <a:pPr indent="0" marL="0">
              <a:buNone/>
            </a:pPr>
            <a:r>
              <a:rPr lang="en-US" sz="1500" dirty="0">
                <a:solidFill>
                  <a:srgbClr val="5A6B7B"/>
                </a:solidFill>
                <a:latin typeface="Calibri" pitchFamily="34" charset="0"/>
                <a:ea typeface="Calibri" pitchFamily="34" charset="-122"/>
                <a:cs typeface="Calibri" pitchFamily="34" charset="-120"/>
              </a:rPr>
              <a:t>Including the base. Two copies of one pin are one unique part.</a:t>
            </a:r>
            <a:endParaRPr lang="en-US" sz="1500" dirty="0"/>
          </a:p>
        </p:txBody>
      </p:sp>
      <p:sp>
        <p:nvSpPr>
          <p:cNvPr id="24" name="Shape 22"/>
          <p:cNvSpPr/>
          <p:nvPr/>
        </p:nvSpPr>
        <p:spPr>
          <a:xfrm>
            <a:off x="4297680" y="3977640"/>
            <a:ext cx="3566160" cy="1874520"/>
          </a:xfrm>
          <a:prstGeom prst="roundRect">
            <a:avLst>
              <a:gd name="adj" fmla="val 3902"/>
            </a:avLst>
          </a:prstGeom>
          <a:solidFill>
            <a:srgbClr val="FFFFFF"/>
          </a:solidFill>
          <a:ln w="12700">
            <a:solidFill>
              <a:srgbClr val="C7D2DC"/>
            </a:solidFill>
            <a:prstDash val="solid"/>
          </a:ln>
        </p:spPr>
      </p:sp>
      <p:sp>
        <p:nvSpPr>
          <p:cNvPr id="25" name="Shape 23"/>
          <p:cNvSpPr/>
          <p:nvPr/>
        </p:nvSpPr>
        <p:spPr>
          <a:xfrm>
            <a:off x="4526280" y="4206240"/>
            <a:ext cx="457200" cy="457200"/>
          </a:xfrm>
          <a:prstGeom prst="roundRect">
            <a:avLst>
              <a:gd name="adj" fmla="val 12000"/>
            </a:avLst>
          </a:prstGeom>
          <a:solidFill>
            <a:srgbClr val="3DDC84"/>
          </a:solidFill>
          <a:ln/>
        </p:spPr>
      </p:sp>
      <p:sp>
        <p:nvSpPr>
          <p:cNvPr id="26" name="Text 24"/>
          <p:cNvSpPr txBox="1"/>
          <p:nvPr/>
        </p:nvSpPr>
        <p:spPr>
          <a:xfrm>
            <a:off x="4526280" y="4206240"/>
            <a:ext cx="457200" cy="45720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5</a:t>
            </a:r>
            <a:endParaRPr lang="en-US" sz="1800" dirty="0"/>
          </a:p>
        </p:txBody>
      </p:sp>
      <p:sp>
        <p:nvSpPr>
          <p:cNvPr id="27" name="Text 25"/>
          <p:cNvSpPr txBox="1"/>
          <p:nvPr/>
        </p:nvSpPr>
        <p:spPr>
          <a:xfrm>
            <a:off x="5120640" y="4178808"/>
            <a:ext cx="2560320" cy="502920"/>
          </a:xfrm>
          <a:prstGeom prst="rect">
            <a:avLst/>
          </a:prstGeom>
          <a:noFill/>
          <a:ln/>
        </p:spPr>
        <p:txBody>
          <a:bodyPr wrap="square" lIns="0" tIns="0" rIns="0" bIns="0" rtlCol="0" anchor="ctr"/>
          <a:lstStyle/>
          <a:p>
            <a:pPr indent="0" marL="0">
              <a:buNone/>
            </a:pPr>
            <a:r>
              <a:rPr lang="en-US" sz="2000" b="1" dirty="0">
                <a:solidFill>
                  <a:srgbClr val="0A1F33"/>
                </a:solidFill>
                <a:latin typeface="Cambria" pitchFamily="34" charset="0"/>
                <a:ea typeface="Cambria" pitchFamily="34" charset="-122"/>
                <a:cs typeface="Cambria" pitchFamily="34" charset="-120"/>
              </a:rPr>
              <a:t>One-handed input</a:t>
            </a:r>
            <a:endParaRPr lang="en-US" sz="2000" dirty="0"/>
          </a:p>
        </p:txBody>
      </p:sp>
      <p:sp>
        <p:nvSpPr>
          <p:cNvPr id="28" name="Text 26"/>
          <p:cNvSpPr txBox="1"/>
          <p:nvPr/>
        </p:nvSpPr>
        <p:spPr>
          <a:xfrm>
            <a:off x="4526280" y="4846320"/>
            <a:ext cx="3108960" cy="914400"/>
          </a:xfrm>
          <a:prstGeom prst="rect">
            <a:avLst/>
          </a:prstGeom>
          <a:noFill/>
          <a:ln/>
        </p:spPr>
        <p:txBody>
          <a:bodyPr wrap="square" lIns="0" tIns="0" rIns="0" bIns="0" rtlCol="0" anchor="t"/>
          <a:lstStyle/>
          <a:p>
            <a:pPr indent="0" marL="0">
              <a:buNone/>
            </a:pPr>
            <a:r>
              <a:rPr lang="en-US" sz="1500" dirty="0">
                <a:solidFill>
                  <a:srgbClr val="5A6B7B"/>
                </a:solidFill>
                <a:latin typeface="Calibri" pitchFamily="34" charset="0"/>
                <a:ea typeface="Calibri" pitchFamily="34" charset="-122"/>
                <a:cs typeface="Calibri" pitchFamily="34" charset="-120"/>
              </a:rPr>
              <a:t>Operable while the base hangs on a wall. Gravity pulls toward the floor.</a:t>
            </a:r>
            <a:endParaRPr lang="en-US" sz="1500" dirty="0"/>
          </a:p>
        </p:txBody>
      </p:sp>
      <p:sp>
        <p:nvSpPr>
          <p:cNvPr id="29" name="Shape 27"/>
          <p:cNvSpPr/>
          <p:nvPr/>
        </p:nvSpPr>
        <p:spPr>
          <a:xfrm>
            <a:off x="8046720" y="3977640"/>
            <a:ext cx="3566160" cy="1874520"/>
          </a:xfrm>
          <a:prstGeom prst="roundRect">
            <a:avLst>
              <a:gd name="adj" fmla="val 3902"/>
            </a:avLst>
          </a:prstGeom>
          <a:solidFill>
            <a:srgbClr val="13324F"/>
          </a:solidFill>
          <a:ln w="12700">
            <a:solidFill>
              <a:srgbClr val="13324F"/>
            </a:solidFill>
            <a:prstDash val="solid"/>
          </a:ln>
        </p:spPr>
      </p:sp>
      <p:sp>
        <p:nvSpPr>
          <p:cNvPr id="30" name="Text 28"/>
          <p:cNvSpPr txBox="1"/>
          <p:nvPr/>
        </p:nvSpPr>
        <p:spPr>
          <a:xfrm>
            <a:off x="8275320" y="4178808"/>
            <a:ext cx="3108960" cy="457200"/>
          </a:xfrm>
          <a:prstGeom prst="rect">
            <a:avLst/>
          </a:prstGeom>
          <a:noFill/>
          <a:ln/>
        </p:spPr>
        <p:txBody>
          <a:bodyPr wrap="square" lIns="0" tIns="0" rIns="0" bIns="0" rtlCol="0" anchor="ctr"/>
          <a:lstStyle/>
          <a:p>
            <a:pPr indent="0" marL="0">
              <a:buNone/>
            </a:pPr>
            <a:r>
              <a:rPr lang="en-US" sz="2000" b="1" dirty="0">
                <a:solidFill>
                  <a:srgbClr val="3DDC84"/>
                </a:solidFill>
                <a:latin typeface="Cambria" pitchFamily="34" charset="0"/>
                <a:ea typeface="Cambria" pitchFamily="34" charset="-122"/>
                <a:cs typeface="Cambria" pitchFamily="34" charset="-120"/>
              </a:rPr>
              <a:t>Pick an animated one</a:t>
            </a:r>
            <a:endParaRPr lang="en-US" sz="2000" dirty="0"/>
          </a:p>
        </p:txBody>
      </p:sp>
      <p:sp>
        <p:nvSpPr>
          <p:cNvPr id="31" name="Text 29"/>
          <p:cNvSpPr txBox="1"/>
          <p:nvPr/>
        </p:nvSpPr>
        <p:spPr>
          <a:xfrm>
            <a:off x="8275320" y="4709160"/>
            <a:ext cx="3108960" cy="1051560"/>
          </a:xfrm>
          <a:prstGeom prst="rect">
            <a:avLst/>
          </a:prstGeom>
          <a:noFill/>
          <a:ln/>
        </p:spPr>
        <p:txBody>
          <a:bodyPr wrap="square" lIns="0" tIns="0" rIns="0" bIns="0" rtlCol="0" anchor="t"/>
          <a:lstStyle/>
          <a:p>
            <a:pPr indent="0" marL="0">
              <a:buNone/>
            </a:pPr>
            <a:r>
              <a:rPr lang="en-US" sz="1500" dirty="0">
                <a:solidFill>
                  <a:srgbClr val="C7D2DC"/>
                </a:solidFill>
                <a:latin typeface="Calibri" pitchFamily="34" charset="0"/>
                <a:ea typeface="Calibri" pitchFamily="34" charset="-122"/>
                <a:cs typeface="Calibri" pitchFamily="34" charset="-120"/>
              </a:rPr>
              <a:t>Color thumbnails move. Gray ones are a 150-year-old engraving and a paragraph. Allowed, not recommended.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base</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Every mechanism in the class mounts on the same square, so they hang together as a set.</a:t>
            </a:r>
            <a:endParaRPr lang="en-US" sz="1700" dirty="0"/>
          </a:p>
        </p:txBody>
      </p:sp>
      <p:sp>
        <p:nvSpPr>
          <p:cNvPr id="4" name="Shape 2"/>
          <p:cNvSpPr/>
          <p:nvPr/>
        </p:nvSpPr>
        <p:spPr>
          <a:xfrm>
            <a:off x="822960" y="2240280"/>
            <a:ext cx="3657600" cy="3657600"/>
          </a:xfrm>
          <a:prstGeom prst="rect">
            <a:avLst/>
          </a:prstGeom>
          <a:solidFill>
            <a:srgbClr val="FFFFFF"/>
          </a:solidFill>
          <a:ln w="25400">
            <a:solidFill>
              <a:srgbClr val="0A1F33"/>
            </a:solidFill>
            <a:prstDash val="solid"/>
          </a:ln>
        </p:spPr>
      </p:sp>
      <p:sp>
        <p:nvSpPr>
          <p:cNvPr id="5" name="Shape 3"/>
          <p:cNvSpPr/>
          <p:nvPr/>
        </p:nvSpPr>
        <p:spPr>
          <a:xfrm>
            <a:off x="1920240" y="3063240"/>
            <a:ext cx="365760" cy="365760"/>
          </a:xfrm>
          <a:prstGeom prst="ellipse">
            <a:avLst/>
          </a:prstGeom>
          <a:solidFill>
            <a:srgbClr val="F4F7FB"/>
          </a:solidFill>
          <a:ln w="19050">
            <a:solidFill>
              <a:srgbClr val="0A1F33"/>
            </a:solidFill>
            <a:prstDash val="solid"/>
          </a:ln>
        </p:spPr>
      </p:sp>
      <p:sp>
        <p:nvSpPr>
          <p:cNvPr id="6" name="Shape 4"/>
          <p:cNvSpPr/>
          <p:nvPr/>
        </p:nvSpPr>
        <p:spPr>
          <a:xfrm>
            <a:off x="3383280" y="3063240"/>
            <a:ext cx="365760" cy="365760"/>
          </a:xfrm>
          <a:prstGeom prst="ellipse">
            <a:avLst/>
          </a:prstGeom>
          <a:solidFill>
            <a:srgbClr val="F4F7FB"/>
          </a:solidFill>
          <a:ln w="19050">
            <a:solidFill>
              <a:srgbClr val="0A1F33"/>
            </a:solidFill>
            <a:prstDash val="solid"/>
          </a:ln>
        </p:spPr>
      </p:sp>
      <p:sp>
        <p:nvSpPr>
          <p:cNvPr id="7" name="Shape 5"/>
          <p:cNvSpPr/>
          <p:nvPr/>
        </p:nvSpPr>
        <p:spPr>
          <a:xfrm>
            <a:off x="2651760" y="4892040"/>
            <a:ext cx="365760" cy="365760"/>
          </a:xfrm>
          <a:prstGeom prst="ellipse">
            <a:avLst/>
          </a:prstGeom>
          <a:solidFill>
            <a:srgbClr val="F4F7FB"/>
          </a:solidFill>
          <a:ln w="19050">
            <a:solidFill>
              <a:srgbClr val="0A1F33"/>
            </a:solidFill>
            <a:prstDash val="solid"/>
          </a:ln>
        </p:spPr>
      </p:sp>
      <p:sp>
        <p:nvSpPr>
          <p:cNvPr id="8" name="Shape 6"/>
          <p:cNvSpPr/>
          <p:nvPr/>
        </p:nvSpPr>
        <p:spPr>
          <a:xfrm>
            <a:off x="1463040" y="4251960"/>
            <a:ext cx="1463040" cy="365760"/>
          </a:xfrm>
          <a:prstGeom prst="roundRect">
            <a:avLst>
              <a:gd name="adj" fmla="val 50000"/>
            </a:avLst>
          </a:prstGeom>
          <a:solidFill>
            <a:srgbClr val="F4F7FB"/>
          </a:solidFill>
          <a:ln w="19050">
            <a:solidFill>
              <a:srgbClr val="0A1F33"/>
            </a:solidFill>
            <a:prstDash val="solid"/>
          </a:ln>
        </p:spPr>
      </p:sp>
      <p:sp>
        <p:nvSpPr>
          <p:cNvPr id="9" name="Shape 7"/>
          <p:cNvSpPr/>
          <p:nvPr/>
        </p:nvSpPr>
        <p:spPr>
          <a:xfrm>
            <a:off x="822960" y="6172200"/>
            <a:ext cx="3657600" cy="0"/>
          </a:xfrm>
          <a:prstGeom prst="line">
            <a:avLst/>
          </a:prstGeom>
          <a:noFill/>
          <a:ln w="12700">
            <a:solidFill>
              <a:srgbClr val="5A6B7B"/>
            </a:solidFill>
            <a:prstDash val="solid"/>
            <a:headEnd type="arrow"/>
            <a:tailEnd type="arrow"/>
          </a:ln>
        </p:spPr>
      </p:sp>
      <p:sp>
        <p:nvSpPr>
          <p:cNvPr id="10" name="Text 8"/>
          <p:cNvSpPr txBox="1"/>
          <p:nvPr/>
        </p:nvSpPr>
        <p:spPr>
          <a:xfrm>
            <a:off x="822960" y="6217920"/>
            <a:ext cx="3657600" cy="320040"/>
          </a:xfrm>
          <a:prstGeom prst="rect">
            <a:avLst/>
          </a:prstGeom>
          <a:noFill/>
          <a:ln/>
        </p:spPr>
        <p:txBody>
          <a:bodyPr wrap="square" lIns="0" tIns="0" rIns="0" bIns="0" rtlCol="0" anchor="ctr"/>
          <a:lstStyle/>
          <a:p>
            <a:pPr algn="ctr" indent="0" marL="0">
              <a:buNone/>
            </a:pPr>
            <a:r>
              <a:rPr lang="en-US" sz="1400" dirty="0">
                <a:solidFill>
                  <a:srgbClr val="5A6B7B"/>
                </a:solidFill>
                <a:latin typeface="Courier New" pitchFamily="34" charset="0"/>
                <a:ea typeface="Courier New" pitchFamily="34" charset="-122"/>
                <a:cs typeface="Courier New" pitchFamily="34" charset="-120"/>
              </a:rPr>
              <a:t>112 mm</a:t>
            </a:r>
            <a:endParaRPr lang="en-US" sz="1400" dirty="0"/>
          </a:p>
        </p:txBody>
      </p:sp>
      <p:sp>
        <p:nvSpPr>
          <p:cNvPr id="11" name="Shape 9"/>
          <p:cNvSpPr/>
          <p:nvPr/>
        </p:nvSpPr>
        <p:spPr>
          <a:xfrm>
            <a:off x="4754880" y="2240280"/>
            <a:ext cx="0" cy="3657600"/>
          </a:xfrm>
          <a:prstGeom prst="line">
            <a:avLst/>
          </a:prstGeom>
          <a:noFill/>
          <a:ln w="12700">
            <a:solidFill>
              <a:srgbClr val="5A6B7B"/>
            </a:solidFill>
            <a:prstDash val="solid"/>
            <a:headEnd type="arrow"/>
            <a:tailEnd type="arrow"/>
          </a:ln>
        </p:spPr>
      </p:sp>
      <p:sp>
        <p:nvSpPr>
          <p:cNvPr id="12" name="Text 10"/>
          <p:cNvSpPr txBox="1"/>
          <p:nvPr/>
        </p:nvSpPr>
        <p:spPr>
          <a:xfrm>
            <a:off x="4846320" y="3886200"/>
            <a:ext cx="1097280" cy="365760"/>
          </a:xfrm>
          <a:prstGeom prst="rect">
            <a:avLst/>
          </a:prstGeom>
          <a:noFill/>
          <a:ln/>
        </p:spPr>
        <p:txBody>
          <a:bodyPr wrap="square" lIns="0" tIns="0" rIns="0" bIns="0" rtlCol="0" anchor="ctr"/>
          <a:lstStyle/>
          <a:p>
            <a:pPr indent="0" marL="0">
              <a:buNone/>
            </a:pPr>
            <a:r>
              <a:rPr lang="en-US" sz="1400" dirty="0">
                <a:solidFill>
                  <a:srgbClr val="5A6B7B"/>
                </a:solidFill>
                <a:latin typeface="Courier New" pitchFamily="34" charset="0"/>
                <a:ea typeface="Courier New" pitchFamily="34" charset="-122"/>
                <a:cs typeface="Courier New" pitchFamily="34" charset="-120"/>
              </a:rPr>
              <a:t>112 mm</a:t>
            </a:r>
            <a:endParaRPr lang="en-US" sz="1400" dirty="0"/>
          </a:p>
        </p:txBody>
      </p:sp>
      <p:sp>
        <p:nvSpPr>
          <p:cNvPr id="13" name="Text 11"/>
          <p:cNvSpPr txBox="1"/>
          <p:nvPr/>
        </p:nvSpPr>
        <p:spPr>
          <a:xfrm>
            <a:off x="822960" y="1828800"/>
            <a:ext cx="3657600" cy="365760"/>
          </a:xfrm>
          <a:prstGeom prst="rect">
            <a:avLst/>
          </a:prstGeom>
          <a:noFill/>
          <a:ln/>
        </p:spPr>
        <p:txBody>
          <a:bodyPr wrap="square" lIns="0" tIns="0" rIns="0" bIns="0" rtlCol="0" anchor="ctr"/>
          <a:lstStyle/>
          <a:p>
            <a:pPr algn="ctr" indent="0" marL="0">
              <a:buNone/>
            </a:pPr>
            <a:r>
              <a:rPr lang="en-US" sz="1400" dirty="0">
                <a:solidFill>
                  <a:srgbClr val="5A6B7B"/>
                </a:solidFill>
                <a:latin typeface="Courier New" pitchFamily="34" charset="0"/>
                <a:ea typeface="Courier New" pitchFamily="34" charset="-122"/>
                <a:cs typeface="Courier New" pitchFamily="34" charset="-120"/>
              </a:rPr>
              <a:t>4 mm thick</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0" y="1874520"/>
          <a:ext cx="5303520" cy="914400"/>
        </p:xfrm>
        <a:graphic>
          <a:graphicData uri="http://schemas.openxmlformats.org/drawingml/2006/table">
            <a:tbl>
              <a:tblPr/>
              <a:tblGrid>
                <a:gridCol w="1828800"/>
                <a:gridCol w="3474720"/>
              </a:tblGrid>
              <a:tr h="502920">
                <a:tc>
                  <a:txBody>
                    <a:bodyPr/>
                    <a:lstStyle/>
                    <a:p>
                      <a:pPr algn="l" indent="0" marL="0">
                        <a:buNone/>
                      </a:pP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Requirement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r>
              <a:tr h="502920">
                <a:tc>
                  <a:txBody>
                    <a:bodyPr/>
                    <a:lstStyle/>
                    <a:p>
                      <a:pPr algn="l" indent="0" marL="0">
                        <a:buNone/>
                      </a:pPr>
                      <a:r>
                        <a:rPr lang="en-US" sz="1400" b="1" dirty="0">
                          <a:solidFill>
                            <a:srgbClr val="0A1F33"/>
                          </a:solidFill>
                          <a:latin typeface="Calibri" pitchFamily="34" charset="0"/>
                          <a:ea typeface="Calibri" pitchFamily="34" charset="-122"/>
                          <a:cs typeface="Calibri" pitchFamily="34" charset="-120"/>
                        </a:rPr>
                        <a:t>Size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112 × 112 × 4 mm. You model it; it counts as a part.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0A1F33"/>
                          </a:solidFill>
                          <a:latin typeface="Calibri" pitchFamily="34" charset="0"/>
                          <a:ea typeface="Calibri" pitchFamily="34" charset="-122"/>
                          <a:cs typeface="Calibri" pitchFamily="34" charset="-120"/>
                        </a:rPr>
                        <a:t>Orientation</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Vertical. Pick the top edge and stick with it.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r h="502920">
                <a:tc>
                  <a:txBody>
                    <a:bodyPr/>
                    <a:lstStyle/>
                    <a:p>
                      <a:pPr algn="l" indent="0" marL="0">
                        <a:buNone/>
                      </a:pPr>
                      <a:r>
                        <a:rPr lang="en-US" sz="1400" b="1" dirty="0">
                          <a:solidFill>
                            <a:srgbClr val="0A1F33"/>
                          </a:solidFill>
                          <a:latin typeface="Calibri" pitchFamily="34" charset="0"/>
                          <a:ea typeface="Calibri" pitchFamily="34" charset="-122"/>
                          <a:cs typeface="Calibri" pitchFamily="34" charset="-120"/>
                        </a:rPr>
                        <a:t>Material removed</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Fine: holes, slots, pockets. Through holes are fine.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0A1F33"/>
                          </a:solidFill>
                          <a:latin typeface="Calibri" pitchFamily="34" charset="0"/>
                          <a:ea typeface="Calibri" pitchFamily="34" charset="-122"/>
                          <a:cs typeface="Calibri" pitchFamily="34" charset="-120"/>
                        </a:rPr>
                        <a:t>The back face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Nothing stands proud of it. Flush is fine.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r h="502920">
                <a:tc>
                  <a:txBody>
                    <a:bodyPr/>
                    <a:lstStyle/>
                    <a:p>
                      <a:pPr algn="l" indent="0" marL="0">
                        <a:buNone/>
                      </a:pPr>
                      <a:r>
                        <a:rPr lang="en-US" sz="1400" b="1" dirty="0">
                          <a:solidFill>
                            <a:srgbClr val="0A1F33"/>
                          </a:solidFill>
                          <a:latin typeface="Calibri" pitchFamily="34" charset="0"/>
                          <a:ea typeface="Calibri" pitchFamily="34" charset="-122"/>
                          <a:cs typeface="Calibri" pitchFamily="34" charset="-120"/>
                        </a:rPr>
                        <a:t>The edges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Nothing extends past them. Everything inside the square.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0A1F33"/>
                          </a:solidFill>
                          <a:latin typeface="Calibri" pitchFamily="34" charset="0"/>
                          <a:ea typeface="Calibri" pitchFamily="34" charset="-122"/>
                          <a:cs typeface="Calibri" pitchFamily="34" charset="-120"/>
                        </a:rPr>
                        <a:t>Print limits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The base is exempt from 2 h / 50 g. Nothing else is.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Fits and joints</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One row in your joint table for every place two parts touch. The fit decides the gap; the motion decides the joint.</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5760720"/>
                <a:gridCol w="2377440"/>
                <a:gridCol w="1188720"/>
                <a:gridCol w="17373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The two parts…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Joint type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Gap per side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0A1F33"/>
                    </a:solidFill>
                  </a:tcPr>
                </a:tc>
              </a:tr>
              <a:tr h="457200">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are pushed together once and never move (axle in the base, cap on an axle end)</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Rigid</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alibri" pitchFamily="34" charset="0"/>
                          <a:ea typeface="Calibri" pitchFamily="34" charset="-122"/>
                          <a:cs typeface="Calibri" pitchFamily="34" charset="-120"/>
                        </a:rPr>
                        <a:t>Press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ourier New" pitchFamily="34" charset="0"/>
                          <a:ea typeface="Courier New" pitchFamily="34" charset="-122"/>
                          <a:cs typeface="Courier New" pitchFamily="34" charset="-120"/>
                        </a:rPr>
                        <a:t>0.1 mm</a:t>
                      </a:r>
                      <a:endParaRPr lang="en-US" sz="1400" dirty="0">
                        <a:latin typeface="Courier New" charset="0"/>
                        <a:ea typeface="Courier New" charset="0"/>
                        <a:cs typeface="Courier New"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go together by hand and stay put, but could come apart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Rigid</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dirty="0">
                          <a:solidFill>
                            <a:srgbClr val="0A1F33"/>
                          </a:solidFill>
                          <a:latin typeface="Calibri" pitchFamily="34" charset="0"/>
                          <a:ea typeface="Calibri" pitchFamily="34" charset="-122"/>
                          <a:cs typeface="Calibri" pitchFamily="34" charset="-120"/>
                        </a:rPr>
                        <a:t>Close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dirty="0">
                          <a:solidFill>
                            <a:srgbClr val="0A1F33"/>
                          </a:solidFill>
                          <a:latin typeface="Courier New" pitchFamily="34" charset="0"/>
                          <a:ea typeface="Courier New" pitchFamily="34" charset="-122"/>
                          <a:cs typeface="Courier New" pitchFamily="34" charset="-120"/>
                        </a:rPr>
                        <a:t>0.2 mm</a:t>
                      </a:r>
                      <a:endParaRPr lang="en-US" sz="1400" dirty="0">
                        <a:latin typeface="Courier New" charset="0"/>
                        <a:ea typeface="Courier New" charset="0"/>
                        <a:cs typeface="Courier New"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r h="457200">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turn on each other (a wheel on an axle)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Revolute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ourier New" pitchFamily="34" charset="0"/>
                          <a:ea typeface="Courier New" pitchFamily="34" charset="-122"/>
                          <a:cs typeface="Courier New" pitchFamily="34" charset="-120"/>
                        </a:rPr>
                        <a:t>0.3 mm</a:t>
                      </a:r>
                      <a:endParaRPr lang="en-US" sz="1400" dirty="0">
                        <a:latin typeface="Courier New" charset="0"/>
                        <a:ea typeface="Courier New" charset="0"/>
                        <a:cs typeface="Courier New"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slide on each other (a slider between rails)</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Slider</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dirty="0">
                          <a:solidFill>
                            <a:srgbClr val="0A1F33"/>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dirty="0">
                          <a:solidFill>
                            <a:srgbClr val="0A1F33"/>
                          </a:solidFill>
                          <a:latin typeface="Courier New" pitchFamily="34" charset="0"/>
                          <a:ea typeface="Courier New" pitchFamily="34" charset="-122"/>
                          <a:cs typeface="Courier New" pitchFamily="34" charset="-120"/>
                        </a:rPr>
                        <a:t>0.3 mm</a:t>
                      </a:r>
                      <a:endParaRPr lang="en-US" sz="1400" dirty="0">
                        <a:latin typeface="Courier New" charset="0"/>
                        <a:ea typeface="Courier New" charset="0"/>
                        <a:cs typeface="Courier New"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r h="457200">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turn and slide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Cylindrical</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ourier New" pitchFamily="34" charset="0"/>
                          <a:ea typeface="Courier New" pitchFamily="34" charset="-122"/>
                          <a:cs typeface="Courier New" pitchFamily="34" charset="-120"/>
                        </a:rPr>
                        <a:t>0.3 mm</a:t>
                      </a:r>
                      <a:endParaRPr lang="en-US" sz="1400" dirty="0">
                        <a:latin typeface="Courier New" charset="0"/>
                        <a:ea typeface="Courier New" charset="0"/>
                        <a:cs typeface="Courier New"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a pin that rides in a slot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Pin-Slot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dirty="0">
                          <a:solidFill>
                            <a:srgbClr val="0A1F33"/>
                          </a:solidFill>
                          <a:latin typeface="Calibri" pitchFamily="34" charset="0"/>
                          <a:ea typeface="Calibri" pitchFamily="34" charset="-122"/>
                          <a:cs typeface="Calibri" pitchFamily="34" charset="-120"/>
                        </a:rPr>
                        <a:t>Free</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c>
                  <a:txBody>
                    <a:bodyPr/>
                    <a:lstStyle/>
                    <a:p>
                      <a:pPr algn="ctr" indent="0" marL="0">
                        <a:buNone/>
                      </a:pPr>
                      <a:r>
                        <a:rPr lang="en-US" sz="1400" dirty="0">
                          <a:solidFill>
                            <a:srgbClr val="0A1F33"/>
                          </a:solidFill>
                          <a:latin typeface="Courier New" pitchFamily="34" charset="0"/>
                          <a:ea typeface="Courier New" pitchFamily="34" charset="-122"/>
                          <a:cs typeface="Courier New" pitchFamily="34" charset="-120"/>
                        </a:rPr>
                        <a:t>0.3 mm</a:t>
                      </a:r>
                      <a:endParaRPr lang="en-US" sz="1400" dirty="0">
                        <a:latin typeface="Courier New" charset="0"/>
                        <a:ea typeface="Courier New" charset="0"/>
                        <a:cs typeface="Courier New"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EAF0F6"/>
                    </a:solidFill>
                  </a:tcPr>
                </a:tc>
              </a:tr>
              <a:tr h="457200">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are gears that mesh</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A1F33"/>
                          </a:solidFill>
                          <a:latin typeface="Calibri" pitchFamily="34" charset="0"/>
                          <a:ea typeface="Calibri" pitchFamily="34" charset="-122"/>
                          <a:cs typeface="Calibri" pitchFamily="34" charset="-120"/>
                        </a:rPr>
                        <a:t>Motion Link (not a joint)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A1F33"/>
                          </a:solidFill>
                          <a:latin typeface="Courier New" pitchFamily="34" charset="0"/>
                          <a:ea typeface="Courier New" pitchFamily="34" charset="-122"/>
                          <a:cs typeface="Courier New" pitchFamily="34" charset="-120"/>
                        </a:rPr>
                        <a:t>plugin backlash</a:t>
                      </a:r>
                      <a:endParaRPr lang="en-US" sz="1400" dirty="0">
                        <a:latin typeface="Courier New" charset="0"/>
                        <a:ea typeface="Courier New" charset="0"/>
                        <a:cs typeface="Courier New" charset="0"/>
                      </a:endParaRPr>
                    </a:p>
                  </a:txBody>
                  <a:tcPr marL="54864" marR="54864" marT="54864" marB="54864" anchor="ctr">
                    <a:lnL w="9525" cap="flat" cmpd="sng" algn="ctr">
                      <a:solidFill>
                        <a:srgbClr val="C7D2DC"/>
                      </a:solidFill>
                      <a:prstDash val="solid"/>
                      <a:round/>
                      <a:headEnd type="none" w="med" len="med"/>
                      <a:tailEnd type="none" w="med" len="med"/>
                    </a:lnL>
                    <a:lnR w="9525" cap="flat" cmpd="sng" algn="ctr">
                      <a:solidFill>
                        <a:srgbClr val="C7D2DC"/>
                      </a:solidFill>
                      <a:prstDash val="solid"/>
                      <a:round/>
                      <a:headEnd type="none" w="med" len="med"/>
                      <a:tailEnd type="none" w="med" len="med"/>
                    </a:lnR>
                    <a:lnT w="9525" cap="flat" cmpd="sng" algn="ctr">
                      <a:solidFill>
                        <a:srgbClr val="C7D2DC"/>
                      </a:solidFill>
                      <a:prstDash val="solid"/>
                      <a:round/>
                      <a:headEnd type="none" w="med" len="med"/>
                      <a:tailEnd type="none" w="med" len="med"/>
                    </a:lnT>
                    <a:lnB w="9525" cap="flat" cmpd="sng" algn="ctr">
                      <a:solidFill>
                        <a:srgbClr val="C7D2D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Gap per side is an offset: a 6 mm axle turning in a hole gets a 6.6 mm hole. Pins and axles are at least 3 mm across.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before lab</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movements. Decide with a neighbor, then we check.</a:t>
            </a:r>
            <a:endParaRPr lang="en-US" sz="1700" dirty="0"/>
          </a:p>
        </p:txBody>
      </p:sp>
      <p:sp>
        <p:nvSpPr>
          <p:cNvPr id="4" name="Shape 2"/>
          <p:cNvSpPr/>
          <p:nvPr/>
        </p:nvSpPr>
        <p:spPr>
          <a:xfrm>
            <a:off x="548640" y="1828800"/>
            <a:ext cx="5394960" cy="3383280"/>
          </a:xfrm>
          <a:prstGeom prst="roundRect">
            <a:avLst>
              <a:gd name="adj" fmla="val 2162"/>
            </a:avLst>
          </a:prstGeom>
          <a:solidFill>
            <a:srgbClr val="FFFFFF"/>
          </a:solidFill>
          <a:ln w="12700">
            <a:solidFill>
              <a:srgbClr val="C7D2DC"/>
            </a:solidFill>
            <a:prstDash val="solid"/>
          </a:ln>
        </p:spPr>
      </p:sp>
      <p:sp>
        <p:nvSpPr>
          <p:cNvPr id="5" name="Text 3"/>
          <p:cNvSpPr txBox="1"/>
          <p:nvPr/>
        </p:nvSpPr>
        <p:spPr>
          <a:xfrm>
            <a:off x="777240" y="2011680"/>
            <a:ext cx="548640" cy="548640"/>
          </a:xfrm>
          <a:prstGeom prst="rect">
            <a:avLst/>
          </a:prstGeom>
          <a:noFill/>
          <a:ln/>
        </p:spPr>
        <p:txBody>
          <a:bodyPr wrap="square" lIns="0" tIns="0" rIns="0" bIns="0" rtlCol="0" anchor="ctr"/>
          <a:lstStyle/>
          <a:p>
            <a:pPr indent="0" marL="0">
              <a:buNone/>
            </a:pPr>
            <a:r>
              <a:rPr lang="en-US" sz="3000" b="1" dirty="0">
                <a:solidFill>
                  <a:srgbClr val="3DDC84"/>
                </a:solidFill>
                <a:latin typeface="Cambria" pitchFamily="34" charset="0"/>
                <a:ea typeface="Cambria" pitchFamily="34" charset="-122"/>
                <a:cs typeface="Cambria" pitchFamily="34" charset="-120"/>
              </a:rPr>
              <a:t>A</a:t>
            </a:r>
            <a:endParaRPr lang="en-US" sz="3000" dirty="0"/>
          </a:p>
        </p:txBody>
      </p:sp>
      <p:sp>
        <p:nvSpPr>
          <p:cNvPr id="6" name="Text 4"/>
          <p:cNvSpPr txBox="1"/>
          <p:nvPr/>
        </p:nvSpPr>
        <p:spPr>
          <a:xfrm>
            <a:off x="1371600" y="2011680"/>
            <a:ext cx="4389120" cy="1097280"/>
          </a:xfrm>
          <a:prstGeom prst="rect">
            <a:avLst/>
          </a:prstGeom>
          <a:noFill/>
          <a:ln/>
        </p:spPr>
        <p:txBody>
          <a:bodyPr wrap="square" lIns="0" tIns="0" rIns="0" bIns="0" rtlCol="0" anchor="t"/>
          <a:lstStyle/>
          <a:p>
            <a:pPr indent="0" marL="0">
              <a:buNone/>
            </a:pPr>
            <a:r>
              <a:rPr lang="en-US" sz="1700" dirty="0">
                <a:solidFill>
                  <a:srgbClr val="0A1F33"/>
                </a:solidFill>
                <a:latin typeface="Calibri" pitchFamily="34" charset="0"/>
                <a:ea typeface="Calibri" pitchFamily="34" charset="-122"/>
                <a:cs typeface="Calibri" pitchFamily="34" charset="-120"/>
              </a:rPr>
              <a:t>The slider-crank from the joints lab: base, axle, crank, two pins, connecting rod, slider.</a:t>
            </a:r>
            <a:endParaRPr lang="en-US" sz="1700" dirty="0"/>
          </a:p>
        </p:txBody>
      </p:sp>
      <p:sp>
        <p:nvSpPr>
          <p:cNvPr id="7" name="Text 5"/>
          <p:cNvSpPr txBox="1"/>
          <p:nvPr/>
        </p:nvSpPr>
        <p:spPr>
          <a:xfrm>
            <a:off x="777240" y="3383280"/>
            <a:ext cx="4937760" cy="1371600"/>
          </a:xfrm>
          <a:prstGeom prst="rect">
            <a:avLst/>
          </a:prstGeom>
          <a:noFill/>
          <a:ln/>
        </p:spPr>
        <p:txBody>
          <a:bodyPr wrap="square" lIns="0" tIns="0" rIns="0" bIns="0" rtlCol="0" anchor="t"/>
          <a:lstStyle/>
          <a:p>
            <a:pPr indent="0" marL="0">
              <a:buNone/>
            </a:pPr>
            <a:r>
              <a:rPr lang="en-US" sz="1700" dirty="0">
                <a:solidFill>
                  <a:srgbClr val="5A6B7B"/>
                </a:solidFill>
                <a:latin typeface="Calibri" pitchFamily="34" charset="0"/>
                <a:ea typeface="Calibri" pitchFamily="34" charset="-122"/>
                <a:cs typeface="Calibri" pitchFamily="34" charset="-120"/>
              </a:rPr>
              <a:t>How many moving parts? Which joint types? Does it pass?</a:t>
            </a:r>
            <a:endParaRPr lang="en-US" sz="1700" dirty="0"/>
          </a:p>
        </p:txBody>
      </p:sp>
      <p:sp>
        <p:nvSpPr>
          <p:cNvPr id="8" name="Shape 6"/>
          <p:cNvSpPr/>
          <p:nvPr/>
        </p:nvSpPr>
        <p:spPr>
          <a:xfrm>
            <a:off x="6217920" y="1828800"/>
            <a:ext cx="5394960" cy="3383280"/>
          </a:xfrm>
          <a:prstGeom prst="roundRect">
            <a:avLst>
              <a:gd name="adj" fmla="val 2162"/>
            </a:avLst>
          </a:prstGeom>
          <a:solidFill>
            <a:srgbClr val="FFFFFF"/>
          </a:solidFill>
          <a:ln w="12700">
            <a:solidFill>
              <a:srgbClr val="C7D2DC"/>
            </a:solidFill>
            <a:prstDash val="solid"/>
          </a:ln>
        </p:spPr>
      </p:sp>
      <p:sp>
        <p:nvSpPr>
          <p:cNvPr id="9" name="Text 7"/>
          <p:cNvSpPr txBox="1"/>
          <p:nvPr/>
        </p:nvSpPr>
        <p:spPr>
          <a:xfrm>
            <a:off x="6446520" y="2011680"/>
            <a:ext cx="548640" cy="548640"/>
          </a:xfrm>
          <a:prstGeom prst="rect">
            <a:avLst/>
          </a:prstGeom>
          <a:noFill/>
          <a:ln/>
        </p:spPr>
        <p:txBody>
          <a:bodyPr wrap="square" lIns="0" tIns="0" rIns="0" bIns="0" rtlCol="0" anchor="ctr"/>
          <a:lstStyle/>
          <a:p>
            <a:pPr indent="0" marL="0">
              <a:buNone/>
            </a:pPr>
            <a:r>
              <a:rPr lang="en-US" sz="3000" b="1" dirty="0">
                <a:solidFill>
                  <a:srgbClr val="3DDC84"/>
                </a:solidFill>
                <a:latin typeface="Cambria" pitchFamily="34" charset="0"/>
                <a:ea typeface="Cambria" pitchFamily="34" charset="-122"/>
                <a:cs typeface="Cambria" pitchFamily="34" charset="-120"/>
              </a:rPr>
              <a:t>B</a:t>
            </a:r>
            <a:endParaRPr lang="en-US" sz="3000" dirty="0"/>
          </a:p>
        </p:txBody>
      </p:sp>
      <p:sp>
        <p:nvSpPr>
          <p:cNvPr id="10" name="Text 8"/>
          <p:cNvSpPr txBox="1"/>
          <p:nvPr/>
        </p:nvSpPr>
        <p:spPr>
          <a:xfrm>
            <a:off x="7040880" y="2011680"/>
            <a:ext cx="4389120" cy="1097280"/>
          </a:xfrm>
          <a:prstGeom prst="rect">
            <a:avLst/>
          </a:prstGeom>
          <a:noFill/>
          <a:ln/>
        </p:spPr>
        <p:txBody>
          <a:bodyPr wrap="square" lIns="0" tIns="0" rIns="0" bIns="0" rtlCol="0" anchor="t"/>
          <a:lstStyle/>
          <a:p>
            <a:pPr indent="0" marL="0">
              <a:buNone/>
            </a:pPr>
            <a:r>
              <a:rPr lang="en-US" sz="1700" dirty="0">
                <a:solidFill>
                  <a:srgbClr val="0A1F33"/>
                </a:solidFill>
                <a:latin typeface="Calibri" pitchFamily="34" charset="0"/>
                <a:ea typeface="Calibri" pitchFamily="34" charset="-122"/>
                <a:cs typeface="Calibri" pitchFamily="34" charset="-120"/>
              </a:rPr>
              <a:t>A wheel with a handle on its rim, turning on an axle pressed into the base.</a:t>
            </a:r>
            <a:endParaRPr lang="en-US" sz="1700" dirty="0"/>
          </a:p>
        </p:txBody>
      </p:sp>
      <p:sp>
        <p:nvSpPr>
          <p:cNvPr id="11" name="Text 9"/>
          <p:cNvSpPr txBox="1"/>
          <p:nvPr/>
        </p:nvSpPr>
        <p:spPr>
          <a:xfrm>
            <a:off x="6446520" y="3383280"/>
            <a:ext cx="4937760" cy="1371600"/>
          </a:xfrm>
          <a:prstGeom prst="rect">
            <a:avLst/>
          </a:prstGeom>
          <a:noFill/>
          <a:ln/>
        </p:spPr>
        <p:txBody>
          <a:bodyPr wrap="square" lIns="0" tIns="0" rIns="0" bIns="0" rtlCol="0" anchor="t"/>
          <a:lstStyle/>
          <a:p>
            <a:pPr indent="0" marL="0">
              <a:buNone/>
            </a:pPr>
            <a:r>
              <a:rPr lang="en-US" sz="1700" dirty="0">
                <a:solidFill>
                  <a:srgbClr val="5A6B7B"/>
                </a:solidFill>
                <a:latin typeface="Calibri" pitchFamily="34" charset="0"/>
                <a:ea typeface="Calibri" pitchFamily="34" charset="-122"/>
                <a:cs typeface="Calibri" pitchFamily="34" charset="-120"/>
              </a:rPr>
              <a:t>What's the input? What's the output? Does it pass?</a:t>
            </a:r>
            <a:endParaRPr lang="en-US" sz="1700" dirty="0"/>
          </a:p>
        </p:txBody>
      </p:sp>
      <p:sp>
        <p:nvSpPr>
          <p:cNvPr id="12" name="Text 10"/>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100" dirty="0">
                <a:solidFill>
                  <a:srgbClr val="C7D2DC"/>
                </a:solidFill>
                <a:latin typeface="Courier New" pitchFamily="34" charset="0"/>
                <a:ea typeface="Courier New" pitchFamily="34" charset="-122"/>
                <a:cs typeface="Courier New" pitchFamily="34" charset="-120"/>
              </a:rPr>
              <a:t>A: 3 moving (crank, rod, slider); revolute + slider; passes.     B: input turns, output turns; fails rule 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F3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Eight days</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It's a plan, not a stopwatch. Check yourself against it at the end of every period.</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097280"/>
                <a:gridCol w="9966960"/>
              </a:tblGrid>
              <a:tr h="54864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Day</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0A1F33"/>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Where you should be by the end of it</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0A1F33"/>
                    </a:solidFill>
                  </a:tcPr>
                </a:tc>
              </a:tr>
              <a:tr h="548640">
                <a:tc>
                  <a:txBody>
                    <a:bodyP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c>
                  <a:txBody>
                    <a:bodyPr/>
                    <a:lstStyle/>
                    <a:p>
                      <a:pPr algn="l" indent="0" marL="0">
                        <a:buNone/>
                      </a:pPr>
                      <a:r>
                        <a:rPr lang="en-US" sz="1600" dirty="0">
                          <a:solidFill>
                            <a:srgbClr val="FFFFFF"/>
                          </a:solidFill>
                          <a:latin typeface="Calibri" pitchFamily="34" charset="0"/>
                          <a:ea typeface="Calibri" pitchFamily="34" charset="-122"/>
                          <a:cs typeface="Calibri" pitchFamily="34" charset="-120"/>
                        </a:rPr>
                        <a:t>Movement approved. Notebook entry started: movement record, parts list, joint table. Project folder made.</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r>
              <a:tr h="548640">
                <a:tc>
                  <a:txBody>
                    <a:bodyP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2–4</a:t>
                      </a:r>
                      <a:endParaRPr lang="en-US" sz="1600" dirty="0">
                        <a:latin typeface="Courier New" charset="0"/>
                        <a:ea typeface="Courier New" charset="0"/>
                        <a:cs typeface="Courier New"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c>
                  <a:txBody>
                    <a:bodyPr/>
                    <a:lstStyle/>
                    <a:p>
                      <a:pPr algn="l" indent="0" marL="0">
                        <a:buNone/>
                      </a:pPr>
                      <a:r>
                        <a:rPr lang="en-US" sz="1600" dirty="0">
                          <a:solidFill>
                            <a:srgbClr val="FFFFFF"/>
                          </a:solidFill>
                          <a:latin typeface="Calibri" pitchFamily="34" charset="0"/>
                          <a:ea typeface="Calibri" pitchFamily="34" charset="-122"/>
                          <a:cs typeface="Calibri" pitchFamily="34" charset="-120"/>
                        </a:rPr>
                        <a:t>Base and every part modeled, one Part Design each, holes and pins sized from the joint table.</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r>
              <a:tr h="548640">
                <a:tc>
                  <a:txBody>
                    <a:bodyP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5</a:t>
                      </a:r>
                      <a:endParaRPr lang="en-US" sz="1600" dirty="0">
                        <a:latin typeface="Courier New" charset="0"/>
                        <a:ea typeface="Courier New" charset="0"/>
                        <a:cs typeface="Courier New"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c>
                  <a:txBody>
                    <a:bodyPr/>
                    <a:lstStyle/>
                    <a:p>
                      <a:pPr algn="l" indent="0" marL="0">
                        <a:buNone/>
                      </a:pPr>
                      <a:r>
                        <a:rPr lang="en-US" sz="1600" dirty="0">
                          <a:solidFill>
                            <a:srgbClr val="FFFFFF"/>
                          </a:solidFill>
                          <a:latin typeface="Calibri" pitchFamily="34" charset="0"/>
                          <a:ea typeface="Calibri" pitchFamily="34" charset="-122"/>
                          <a:cs typeface="Calibri" pitchFamily="34" charset="-120"/>
                        </a:rPr>
                        <a:t>Assembly built, joints named, mechanism runs when you drag the input.</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r>
              <a:tr h="548640">
                <a:tc>
                  <a:txBody>
                    <a:bodyP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6</a:t>
                      </a:r>
                      <a:endParaRPr lang="en-US" sz="1600" dirty="0">
                        <a:latin typeface="Courier New" charset="0"/>
                        <a:ea typeface="Courier New" charset="0"/>
                        <a:cs typeface="Courier New"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c>
                  <a:txBody>
                    <a:bodyPr/>
                    <a:lstStyle/>
                    <a:p>
                      <a:pPr algn="l" indent="0" marL="0">
                        <a:buNone/>
                      </a:pPr>
                      <a:r>
                        <a:rPr lang="en-US" sz="1600" dirty="0">
                          <a:solidFill>
                            <a:srgbClr val="FFFFFF"/>
                          </a:solidFill>
                          <a:latin typeface="Calibri" pitchFamily="34" charset="0"/>
                          <a:ea typeface="Calibri" pitchFamily="34" charset="-122"/>
                          <a:cs typeface="Calibri" pitchFamily="34" charset="-120"/>
                        </a:rPr>
                        <a:t>Fixes. Interference and Draft Analysis clean. Exceptions recorded.</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r>
              <a:tr h="548640">
                <a:tc>
                  <a:txBody>
                    <a:bodyP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7</a:t>
                      </a:r>
                      <a:endParaRPr lang="en-US" sz="1600" dirty="0">
                        <a:latin typeface="Courier New" charset="0"/>
                        <a:ea typeface="Courier New" charset="0"/>
                        <a:cs typeface="Courier New"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c>
                  <a:txBody>
                    <a:bodyPr/>
                    <a:lstStyle/>
                    <a:p>
                      <a:pPr algn="l" indent="0" marL="0">
                        <a:buNone/>
                      </a:pPr>
                      <a:r>
                        <a:rPr lang="en-US" sz="1600" dirty="0">
                          <a:solidFill>
                            <a:srgbClr val="FFFFFF"/>
                          </a:solidFill>
                          <a:latin typeface="Calibri" pitchFamily="34" charset="0"/>
                          <a:ea typeface="Calibri" pitchFamily="34" charset="-122"/>
                          <a:cs typeface="Calibri" pitchFamily="34" charset="-120"/>
                        </a:rPr>
                        <a:t>Drawings of every unique part on the NPA Drawing Template.</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r>
              <a:tr h="548640">
                <a:tc>
                  <a:txBody>
                    <a:bodyP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8</a:t>
                      </a:r>
                      <a:endParaRPr lang="en-US" sz="1600" dirty="0">
                        <a:latin typeface="Courier New" charset="0"/>
                        <a:ea typeface="Courier New" charset="0"/>
                        <a:cs typeface="Courier New"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c>
                  <a:txBody>
                    <a:bodyPr/>
                    <a:lstStyle/>
                    <a:p>
                      <a:pPr algn="l" indent="0" marL="0">
                        <a:buNone/>
                      </a:pPr>
                      <a:r>
                        <a:rPr lang="en-US" sz="1600" dirty="0">
                          <a:solidFill>
                            <a:srgbClr val="FFFFFF"/>
                          </a:solidFill>
                          <a:latin typeface="Calibri" pitchFamily="34" charset="0"/>
                          <a:ea typeface="Calibri" pitchFamily="34" charset="-122"/>
                          <a:cs typeface="Calibri" pitchFamily="34" charset="-120"/>
                        </a:rPr>
                        <a:t>Demonstrations.</a:t>
                      </a:r>
                      <a:endParaRPr lang="en-US" sz="1600" dirty="0">
                        <a:latin typeface="Calibri" charset="0"/>
                        <a:ea typeface="Calibri" charset="0"/>
                        <a:cs typeface="Calibri" charset="0"/>
                      </a:endParaRPr>
                    </a:p>
                  </a:txBody>
                  <a:tcPr marL="54864" marR="54864" marT="54864" marB="54864" anchor="ctr">
                    <a:lnL w="9525" cap="flat" cmpd="sng" algn="ctr">
                      <a:solidFill>
                        <a:srgbClr val="1F4A70"/>
                      </a:solidFill>
                      <a:prstDash val="solid"/>
                      <a:round/>
                      <a:headEnd type="none" w="med" len="med"/>
                      <a:tailEnd type="none" w="med" len="med"/>
                    </a:lnL>
                    <a:lnR w="9525" cap="flat" cmpd="sng" algn="ctr">
                      <a:solidFill>
                        <a:srgbClr val="1F4A70"/>
                      </a:solidFill>
                      <a:prstDash val="solid"/>
                      <a:round/>
                      <a:headEnd type="none" w="med" len="med"/>
                      <a:tailEnd type="none" w="med" len="med"/>
                    </a:lnR>
                    <a:lnT w="9525" cap="flat" cmpd="sng" algn="ctr">
                      <a:solidFill>
                        <a:srgbClr val="1F4A70"/>
                      </a:solidFill>
                      <a:prstDash val="solid"/>
                      <a:round/>
                      <a:headEnd type="none" w="med" len="med"/>
                      <a:tailEnd type="none" w="med" len="med"/>
                    </a:lnT>
                    <a:lnB w="9525" cap="flat" cmpd="sng" algn="ctr">
                      <a:solidFill>
                        <a:srgbClr val="1F4A70"/>
                      </a:solidFill>
                      <a:prstDash val="solid"/>
                      <a:round/>
                      <a:headEnd type="none" w="med" len="med"/>
                      <a:tailEnd type="none" w="med" len="med"/>
                    </a:lnB>
                    <a:solidFill>
                      <a:srgbClr val="13324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Your mission</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Three things. Turn It In is the same list you'll be graded on.</a:t>
            </a:r>
            <a:endParaRPr lang="en-US" sz="1700" dirty="0"/>
          </a:p>
        </p:txBody>
      </p:sp>
      <p:sp>
        <p:nvSpPr>
          <p:cNvPr id="4" name="Shape 2"/>
          <p:cNvSpPr/>
          <p:nvPr/>
        </p:nvSpPr>
        <p:spPr>
          <a:xfrm>
            <a:off x="731520" y="1920240"/>
            <a:ext cx="502920" cy="502920"/>
          </a:xfrm>
          <a:prstGeom prst="roundRect">
            <a:avLst>
              <a:gd name="adj" fmla="val 10909"/>
            </a:avLst>
          </a:prstGeom>
          <a:solidFill>
            <a:srgbClr val="3DDC84"/>
          </a:solidFill>
          <a:ln/>
        </p:spPr>
      </p:sp>
      <p:sp>
        <p:nvSpPr>
          <p:cNvPr id="5" name="Text 3"/>
          <p:cNvSpPr txBox="1"/>
          <p:nvPr/>
        </p:nvSpPr>
        <p:spPr>
          <a:xfrm>
            <a:off x="731520" y="19202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463040" y="1892808"/>
            <a:ext cx="9966960" cy="91440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Your project folder Movement &lt;number&gt; - &lt;short name&gt; in your Fusion student folder: a Parts folder with one Part Design per printed piece, and your Movement &lt;number&gt; assembly beside it. Saving is submitting.</a:t>
            </a:r>
            <a:endParaRPr lang="en-US" sz="1700" dirty="0"/>
          </a:p>
        </p:txBody>
      </p:sp>
      <p:sp>
        <p:nvSpPr>
          <p:cNvPr id="7" name="Shape 5"/>
          <p:cNvSpPr/>
          <p:nvPr/>
        </p:nvSpPr>
        <p:spPr>
          <a:xfrm>
            <a:off x="731520" y="3200400"/>
            <a:ext cx="502920" cy="502920"/>
          </a:xfrm>
          <a:prstGeom prst="roundRect">
            <a:avLst>
              <a:gd name="adj" fmla="val 10909"/>
            </a:avLst>
          </a:prstGeom>
          <a:solidFill>
            <a:srgbClr val="3DDC84"/>
          </a:solidFill>
          <a:ln/>
        </p:spPr>
      </p:sp>
      <p:sp>
        <p:nvSpPr>
          <p:cNvPr id="8" name="Text 6"/>
          <p:cNvSpPr txBox="1"/>
          <p:nvPr/>
        </p:nvSpPr>
        <p:spPr>
          <a:xfrm>
            <a:off x="731520" y="32004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463040" y="3172968"/>
            <a:ext cx="9966960" cy="91440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Your notebook entry Mechanical Movement Project: movement record, parts list, joint table, exceptions table (or "None"), a screenshot of the running assembly with its named joints, and a PDF drawing of every unique part on the NPA Drawing Template.</a:t>
            </a:r>
            <a:endParaRPr lang="en-US" sz="1700" dirty="0"/>
          </a:p>
        </p:txBody>
      </p:sp>
      <p:sp>
        <p:nvSpPr>
          <p:cNvPr id="10" name="Shape 8"/>
          <p:cNvSpPr/>
          <p:nvPr/>
        </p:nvSpPr>
        <p:spPr>
          <a:xfrm>
            <a:off x="731520" y="4480560"/>
            <a:ext cx="502920" cy="502920"/>
          </a:xfrm>
          <a:prstGeom prst="roundRect">
            <a:avLst>
              <a:gd name="adj" fmla="val 10909"/>
            </a:avLst>
          </a:prstGeom>
          <a:solidFill>
            <a:srgbClr val="3DDC84"/>
          </a:solidFill>
          <a:ln/>
        </p:spPr>
      </p:sp>
      <p:sp>
        <p:nvSpPr>
          <p:cNvPr id="11" name="Text 9"/>
          <p:cNvSpPr txBox="1"/>
          <p:nvPr/>
        </p:nvSpPr>
        <p:spPr>
          <a:xfrm>
            <a:off x="731520" y="448056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463040" y="4453128"/>
            <a:ext cx="9966960" cy="566928"/>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Your one-minute demonstration, given in class on day eight.</a:t>
            </a:r>
            <a:endParaRPr lang="en-US" sz="1700" dirty="0"/>
          </a:p>
        </p:txBody>
      </p:sp>
      <p:sp>
        <p:nvSpPr>
          <p:cNvPr id="13" name="Text 11"/>
          <p:cNvSpPr txBox="1"/>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project: print it, build it, and make it work on the wall.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33"/>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Short List</a:t>
            </a:r>
            <a:endParaRPr lang="en-US" sz="3400" dirty="0"/>
          </a:p>
        </p:txBody>
      </p:sp>
      <p:sp>
        <p:nvSpPr>
          <p:cNvPr id="3" name="Text 1"/>
          <p:cNvSpPr txBox="1"/>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Everything boiled down. If every line is true, you're done.</a:t>
            </a:r>
            <a:endParaRPr lang="en-US" sz="1700" dirty="0"/>
          </a:p>
        </p:txBody>
      </p:sp>
      <p:sp>
        <p:nvSpPr>
          <p:cNvPr id="4" name="Shape 2"/>
          <p:cNvSpPr/>
          <p:nvPr/>
        </p:nvSpPr>
        <p:spPr>
          <a:xfrm>
            <a:off x="731520" y="1874520"/>
            <a:ext cx="411480" cy="411480"/>
          </a:xfrm>
          <a:prstGeom prst="roundRect">
            <a:avLst>
              <a:gd name="adj" fmla="val 13333"/>
            </a:avLst>
          </a:prstGeom>
          <a:solidFill>
            <a:srgbClr val="3DDC84"/>
          </a:solidFill>
          <a:ln/>
        </p:spPr>
      </p:sp>
      <p:sp>
        <p:nvSpPr>
          <p:cNvPr id="5" name="Text 3"/>
          <p:cNvSpPr txBox="1"/>
          <p:nvPr/>
        </p:nvSpPr>
        <p:spPr>
          <a:xfrm>
            <a:off x="731520" y="187452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6" name="Text 4"/>
          <p:cNvSpPr txBox="1"/>
          <p:nvPr/>
        </p:nvSpPr>
        <p:spPr>
          <a:xfrm>
            <a:off x="1325880" y="182880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Movement approved before modeling</a:t>
            </a:r>
            <a:endParaRPr lang="en-US" sz="1600" dirty="0"/>
          </a:p>
        </p:txBody>
      </p:sp>
      <p:sp>
        <p:nvSpPr>
          <p:cNvPr id="7" name="Shape 5"/>
          <p:cNvSpPr/>
          <p:nvPr/>
        </p:nvSpPr>
        <p:spPr>
          <a:xfrm>
            <a:off x="731520" y="2651760"/>
            <a:ext cx="411480" cy="411480"/>
          </a:xfrm>
          <a:prstGeom prst="roundRect">
            <a:avLst>
              <a:gd name="adj" fmla="val 13333"/>
            </a:avLst>
          </a:prstGeom>
          <a:solidFill>
            <a:srgbClr val="3DDC84"/>
          </a:solidFill>
          <a:ln/>
        </p:spPr>
      </p:sp>
      <p:sp>
        <p:nvSpPr>
          <p:cNvPr id="8" name="Text 6"/>
          <p:cNvSpPr txBox="1"/>
          <p:nvPr/>
        </p:nvSpPr>
        <p:spPr>
          <a:xfrm>
            <a:off x="731520" y="265176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9" name="Text 7"/>
          <p:cNvSpPr txBox="1"/>
          <p:nvPr/>
        </p:nvSpPr>
        <p:spPr>
          <a:xfrm>
            <a:off x="1325880" y="260604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Project folder with a Parts folder inside</a:t>
            </a:r>
            <a:endParaRPr lang="en-US" sz="1600" dirty="0"/>
          </a:p>
        </p:txBody>
      </p:sp>
      <p:sp>
        <p:nvSpPr>
          <p:cNvPr id="10" name="Shape 8"/>
          <p:cNvSpPr/>
          <p:nvPr/>
        </p:nvSpPr>
        <p:spPr>
          <a:xfrm>
            <a:off x="731520" y="3429000"/>
            <a:ext cx="411480" cy="411480"/>
          </a:xfrm>
          <a:prstGeom prst="roundRect">
            <a:avLst>
              <a:gd name="adj" fmla="val 13333"/>
            </a:avLst>
          </a:prstGeom>
          <a:solidFill>
            <a:srgbClr val="3DDC84"/>
          </a:solidFill>
          <a:ln/>
        </p:spPr>
      </p:sp>
      <p:sp>
        <p:nvSpPr>
          <p:cNvPr id="11" name="Text 9"/>
          <p:cNvSpPr txBox="1"/>
          <p:nvPr/>
        </p:nvSpPr>
        <p:spPr>
          <a:xfrm>
            <a:off x="731520" y="342900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1325880" y="338328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One Part Design per printed piece, all in Parts</a:t>
            </a:r>
            <a:endParaRPr lang="en-US" sz="1600" dirty="0"/>
          </a:p>
        </p:txBody>
      </p:sp>
      <p:sp>
        <p:nvSpPr>
          <p:cNvPr id="13" name="Shape 11"/>
          <p:cNvSpPr/>
          <p:nvPr/>
        </p:nvSpPr>
        <p:spPr>
          <a:xfrm>
            <a:off x="731520" y="4206240"/>
            <a:ext cx="411480" cy="411480"/>
          </a:xfrm>
          <a:prstGeom prst="roundRect">
            <a:avLst>
              <a:gd name="adj" fmla="val 13333"/>
            </a:avLst>
          </a:prstGeom>
          <a:solidFill>
            <a:srgbClr val="3DDC84"/>
          </a:solidFill>
          <a:ln/>
        </p:spPr>
      </p:sp>
      <p:sp>
        <p:nvSpPr>
          <p:cNvPr id="14" name="Text 12"/>
          <p:cNvSpPr txBox="1"/>
          <p:nvPr/>
        </p:nvSpPr>
        <p:spPr>
          <a:xfrm>
            <a:off x="731520" y="420624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1325880" y="416052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Base 112 × 112 × 4; nothing past the edges or the back</a:t>
            </a:r>
            <a:endParaRPr lang="en-US" sz="1600" dirty="0"/>
          </a:p>
        </p:txBody>
      </p:sp>
      <p:sp>
        <p:nvSpPr>
          <p:cNvPr id="16" name="Shape 14"/>
          <p:cNvSpPr/>
          <p:nvPr/>
        </p:nvSpPr>
        <p:spPr>
          <a:xfrm>
            <a:off x="731520" y="4983480"/>
            <a:ext cx="411480" cy="411480"/>
          </a:xfrm>
          <a:prstGeom prst="roundRect">
            <a:avLst>
              <a:gd name="adj" fmla="val 13333"/>
            </a:avLst>
          </a:prstGeom>
          <a:solidFill>
            <a:srgbClr val="3DDC84"/>
          </a:solidFill>
          <a:ln/>
        </p:spPr>
      </p:sp>
      <p:sp>
        <p:nvSpPr>
          <p:cNvPr id="17" name="Text 15"/>
          <p:cNvSpPr txBox="1"/>
          <p:nvPr/>
        </p:nvSpPr>
        <p:spPr>
          <a:xfrm>
            <a:off x="731520" y="498348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18" name="Text 16"/>
          <p:cNvSpPr txBox="1"/>
          <p:nvPr/>
        </p:nvSpPr>
        <p:spPr>
          <a:xfrm>
            <a:off x="1325880" y="493776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Assembly beside Parts; only the base grounded</a:t>
            </a:r>
            <a:endParaRPr lang="en-US" sz="1600" dirty="0"/>
          </a:p>
        </p:txBody>
      </p:sp>
      <p:sp>
        <p:nvSpPr>
          <p:cNvPr id="19" name="Shape 17"/>
          <p:cNvSpPr/>
          <p:nvPr/>
        </p:nvSpPr>
        <p:spPr>
          <a:xfrm>
            <a:off x="6400800" y="1874520"/>
            <a:ext cx="411480" cy="411480"/>
          </a:xfrm>
          <a:prstGeom prst="roundRect">
            <a:avLst>
              <a:gd name="adj" fmla="val 13333"/>
            </a:avLst>
          </a:prstGeom>
          <a:solidFill>
            <a:srgbClr val="3DDC84"/>
          </a:solidFill>
          <a:ln/>
        </p:spPr>
      </p:sp>
      <p:sp>
        <p:nvSpPr>
          <p:cNvPr id="20" name="Text 18"/>
          <p:cNvSpPr txBox="1"/>
          <p:nvPr/>
        </p:nvSpPr>
        <p:spPr>
          <a:xfrm>
            <a:off x="6400800" y="187452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21" name="Text 19"/>
          <p:cNvSpPr txBox="1"/>
          <p:nvPr/>
        </p:nvSpPr>
        <p:spPr>
          <a:xfrm>
            <a:off x="6995160" y="182880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Every joint named; input drives output; Interference empty</a:t>
            </a:r>
            <a:endParaRPr lang="en-US" sz="1600" dirty="0"/>
          </a:p>
        </p:txBody>
      </p:sp>
      <p:sp>
        <p:nvSpPr>
          <p:cNvPr id="22" name="Shape 20"/>
          <p:cNvSpPr/>
          <p:nvPr/>
        </p:nvSpPr>
        <p:spPr>
          <a:xfrm>
            <a:off x="6400800" y="2651760"/>
            <a:ext cx="411480" cy="411480"/>
          </a:xfrm>
          <a:prstGeom prst="roundRect">
            <a:avLst>
              <a:gd name="adj" fmla="val 13333"/>
            </a:avLst>
          </a:prstGeom>
          <a:solidFill>
            <a:srgbClr val="3DDC84"/>
          </a:solidFill>
          <a:ln/>
        </p:spPr>
      </p:sp>
      <p:sp>
        <p:nvSpPr>
          <p:cNvPr id="23" name="Text 21"/>
          <p:cNvSpPr txBox="1"/>
          <p:nvPr/>
        </p:nvSpPr>
        <p:spPr>
          <a:xfrm>
            <a:off x="6400800" y="265176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24" name="Text 22"/>
          <p:cNvSpPr txBox="1"/>
          <p:nvPr/>
        </p:nvSpPr>
        <p:spPr>
          <a:xfrm>
            <a:off x="6995160" y="260604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Notebook entry: movement record, parts list, joint table, exceptions</a:t>
            </a:r>
            <a:endParaRPr lang="en-US" sz="1600" dirty="0"/>
          </a:p>
        </p:txBody>
      </p:sp>
      <p:sp>
        <p:nvSpPr>
          <p:cNvPr id="25" name="Shape 23"/>
          <p:cNvSpPr/>
          <p:nvPr/>
        </p:nvSpPr>
        <p:spPr>
          <a:xfrm>
            <a:off x="6400800" y="3429000"/>
            <a:ext cx="411480" cy="411480"/>
          </a:xfrm>
          <a:prstGeom prst="roundRect">
            <a:avLst>
              <a:gd name="adj" fmla="val 13333"/>
            </a:avLst>
          </a:prstGeom>
          <a:solidFill>
            <a:srgbClr val="3DDC84"/>
          </a:solidFill>
          <a:ln/>
        </p:spPr>
      </p:sp>
      <p:sp>
        <p:nvSpPr>
          <p:cNvPr id="26" name="Text 24"/>
          <p:cNvSpPr txBox="1"/>
          <p:nvPr/>
        </p:nvSpPr>
        <p:spPr>
          <a:xfrm>
            <a:off x="6400800" y="342900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27" name="Text 25"/>
          <p:cNvSpPr txBox="1"/>
          <p:nvPr/>
        </p:nvSpPr>
        <p:spPr>
          <a:xfrm>
            <a:off x="6995160" y="338328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Screenshot of the running assembly with joint names</a:t>
            </a:r>
            <a:endParaRPr lang="en-US" sz="1600" dirty="0"/>
          </a:p>
        </p:txBody>
      </p:sp>
      <p:sp>
        <p:nvSpPr>
          <p:cNvPr id="28" name="Shape 26"/>
          <p:cNvSpPr/>
          <p:nvPr/>
        </p:nvSpPr>
        <p:spPr>
          <a:xfrm>
            <a:off x="6400800" y="4206240"/>
            <a:ext cx="411480" cy="411480"/>
          </a:xfrm>
          <a:prstGeom prst="roundRect">
            <a:avLst>
              <a:gd name="adj" fmla="val 13333"/>
            </a:avLst>
          </a:prstGeom>
          <a:solidFill>
            <a:srgbClr val="3DDC84"/>
          </a:solidFill>
          <a:ln/>
        </p:spPr>
      </p:sp>
      <p:sp>
        <p:nvSpPr>
          <p:cNvPr id="29" name="Text 27"/>
          <p:cNvSpPr txBox="1"/>
          <p:nvPr/>
        </p:nvSpPr>
        <p:spPr>
          <a:xfrm>
            <a:off x="6400800" y="420624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30" name="Text 28"/>
          <p:cNvSpPr txBox="1"/>
          <p:nvPr/>
        </p:nvSpPr>
        <p:spPr>
          <a:xfrm>
            <a:off x="6995160" y="416052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PDF drawing of every unique part, NPA template</a:t>
            </a:r>
            <a:endParaRPr lang="en-US" sz="1600" dirty="0"/>
          </a:p>
        </p:txBody>
      </p:sp>
      <p:sp>
        <p:nvSpPr>
          <p:cNvPr id="31" name="Shape 29"/>
          <p:cNvSpPr/>
          <p:nvPr/>
        </p:nvSpPr>
        <p:spPr>
          <a:xfrm>
            <a:off x="6400800" y="4983480"/>
            <a:ext cx="411480" cy="411480"/>
          </a:xfrm>
          <a:prstGeom prst="roundRect">
            <a:avLst>
              <a:gd name="adj" fmla="val 13333"/>
            </a:avLst>
          </a:prstGeom>
          <a:solidFill>
            <a:srgbClr val="3DDC84"/>
          </a:solidFill>
          <a:ln/>
        </p:spPr>
      </p:sp>
      <p:sp>
        <p:nvSpPr>
          <p:cNvPr id="32" name="Text 30"/>
          <p:cNvSpPr txBox="1"/>
          <p:nvPr/>
        </p:nvSpPr>
        <p:spPr>
          <a:xfrm>
            <a:off x="6400800" y="4983480"/>
            <a:ext cx="411480" cy="411480"/>
          </a:xfrm>
          <a:prstGeom prst="rect">
            <a:avLst/>
          </a:prstGeom>
          <a:noFill/>
          <a:ln/>
        </p:spPr>
        <p:txBody>
          <a:bodyPr wrap="square" lIns="0" tIns="0" rIns="0" bIns="0" rtlCol="0" anchor="ctr"/>
          <a:lstStyle/>
          <a:p>
            <a:pPr algn="ctr" indent="0" marL="0">
              <a:buNone/>
            </a:pPr>
            <a:r>
              <a:rPr lang="en-US" sz="1800" b="1" dirty="0">
                <a:solidFill>
                  <a:srgbClr val="0A1F33"/>
                </a:solidFill>
                <a:latin typeface="Calibri" pitchFamily="34" charset="0"/>
                <a:ea typeface="Calibri" pitchFamily="34" charset="-122"/>
                <a:cs typeface="Calibri" pitchFamily="34" charset="-120"/>
              </a:rPr>
              <a:t>✓</a:t>
            </a:r>
            <a:endParaRPr lang="en-US" sz="1800" dirty="0"/>
          </a:p>
        </p:txBody>
      </p:sp>
      <p:sp>
        <p:nvSpPr>
          <p:cNvPr id="33" name="Text 31"/>
          <p:cNvSpPr txBox="1"/>
          <p:nvPr/>
        </p:nvSpPr>
        <p:spPr>
          <a:xfrm>
            <a:off x="6995160" y="4937760"/>
            <a:ext cx="4937760" cy="64008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One-minute demonstration on day eight</a:t>
            </a:r>
            <a:endParaRPr lang="en-US" sz="1600" dirty="0"/>
          </a:p>
        </p:txBody>
      </p:sp>
      <p:sp>
        <p:nvSpPr>
          <p:cNvPr id="34" name="Text 32"/>
          <p:cNvSpPr txBox="1"/>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The same list closes the lab document. Use it on day 7.</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2026-09-30T18:58:15Z</dcterms:created>
  <dcterms:modified xsi:type="dcterms:W3CDTF">2026-09-30T18:58:15Z</dcterms:modified>
</cp:coreProperties>
</file>