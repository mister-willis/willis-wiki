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Two-day lab. Bridge: last lab they wrote one function to a contract; today three, plus a main program that composes them into a game. Day 1: the contracts and the validation pattern — build and test the three functions in isolation. Day 2: random.randint and assembly. The engineering lesson underneath: parts you can test alone make wholes you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destination before the journey: this pseudocode IS the finished main program, nearly line for line. Ask: where's the code that rejects a bad guess? Not here — it's inside get_guess, which is the point. The kitchen analogy works: the menu doesn't explain the kitchen. Limits of the analogy: you'll still write the kitchen; you just won't make diners stand in it. Today builds the kitchen (three functions); tomorrow serves the meal.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contract: inputs, output, refusals. check_guess is deliberately tiny — one comparison — and that's fine; small functions with clear jobs are the habit. The test-alone discipline is Day 1's actual lesson: call get_range() from the console, type -5 at it, watch it re-ask. Engineering isn't done in a single sitting, and parts get bench-tested before assembly. Notebook evidence: what was typed, what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both getter functions share: ask, and re-ask WHILE the answer is illegal. The if-vs-while line is the slide's cash value — an if checks once; hostile users need a while. Connect to the do-now (the class's list of hostile inputs): every item on that list should bounce off. get_guess needs a compound condition (below 1 OR above top) — their first taste of or. Day 1 lab runs from here: build all three functions, bench-test each. Day 1 wrap: demo one surviving hostile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OPENER. Recap via do-now (the three signatures from memory), then this one new tool. The inclusive-bounds contrast with range is worth a full beat — it's the practice slide's first question and a classic AP trap. The amber warning is the day's most entertaining bug: randint INSIDE the game loop moves the target every guess, the game becomes unwinnable, and students blame the random module. Generate once, before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wiring diagram for Day 2's build. The one structural decision that matters: WHERE the loop starts. Steps 1–3 run once; steps 4–6 repeat. Students who wrap everything in the loop re-ask for the range every guess (annoying) or regenerate the secret (unwinnable — yesterday's amber warning made flesh). Playtest block follows the build: swap seats, attack with the Day 1 hostile-input list, file verbal bug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quick commitment round before Day 2's build (or end of Day 1 if pacing allows). Prediction 1: inclusive bounds. Prediction 2: True comes back and nothing prints — students who wrote 'it says Nope!' have check_guess doing main's job; that's the contract violation to catch now. Prediction 3: the validation loop from the user's chair — two refusals, then acceptance. Then release: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per Turn It In: the .py file. Rubric's 4: all three functions to spec, validation that holds under hostile input, a game that loops to a win. Playtest partner sign-off in the notebook is the evidence. Tease next lab: the slot machine — random.choice and the list, the data structure the rest of the course leans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import random</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1 </a:t>
            </a:r>
            <a:pPr algn="ctr" indent="0" marL="0">
              <a:buNone/>
            </a:pPr>
            <a:r>
              <a:rPr lang="en-US" sz="3800" b="1" dirty="0">
                <a:solidFill>
                  <a:srgbClr val="3DDC84"/>
                </a:solidFill>
                <a:latin typeface="Courier New" pitchFamily="34" charset="0"/>
                <a:ea typeface="Courier New" pitchFamily="34" charset="-122"/>
                <a:cs typeface="Courier New" pitchFamily="34" charset="-120"/>
              </a:rPr>
              <a:t>… ? … </a:t>
            </a:r>
            <a:pPr algn="ctr" indent="0" marL="0">
              <a:buNone/>
            </a:pPr>
            <a:r>
              <a:rPr lang="en-US" sz="3800" b="1" dirty="0">
                <a:solidFill>
                  <a:srgbClr val="5A6B7B"/>
                </a:solidFill>
                <a:latin typeface="Courier New" pitchFamily="34" charset="0"/>
                <a:ea typeface="Courier New" pitchFamily="34" charset="-122"/>
                <a:cs typeface="Courier New" pitchFamily="34" charset="-120"/>
              </a:rPr>
              <a:t>100</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Guess the Number</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Three small functions, one whole game</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Computer Science  •  Learn Python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main program you want to read</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Eight lines that tell the story. The details live elsewhere.</a:t>
            </a:r>
            <a:endParaRPr lang="en-US" sz="1700" dirty="0"/>
          </a:p>
        </p:txBody>
      </p:sp>
      <p:sp>
        <p:nvSpPr>
          <p:cNvPr id="4" name="Shape 2"/>
          <p:cNvSpPr/>
          <p:nvPr/>
        </p:nvSpPr>
        <p:spPr>
          <a:xfrm>
            <a:off x="640080" y="1920240"/>
            <a:ext cx="6035040" cy="4023360"/>
          </a:xfrm>
          <a:prstGeom prst="roundRect">
            <a:avLst>
              <a:gd name="adj" fmla="val 1818"/>
            </a:avLst>
          </a:prstGeom>
          <a:solidFill>
            <a:srgbClr val="13324F"/>
          </a:solidFill>
          <a:ln/>
        </p:spPr>
      </p:sp>
      <p:sp>
        <p:nvSpPr>
          <p:cNvPr id="5" name="Text 3"/>
          <p:cNvSpPr/>
          <p:nvPr/>
        </p:nvSpPr>
        <p:spPr>
          <a:xfrm>
            <a:off x="960120" y="2194560"/>
            <a:ext cx="5394960" cy="3566160"/>
          </a:xfrm>
          <a:prstGeom prst="rect">
            <a:avLst/>
          </a:prstGeom>
          <a:noFill/>
          <a:ln/>
        </p:spPr>
        <p:txBody>
          <a:bodyPr wrap="square" lIns="0" tIns="0" rIns="0" bIns="0" rtlCol="0" anchor="ctr"/>
          <a:lstStyle/>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print welcome</a:t>
            </a:r>
            <a:endParaRPr lang="en-US" sz="1550" dirty="0"/>
          </a:p>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top = get_range()</a:t>
            </a:r>
            <a:endParaRPr lang="en-US" sz="1550" dirty="0"/>
          </a:p>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secret = random number 1..top</a:t>
            </a:r>
            <a:endParaRPr lang="en-US" sz="1550" dirty="0"/>
          </a:p>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repeat:</a:t>
            </a:r>
            <a:endParaRPr lang="en-US" sz="1550" dirty="0"/>
          </a:p>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    guess = get_guess(top)</a:t>
            </a:r>
            <a:endParaRPr lang="en-US" sz="1550" dirty="0"/>
          </a:p>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    correct? break : say Nope!</a:t>
            </a:r>
            <a:endParaRPr lang="en-US" sz="1550" dirty="0"/>
          </a:p>
          <a:p>
            <a:pPr indent="0" marL="0">
              <a:lnSpc>
                <a:spcPts val="3000"/>
              </a:lnSpc>
              <a:buNone/>
            </a:pPr>
            <a:r>
              <a:rPr lang="en-US" sz="1550" b="1" dirty="0">
                <a:solidFill>
                  <a:srgbClr val="FFFFFF"/>
                </a:solidFill>
                <a:latin typeface="Courier New" pitchFamily="34" charset="0"/>
                <a:ea typeface="Courier New" pitchFamily="34" charset="-122"/>
                <a:cs typeface="Courier New" pitchFamily="34" charset="-120"/>
              </a:rPr>
              <a:t>print you guessed it</a:t>
            </a:r>
            <a:endParaRPr lang="en-US" sz="1550" dirty="0"/>
          </a:p>
        </p:txBody>
      </p:sp>
      <p:sp>
        <p:nvSpPr>
          <p:cNvPr id="6" name="Shape 4"/>
          <p:cNvSpPr/>
          <p:nvPr/>
        </p:nvSpPr>
        <p:spPr>
          <a:xfrm>
            <a:off x="7132320" y="1920240"/>
            <a:ext cx="4480560" cy="4023360"/>
          </a:xfrm>
          <a:prstGeom prst="roundRect">
            <a:avLst>
              <a:gd name="adj" fmla="val 1818"/>
            </a:avLst>
          </a:prstGeom>
          <a:solidFill>
            <a:srgbClr val="FFFFFF"/>
          </a:solidFill>
          <a:ln w="12700">
            <a:solidFill>
              <a:srgbClr val="C7D2DC"/>
            </a:solidFill>
            <a:prstDash val="solid"/>
          </a:ln>
        </p:spPr>
      </p:sp>
      <p:sp>
        <p:nvSpPr>
          <p:cNvPr id="7" name="Text 5"/>
          <p:cNvSpPr/>
          <p:nvPr/>
        </p:nvSpPr>
        <p:spPr>
          <a:xfrm>
            <a:off x="7406640" y="2148840"/>
            <a:ext cx="3931920" cy="731520"/>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Where did the fiddly parts go?</a:t>
            </a:r>
            <a:endParaRPr lang="en-US" sz="1550" dirty="0"/>
          </a:p>
        </p:txBody>
      </p:sp>
      <p:sp>
        <p:nvSpPr>
          <p:cNvPr id="8" name="Text 6"/>
          <p:cNvSpPr/>
          <p:nvPr/>
        </p:nvSpPr>
        <p:spPr>
          <a:xfrm>
            <a:off x="7406640" y="2926080"/>
            <a:ext cx="3931920" cy="265176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Prompting, casting, re-asking when the user types garbage — all of it is real work, and none of it belongs in the story. Each chore gets its own function with its own name, and the main program reads like the rules of the game.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Three contracts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Each function: what goes in, what comes back, what it refuses.</a:t>
            </a:r>
            <a:endParaRPr lang="en-US" sz="1700" dirty="0"/>
          </a:p>
        </p:txBody>
      </p:sp>
      <p:sp>
        <p:nvSpPr>
          <p:cNvPr id="4" name="Shape 2"/>
          <p:cNvSpPr/>
          <p:nvPr/>
        </p:nvSpPr>
        <p:spPr>
          <a:xfrm>
            <a:off x="640080" y="2011680"/>
            <a:ext cx="3474720" cy="3383280"/>
          </a:xfrm>
          <a:prstGeom prst="roundRect">
            <a:avLst>
              <a:gd name="adj" fmla="val 2162"/>
            </a:avLst>
          </a:prstGeom>
          <a:solidFill>
            <a:srgbClr val="FFFFFF"/>
          </a:solidFill>
          <a:ln w="12700">
            <a:solidFill>
              <a:srgbClr val="C7D2DC"/>
            </a:solidFill>
            <a:prstDash val="solid"/>
          </a:ln>
        </p:spPr>
      </p:sp>
      <p:sp>
        <p:nvSpPr>
          <p:cNvPr id="5" name="Text 3"/>
          <p:cNvSpPr/>
          <p:nvPr/>
        </p:nvSpPr>
        <p:spPr>
          <a:xfrm>
            <a:off x="868680" y="2240280"/>
            <a:ext cx="3017520" cy="685800"/>
          </a:xfrm>
          <a:prstGeom prst="rect">
            <a:avLst/>
          </a:prstGeom>
          <a:noFill/>
          <a:ln/>
        </p:spPr>
        <p:txBody>
          <a:bodyPr wrap="square" lIns="0" tIns="0" rIns="0" bIns="0" rtlCol="0" anchor="ctr"/>
          <a:lstStyle/>
          <a:p>
            <a:pPr indent="0" marL="0">
              <a:buNone/>
            </a:pPr>
            <a:r>
              <a:rPr lang="en-US" sz="1450" b="1" dirty="0">
                <a:solidFill>
                  <a:srgbClr val="0A1F33"/>
                </a:solidFill>
                <a:latin typeface="Courier New" pitchFamily="34" charset="0"/>
                <a:ea typeface="Courier New" pitchFamily="34" charset="-122"/>
                <a:cs typeface="Courier New" pitchFamily="34" charset="-120"/>
              </a:rPr>
              <a:t>get_range()</a:t>
            </a:r>
            <a:endParaRPr lang="en-US" sz="1450" dirty="0"/>
          </a:p>
        </p:txBody>
      </p:sp>
      <p:sp>
        <p:nvSpPr>
          <p:cNvPr id="6" name="Text 4"/>
          <p:cNvSpPr/>
          <p:nvPr/>
        </p:nvSpPr>
        <p:spPr>
          <a:xfrm>
            <a:off x="868680" y="2971800"/>
            <a:ext cx="3017520" cy="365760"/>
          </a:xfrm>
          <a:prstGeom prst="rect">
            <a:avLst/>
          </a:prstGeom>
          <a:noFill/>
          <a:ln/>
        </p:spPr>
        <p:txBody>
          <a:bodyPr wrap="square" lIns="0" tIns="0" rIns="0" bIns="0"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in: nothing</a:t>
            </a:r>
            <a:endParaRPr lang="en-US" sz="1200" dirty="0"/>
          </a:p>
        </p:txBody>
      </p:sp>
      <p:sp>
        <p:nvSpPr>
          <p:cNvPr id="7" name="Text 5"/>
          <p:cNvSpPr/>
          <p:nvPr/>
        </p:nvSpPr>
        <p:spPr>
          <a:xfrm>
            <a:off x="868680" y="3429000"/>
            <a:ext cx="3017520" cy="18288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Asks for the top of the range, casts to int, refuses anything under 1. Returns top.</a:t>
            </a:r>
            <a:endParaRPr lang="en-US" sz="1250" dirty="0"/>
          </a:p>
        </p:txBody>
      </p:sp>
      <p:sp>
        <p:nvSpPr>
          <p:cNvPr id="8" name="Shape 6"/>
          <p:cNvSpPr/>
          <p:nvPr/>
        </p:nvSpPr>
        <p:spPr>
          <a:xfrm>
            <a:off x="4434840" y="2011680"/>
            <a:ext cx="3474720" cy="3383280"/>
          </a:xfrm>
          <a:prstGeom prst="roundRect">
            <a:avLst>
              <a:gd name="adj" fmla="val 2162"/>
            </a:avLst>
          </a:prstGeom>
          <a:solidFill>
            <a:srgbClr val="FFFFFF"/>
          </a:solidFill>
          <a:ln w="12700">
            <a:solidFill>
              <a:srgbClr val="C7D2DC"/>
            </a:solidFill>
            <a:prstDash val="solid"/>
          </a:ln>
        </p:spPr>
      </p:sp>
      <p:sp>
        <p:nvSpPr>
          <p:cNvPr id="9" name="Text 7"/>
          <p:cNvSpPr/>
          <p:nvPr/>
        </p:nvSpPr>
        <p:spPr>
          <a:xfrm>
            <a:off x="4663440" y="2240280"/>
            <a:ext cx="3017520" cy="685800"/>
          </a:xfrm>
          <a:prstGeom prst="rect">
            <a:avLst/>
          </a:prstGeom>
          <a:noFill/>
          <a:ln/>
        </p:spPr>
        <p:txBody>
          <a:bodyPr wrap="square" lIns="0" tIns="0" rIns="0" bIns="0" rtlCol="0" anchor="ctr"/>
          <a:lstStyle/>
          <a:p>
            <a:pPr indent="0" marL="0">
              <a:buNone/>
            </a:pPr>
            <a:r>
              <a:rPr lang="en-US" sz="1450" b="1" dirty="0">
                <a:solidFill>
                  <a:srgbClr val="0A1F33"/>
                </a:solidFill>
                <a:latin typeface="Courier New" pitchFamily="34" charset="0"/>
                <a:ea typeface="Courier New" pitchFamily="34" charset="-122"/>
                <a:cs typeface="Courier New" pitchFamily="34" charset="-120"/>
              </a:rPr>
              <a:t>get_guess(top)</a:t>
            </a:r>
            <a:endParaRPr lang="en-US" sz="1450" dirty="0"/>
          </a:p>
        </p:txBody>
      </p:sp>
      <p:sp>
        <p:nvSpPr>
          <p:cNvPr id="10" name="Text 8"/>
          <p:cNvSpPr/>
          <p:nvPr/>
        </p:nvSpPr>
        <p:spPr>
          <a:xfrm>
            <a:off x="4663440" y="2971800"/>
            <a:ext cx="3017520" cy="365760"/>
          </a:xfrm>
          <a:prstGeom prst="rect">
            <a:avLst/>
          </a:prstGeom>
          <a:noFill/>
          <a:ln/>
        </p:spPr>
        <p:txBody>
          <a:bodyPr wrap="square" lIns="0" tIns="0" rIns="0" bIns="0"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in: the max</a:t>
            </a:r>
            <a:endParaRPr lang="en-US" sz="1200" dirty="0"/>
          </a:p>
        </p:txBody>
      </p:sp>
      <p:sp>
        <p:nvSpPr>
          <p:cNvPr id="11" name="Text 9"/>
          <p:cNvSpPr/>
          <p:nvPr/>
        </p:nvSpPr>
        <p:spPr>
          <a:xfrm>
            <a:off x="4663440" y="3429000"/>
            <a:ext cx="3017520" cy="18288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Asks for a guess, casts to int, refuses anything outside 1..top. Returns guess.</a:t>
            </a:r>
            <a:endParaRPr lang="en-US" sz="1250" dirty="0"/>
          </a:p>
        </p:txBody>
      </p:sp>
      <p:sp>
        <p:nvSpPr>
          <p:cNvPr id="12" name="Shape 10"/>
          <p:cNvSpPr/>
          <p:nvPr/>
        </p:nvSpPr>
        <p:spPr>
          <a:xfrm>
            <a:off x="8229600" y="2011680"/>
            <a:ext cx="3474720" cy="3383280"/>
          </a:xfrm>
          <a:prstGeom prst="roundRect">
            <a:avLst>
              <a:gd name="adj" fmla="val 2162"/>
            </a:avLst>
          </a:prstGeom>
          <a:solidFill>
            <a:srgbClr val="FFFFFF"/>
          </a:solidFill>
          <a:ln w="12700">
            <a:solidFill>
              <a:srgbClr val="3DDC84"/>
            </a:solidFill>
            <a:prstDash val="solid"/>
          </a:ln>
        </p:spPr>
      </p:sp>
      <p:sp>
        <p:nvSpPr>
          <p:cNvPr id="13" name="Text 11"/>
          <p:cNvSpPr/>
          <p:nvPr/>
        </p:nvSpPr>
        <p:spPr>
          <a:xfrm>
            <a:off x="8458200" y="2240280"/>
            <a:ext cx="3017520" cy="685800"/>
          </a:xfrm>
          <a:prstGeom prst="rect">
            <a:avLst/>
          </a:prstGeom>
          <a:noFill/>
          <a:ln/>
        </p:spPr>
        <p:txBody>
          <a:bodyPr wrap="square" lIns="0" tIns="0" rIns="0" bIns="0" rtlCol="0" anchor="ctr"/>
          <a:lstStyle/>
          <a:p>
            <a:pPr indent="0" marL="0">
              <a:buNone/>
            </a:pPr>
            <a:r>
              <a:rPr lang="en-US" sz="1450" b="1" dirty="0">
                <a:solidFill>
                  <a:srgbClr val="0A1F33"/>
                </a:solidFill>
                <a:latin typeface="Courier New" pitchFamily="34" charset="0"/>
                <a:ea typeface="Courier New" pitchFamily="34" charset="-122"/>
                <a:cs typeface="Courier New" pitchFamily="34" charset="-120"/>
              </a:rPr>
              <a:t>check_guess(guess, secret)</a:t>
            </a:r>
            <a:endParaRPr lang="en-US" sz="1450" dirty="0"/>
          </a:p>
        </p:txBody>
      </p:sp>
      <p:sp>
        <p:nvSpPr>
          <p:cNvPr id="14" name="Text 12"/>
          <p:cNvSpPr/>
          <p:nvPr/>
        </p:nvSpPr>
        <p:spPr>
          <a:xfrm>
            <a:off x="8458200" y="2971800"/>
            <a:ext cx="3017520" cy="365760"/>
          </a:xfrm>
          <a:prstGeom prst="rect">
            <a:avLst/>
          </a:prstGeom>
          <a:noFill/>
          <a:ln/>
        </p:spPr>
        <p:txBody>
          <a:bodyPr wrap="square" lIns="0" tIns="0" rIns="0" bIns="0"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in: two ints</a:t>
            </a:r>
            <a:endParaRPr lang="en-US" sz="1200" dirty="0"/>
          </a:p>
        </p:txBody>
      </p:sp>
      <p:sp>
        <p:nvSpPr>
          <p:cNvPr id="15" name="Text 13"/>
          <p:cNvSpPr/>
          <p:nvPr/>
        </p:nvSpPr>
        <p:spPr>
          <a:xfrm>
            <a:off x="8458200" y="3429000"/>
            <a:ext cx="3017520" cy="182880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Compares them. Returns True on a match, False otherwise. Says nothing.</a:t>
            </a:r>
            <a:endParaRPr lang="en-US" sz="1250" dirty="0"/>
          </a:p>
        </p:txBody>
      </p:sp>
      <p:sp>
        <p:nvSpPr>
          <p:cNvPr id="16" name="Text 14"/>
          <p:cNvSpPr/>
          <p:nvPr/>
        </p:nvSpPr>
        <p:spPr>
          <a:xfrm>
            <a:off x="640080" y="5715000"/>
            <a:ext cx="10972800" cy="457200"/>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Build them in this order. Test each one from the console before touching the next.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Never trust input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The loop-until-legal pattern. Users type things.</a:t>
            </a:r>
            <a:endParaRPr lang="en-US" sz="1700" dirty="0"/>
          </a:p>
        </p:txBody>
      </p:sp>
      <p:sp>
        <p:nvSpPr>
          <p:cNvPr id="4" name="Shape 2"/>
          <p:cNvSpPr/>
          <p:nvPr/>
        </p:nvSpPr>
        <p:spPr>
          <a:xfrm>
            <a:off x="914400" y="2103120"/>
            <a:ext cx="5669280" cy="3383280"/>
          </a:xfrm>
          <a:prstGeom prst="roundRect">
            <a:avLst>
              <a:gd name="adj" fmla="val 2162"/>
            </a:avLst>
          </a:prstGeom>
          <a:solidFill>
            <a:srgbClr val="13324F"/>
          </a:solidFill>
          <a:ln/>
        </p:spPr>
      </p:sp>
      <p:sp>
        <p:nvSpPr>
          <p:cNvPr id="5" name="Text 3"/>
          <p:cNvSpPr/>
          <p:nvPr/>
        </p:nvSpPr>
        <p:spPr>
          <a:xfrm>
            <a:off x="1280160" y="2468880"/>
            <a:ext cx="5029200" cy="2743200"/>
          </a:xfrm>
          <a:prstGeom prst="rect">
            <a:avLst/>
          </a:prstGeom>
          <a:noFill/>
          <a:ln/>
        </p:spPr>
        <p:txBody>
          <a:bodyPr wrap="square" lIns="0" tIns="0" rIns="0" bIns="0" rtlCol="0" anchor="ctr"/>
          <a:lstStyle/>
          <a:p>
            <a:pPr indent="0" marL="0">
              <a:lnSpc>
                <a:spcPts val="3400"/>
              </a:lnSpc>
              <a:buNone/>
            </a:pPr>
            <a:r>
              <a:rPr lang="en-US" sz="1800" b="1" dirty="0">
                <a:solidFill>
                  <a:srgbClr val="FFFFFF"/>
                </a:solidFill>
                <a:latin typeface="Courier New" pitchFamily="34" charset="0"/>
                <a:ea typeface="Courier New" pitchFamily="34" charset="-122"/>
                <a:cs typeface="Courier New" pitchFamily="34" charset="-120"/>
              </a:rPr>
              <a:t>top = int(input(...))</a:t>
            </a:r>
            <a:endParaRPr lang="en-US" sz="1800" dirty="0"/>
          </a:p>
          <a:p>
            <a:pPr indent="0" marL="0">
              <a:lnSpc>
                <a:spcPts val="3400"/>
              </a:lnSpc>
              <a:buNone/>
            </a:pPr>
            <a:r>
              <a:rPr lang="en-US" sz="1800" b="1" dirty="0">
                <a:solidFill>
                  <a:srgbClr val="FFFFFF"/>
                </a:solidFill>
                <a:latin typeface="Courier New" pitchFamily="34" charset="0"/>
                <a:ea typeface="Courier New" pitchFamily="34" charset="-122"/>
                <a:cs typeface="Courier New" pitchFamily="34" charset="-120"/>
              </a:rPr>
              <a:t>while top &lt; 1:</a:t>
            </a:r>
            <a:endParaRPr lang="en-US" sz="1800" dirty="0"/>
          </a:p>
          <a:p>
            <a:pPr indent="0" marL="0">
              <a:lnSpc>
                <a:spcPts val="3400"/>
              </a:lnSpc>
              <a:buNone/>
            </a:pPr>
            <a:r>
              <a:rPr lang="en-US" sz="1800" b="1" dirty="0">
                <a:solidFill>
                  <a:srgbClr val="FFFFFF"/>
                </a:solidFill>
                <a:latin typeface="Courier New" pitchFamily="34" charset="0"/>
                <a:ea typeface="Courier New" pitchFamily="34" charset="-122"/>
                <a:cs typeface="Courier New" pitchFamily="34" charset="-120"/>
              </a:rPr>
              <a:t>    top = int(input(...))</a:t>
            </a:r>
            <a:endParaRPr lang="en-US" sz="1800" dirty="0"/>
          </a:p>
          <a:p>
            <a:pPr indent="0" marL="0">
              <a:lnSpc>
                <a:spcPts val="3400"/>
              </a:lnSpc>
              <a:buNone/>
            </a:pPr>
            <a:r>
              <a:rPr lang="en-US" sz="1800" b="1" dirty="0">
                <a:solidFill>
                  <a:srgbClr val="FFFFFF"/>
                </a:solidFill>
                <a:latin typeface="Courier New" pitchFamily="34" charset="0"/>
                <a:ea typeface="Courier New" pitchFamily="34" charset="-122"/>
                <a:cs typeface="Courier New" pitchFamily="34" charset="-120"/>
              </a:rPr>
              <a:t>return top</a:t>
            </a:r>
            <a:endParaRPr lang="en-US" sz="1800" dirty="0"/>
          </a:p>
        </p:txBody>
      </p:sp>
      <p:sp>
        <p:nvSpPr>
          <p:cNvPr id="6" name="Shape 4"/>
          <p:cNvSpPr/>
          <p:nvPr/>
        </p:nvSpPr>
        <p:spPr>
          <a:xfrm>
            <a:off x="7223760" y="2103120"/>
            <a:ext cx="3931920" cy="1828800"/>
          </a:xfrm>
          <a:prstGeom prst="roundRect">
            <a:avLst>
              <a:gd name="adj" fmla="val 4000"/>
            </a:avLst>
          </a:prstGeom>
          <a:solidFill>
            <a:srgbClr val="13324F"/>
          </a:solidFill>
          <a:ln w="12700">
            <a:solidFill>
              <a:srgbClr val="13324F"/>
            </a:solidFill>
            <a:prstDash val="solid"/>
          </a:ln>
        </p:spPr>
      </p:sp>
      <p:sp>
        <p:nvSpPr>
          <p:cNvPr id="7" name="Text 5"/>
          <p:cNvSpPr/>
          <p:nvPr/>
        </p:nvSpPr>
        <p:spPr>
          <a:xfrm>
            <a:off x="7223760" y="2212848"/>
            <a:ext cx="3931920" cy="950976"/>
          </a:xfrm>
          <a:prstGeom prst="rect">
            <a:avLst/>
          </a:prstGeom>
          <a:noFill/>
          <a:ln/>
        </p:spPr>
        <p:txBody>
          <a:bodyPr wrap="square" lIns="0" tIns="0" rIns="0" bIns="0" rtlCol="0" anchor="ctr"/>
          <a:lstStyle/>
          <a:p>
            <a:pPr algn="ctr" indent="0" marL="0">
              <a:buNone/>
            </a:pPr>
            <a:r>
              <a:rPr lang="en-US" sz="3000" b="1" dirty="0">
                <a:solidFill>
                  <a:srgbClr val="F4B740"/>
                </a:solidFill>
                <a:latin typeface="Courier New" pitchFamily="34" charset="0"/>
                <a:ea typeface="Courier New" pitchFamily="34" charset="-122"/>
                <a:cs typeface="Courier New" pitchFamily="34" charset="-120"/>
              </a:rPr>
              <a:t>-5 ?</a:t>
            </a:r>
            <a:endParaRPr lang="en-US" sz="3000" dirty="0"/>
          </a:p>
        </p:txBody>
      </p:sp>
      <p:sp>
        <p:nvSpPr>
          <p:cNvPr id="8" name="Text 6"/>
          <p:cNvSpPr/>
          <p:nvPr/>
        </p:nvSpPr>
        <p:spPr>
          <a:xfrm>
            <a:off x="7223760" y="3163824"/>
            <a:ext cx="3931920" cy="411480"/>
          </a:xfrm>
          <a:prstGeom prst="rect">
            <a:avLst/>
          </a:prstGeom>
          <a:noFill/>
          <a:ln/>
        </p:spPr>
        <p:txBody>
          <a:bodyPr wrap="square" lIns="0" tIns="0" rIns="0" bIns="0" rtlCol="0" anchor="ctr"/>
          <a:lstStyle/>
          <a:p>
            <a:pPr algn="ctr" indent="0" marL="0">
              <a:buNone/>
            </a:pPr>
            <a:r>
              <a:rPr lang="en-US" sz="1400" b="1" dirty="0">
                <a:solidFill>
                  <a:srgbClr val="3DDC84"/>
                </a:solidFill>
                <a:latin typeface="Calibri" pitchFamily="34" charset="0"/>
                <a:ea typeface="Calibri" pitchFamily="34" charset="-122"/>
                <a:cs typeface="Calibri" pitchFamily="34" charset="-120"/>
              </a:rPr>
              <a:t>ask again</a:t>
            </a:r>
            <a:endParaRPr lang="en-US" sz="1400" dirty="0"/>
          </a:p>
        </p:txBody>
      </p:sp>
      <p:sp>
        <p:nvSpPr>
          <p:cNvPr id="9" name="Shape 7"/>
          <p:cNvSpPr/>
          <p:nvPr/>
        </p:nvSpPr>
        <p:spPr>
          <a:xfrm>
            <a:off x="7223760" y="4206240"/>
            <a:ext cx="3931920" cy="1828800"/>
          </a:xfrm>
          <a:prstGeom prst="roundRect">
            <a:avLst>
              <a:gd name="adj" fmla="val 4000"/>
            </a:avLst>
          </a:prstGeom>
          <a:solidFill>
            <a:srgbClr val="13324F"/>
          </a:solidFill>
          <a:ln w="12700">
            <a:solidFill>
              <a:srgbClr val="13324F"/>
            </a:solidFill>
            <a:prstDash val="solid"/>
          </a:ln>
        </p:spPr>
      </p:sp>
      <p:sp>
        <p:nvSpPr>
          <p:cNvPr id="10" name="Text 8"/>
          <p:cNvSpPr/>
          <p:nvPr/>
        </p:nvSpPr>
        <p:spPr>
          <a:xfrm>
            <a:off x="7223760" y="4315968"/>
            <a:ext cx="3931920" cy="950976"/>
          </a:xfrm>
          <a:prstGeom prst="rect">
            <a:avLst/>
          </a:prstGeom>
          <a:noFill/>
          <a:ln/>
        </p:spPr>
        <p:txBody>
          <a:bodyPr wrap="square" lIns="0" tIns="0" rIns="0" bIns="0" rtlCol="0" anchor="ctr"/>
          <a:lstStyle/>
          <a:p>
            <a:pPr algn="ctr" indent="0" marL="0">
              <a:buNone/>
            </a:pPr>
            <a:r>
              <a:rPr lang="en-US" sz="3000" b="1" dirty="0">
                <a:solidFill>
                  <a:srgbClr val="3DDC84"/>
                </a:solidFill>
                <a:latin typeface="Courier New" pitchFamily="34" charset="0"/>
                <a:ea typeface="Courier New" pitchFamily="34" charset="-122"/>
                <a:cs typeface="Courier New" pitchFamily="34" charset="-120"/>
              </a:rPr>
              <a:t>42 ✓</a:t>
            </a:r>
            <a:endParaRPr lang="en-US" sz="3000" dirty="0"/>
          </a:p>
        </p:txBody>
      </p:sp>
      <p:sp>
        <p:nvSpPr>
          <p:cNvPr id="11" name="Text 9"/>
          <p:cNvSpPr/>
          <p:nvPr/>
        </p:nvSpPr>
        <p:spPr>
          <a:xfrm>
            <a:off x="7223760" y="5266944"/>
            <a:ext cx="3931920" cy="411480"/>
          </a:xfrm>
          <a:prstGeom prst="rect">
            <a:avLst/>
          </a:prstGeom>
          <a:noFill/>
          <a:ln/>
        </p:spPr>
        <p:txBody>
          <a:bodyPr wrap="square" lIns="0" tIns="0" rIns="0" bIns="0" rtlCol="0" anchor="ctr"/>
          <a:lstStyle/>
          <a:p>
            <a:pPr algn="ctr" indent="0" marL="0">
              <a:buNone/>
            </a:pPr>
            <a:r>
              <a:rPr lang="en-US" sz="1400" b="1" dirty="0">
                <a:solidFill>
                  <a:srgbClr val="3DDC84"/>
                </a:solidFill>
                <a:latin typeface="Calibri" pitchFamily="34" charset="0"/>
                <a:ea typeface="Calibri" pitchFamily="34" charset="-122"/>
                <a:cs typeface="Calibri" pitchFamily="34" charset="-120"/>
              </a:rPr>
              <a:t>return it</a:t>
            </a:r>
            <a:endParaRPr lang="en-US" sz="1400" dirty="0"/>
          </a:p>
        </p:txBody>
      </p:sp>
      <p:sp>
        <p:nvSpPr>
          <p:cNvPr id="12" name="Text 10"/>
          <p:cNvSpPr/>
          <p:nvPr/>
        </p:nvSpPr>
        <p:spPr>
          <a:xfrm>
            <a:off x="0" y="5806440"/>
            <a:ext cx="12191695" cy="457200"/>
          </a:xfrm>
          <a:prstGeom prst="rect">
            <a:avLst/>
          </a:prstGeom>
          <a:noFill/>
          <a:ln/>
        </p:spPr>
        <p:txBody>
          <a:bodyPr wrap="square" lIns="0" tIns="0" rIns="0" bIns="0" rtlCol="0" anchor="ctr"/>
          <a:lstStyle/>
          <a:p>
            <a:pPr algn="ctr" indent="0" marL="0">
              <a:buNone/>
            </a:pPr>
            <a:r>
              <a:rPr lang="en-US" sz="1600" b="1" dirty="0">
                <a:solidFill>
                  <a:srgbClr val="C7D2DC"/>
                </a:solidFill>
                <a:latin typeface="Calibri" pitchFamily="34" charset="0"/>
                <a:ea typeface="Calibri" pitchFamily="34" charset="-122"/>
                <a:cs typeface="Calibri" pitchFamily="34" charset="-120"/>
              </a:rPr>
              <a:t>An if scolds once and gives up. A while holds the door until the answer is legal.</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secret ingredient: random</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computer picks a number and won't tell you.</a:t>
            </a:r>
            <a:endParaRPr lang="en-US" sz="1700" dirty="0"/>
          </a:p>
        </p:txBody>
      </p:sp>
      <p:sp>
        <p:nvSpPr>
          <p:cNvPr id="4" name="Shape 2"/>
          <p:cNvSpPr/>
          <p:nvPr/>
        </p:nvSpPr>
        <p:spPr>
          <a:xfrm>
            <a:off x="640080" y="2011680"/>
            <a:ext cx="5852160" cy="2377440"/>
          </a:xfrm>
          <a:prstGeom prst="roundRect">
            <a:avLst>
              <a:gd name="adj" fmla="val 3077"/>
            </a:avLst>
          </a:prstGeom>
          <a:solidFill>
            <a:srgbClr val="13324F"/>
          </a:solidFill>
          <a:ln/>
        </p:spPr>
      </p:sp>
      <p:sp>
        <p:nvSpPr>
          <p:cNvPr id="5" name="Text 3"/>
          <p:cNvSpPr/>
          <p:nvPr/>
        </p:nvSpPr>
        <p:spPr>
          <a:xfrm>
            <a:off x="960120" y="2286000"/>
            <a:ext cx="5303520" cy="1828800"/>
          </a:xfrm>
          <a:prstGeom prst="rect">
            <a:avLst/>
          </a:prstGeom>
          <a:noFill/>
          <a:ln/>
        </p:spPr>
        <p:txBody>
          <a:bodyPr wrap="square" lIns="0" tIns="0" rIns="0" bIns="0" rtlCol="0" anchor="ctr"/>
          <a:lstStyle/>
          <a:p>
            <a:pPr indent="0" marL="0">
              <a:lnSpc>
                <a:spcPts val="3200"/>
              </a:lnSpc>
              <a:buNone/>
            </a:pPr>
            <a:r>
              <a:rPr lang="en-US" sz="1700" b="1" dirty="0">
                <a:solidFill>
                  <a:srgbClr val="FFFFFF"/>
                </a:solidFill>
                <a:latin typeface="Courier New" pitchFamily="34" charset="0"/>
                <a:ea typeface="Courier New" pitchFamily="34" charset="-122"/>
                <a:cs typeface="Courier New" pitchFamily="34" charset="-120"/>
              </a:rPr>
              <a:t>import random</a:t>
            </a:r>
            <a:endParaRPr lang="en-US" sz="1700" dirty="0"/>
          </a:p>
          <a:p>
            <a:pPr indent="0" marL="0">
              <a:lnSpc>
                <a:spcPts val="3200"/>
              </a:lnSpc>
              <a:buNone/>
            </a:pPr>
            <a:endParaRPr lang="en-US" sz="1700" dirty="0"/>
          </a:p>
          <a:p>
            <a:pPr indent="0" marL="0">
              <a:lnSpc>
                <a:spcPts val="3200"/>
              </a:lnSpc>
              <a:buNone/>
            </a:pPr>
            <a:r>
              <a:rPr lang="en-US" sz="1700" b="1" dirty="0">
                <a:solidFill>
                  <a:srgbClr val="FFFFFF"/>
                </a:solidFill>
                <a:latin typeface="Courier New" pitchFamily="34" charset="0"/>
                <a:ea typeface="Courier New" pitchFamily="34" charset="-122"/>
                <a:cs typeface="Courier New" pitchFamily="34" charset="-120"/>
              </a:rPr>
              <a:t>secret = random.randint(1, top)</a:t>
            </a:r>
            <a:endParaRPr lang="en-US" sz="1700" dirty="0"/>
          </a:p>
        </p:txBody>
      </p:sp>
      <p:sp>
        <p:nvSpPr>
          <p:cNvPr id="6" name="Shape 4"/>
          <p:cNvSpPr/>
          <p:nvPr/>
        </p:nvSpPr>
        <p:spPr>
          <a:xfrm>
            <a:off x="6949440" y="2011680"/>
            <a:ext cx="4663440" cy="2377440"/>
          </a:xfrm>
          <a:prstGeom prst="roundRect">
            <a:avLst>
              <a:gd name="adj" fmla="val 3077"/>
            </a:avLst>
          </a:prstGeom>
          <a:solidFill>
            <a:srgbClr val="FFFFFF"/>
          </a:solidFill>
          <a:ln w="12700">
            <a:solidFill>
              <a:srgbClr val="3DDC84"/>
            </a:solidFill>
            <a:prstDash val="solid"/>
          </a:ln>
        </p:spPr>
      </p:sp>
      <p:sp>
        <p:nvSpPr>
          <p:cNvPr id="7" name="Text 5"/>
          <p:cNvSpPr/>
          <p:nvPr/>
        </p:nvSpPr>
        <p:spPr>
          <a:xfrm>
            <a:off x="7223760" y="2240280"/>
            <a:ext cx="4114800" cy="457200"/>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Both ends included</a:t>
            </a:r>
            <a:endParaRPr lang="en-US" sz="1550" dirty="0"/>
          </a:p>
        </p:txBody>
      </p:sp>
      <p:sp>
        <p:nvSpPr>
          <p:cNvPr id="8" name="Text 6"/>
          <p:cNvSpPr/>
          <p:nvPr/>
        </p:nvSpPr>
        <p:spPr>
          <a:xfrm>
            <a:off x="7223760" y="2743200"/>
            <a:ext cx="4114800" cy="146304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randint(1, 10) can return 1, can return 10, and everything between — unlike range(10), which stops at 9. Python keeps you humble.</a:t>
            </a:r>
            <a:endParaRPr lang="en-US" sz="1350" dirty="0"/>
          </a:p>
        </p:txBody>
      </p:sp>
      <p:sp>
        <p:nvSpPr>
          <p:cNvPr id="9" name="Text 7"/>
          <p:cNvSpPr/>
          <p:nvPr/>
        </p:nvSpPr>
        <p:spPr>
          <a:xfrm>
            <a:off x="640080" y="4846320"/>
            <a:ext cx="10972800" cy="731520"/>
          </a:xfrm>
          <a:prstGeom prst="rect">
            <a:avLst/>
          </a:prstGeom>
          <a:noFill/>
          <a:ln/>
        </p:spPr>
        <p:txBody>
          <a:bodyPr wrap="square" lIns="0" tIns="0" rIns="0" bIns="0" rtlCol="0" anchor="ctr"/>
          <a:lstStyle/>
          <a:p>
            <a:pPr algn="ctr" indent="0" marL="0">
              <a:buNone/>
            </a:pPr>
            <a:r>
              <a:rPr lang="en-US" sz="1550" b="1" dirty="0">
                <a:solidFill>
                  <a:srgbClr val="F4B740"/>
                </a:solidFill>
                <a:latin typeface="Calibri" pitchFamily="34" charset="0"/>
                <a:ea typeface="Calibri" pitchFamily="34" charset="-122"/>
                <a:cs typeface="Calibri" pitchFamily="34" charset="-120"/>
              </a:rPr>
              <a:t>Generate the secret once, before the guessing starts. A secret that changes every guess isn't a secret — it's a scam.</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Assembly: the main program</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eight steps from the lab, wired in order.</a:t>
            </a:r>
            <a:endParaRPr lang="en-US" sz="1700" dirty="0"/>
          </a:p>
        </p:txBody>
      </p:sp>
      <p:sp>
        <p:nvSpPr>
          <p:cNvPr id="4" name="Shape 2"/>
          <p:cNvSpPr/>
          <p:nvPr/>
        </p:nvSpPr>
        <p:spPr>
          <a:xfrm>
            <a:off x="731520" y="1920240"/>
            <a:ext cx="914400" cy="658368"/>
          </a:xfrm>
          <a:prstGeom prst="roundRect">
            <a:avLst>
              <a:gd name="adj" fmla="val 8333"/>
            </a:avLst>
          </a:prstGeom>
          <a:solidFill>
            <a:srgbClr val="3DDC84"/>
          </a:solidFill>
          <a:ln/>
        </p:spPr>
      </p:sp>
      <p:sp>
        <p:nvSpPr>
          <p:cNvPr id="5" name="Text 3"/>
          <p:cNvSpPr/>
          <p:nvPr/>
        </p:nvSpPr>
        <p:spPr>
          <a:xfrm>
            <a:off x="731520" y="1920240"/>
            <a:ext cx="914400" cy="658368"/>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1–2</a:t>
            </a:r>
            <a:endParaRPr lang="en-US" sz="1500" dirty="0"/>
          </a:p>
        </p:txBody>
      </p:sp>
      <p:sp>
        <p:nvSpPr>
          <p:cNvPr id="6" name="Text 4"/>
          <p:cNvSpPr/>
          <p:nvPr/>
        </p:nvSpPr>
        <p:spPr>
          <a:xfrm>
            <a:off x="1874520" y="1920240"/>
            <a:ext cx="9601200" cy="658368"/>
          </a:xfrm>
          <a:prstGeom prst="rect">
            <a:avLst/>
          </a:prstGeom>
          <a:noFill/>
          <a:ln/>
        </p:spPr>
        <p:txBody>
          <a:bodyPr wrap="square" lIns="0" tIns="0" rIns="0" bIns="0" rtlCol="0" anchor="ctr"/>
          <a:lstStyle/>
          <a:p>
            <a:pPr indent="0" marL="0">
              <a:buNone/>
            </a:pPr>
            <a:r>
              <a:rPr lang="en-US" sz="1450" dirty="0">
                <a:solidFill>
                  <a:srgbClr val="0A1F33"/>
                </a:solidFill>
                <a:latin typeface="Courier New" pitchFamily="34" charset="0"/>
                <a:ea typeface="Courier New" pitchFamily="34" charset="-122"/>
                <a:cs typeface="Courier New" pitchFamily="34" charset="-120"/>
              </a:rPr>
              <a:t>Welcome the player; top = get_range()</a:t>
            </a:r>
            <a:endParaRPr lang="en-US" sz="1450" dirty="0"/>
          </a:p>
        </p:txBody>
      </p:sp>
      <p:sp>
        <p:nvSpPr>
          <p:cNvPr id="7" name="Shape 5"/>
          <p:cNvSpPr/>
          <p:nvPr/>
        </p:nvSpPr>
        <p:spPr>
          <a:xfrm>
            <a:off x="731520" y="2761488"/>
            <a:ext cx="914400" cy="658368"/>
          </a:xfrm>
          <a:prstGeom prst="roundRect">
            <a:avLst>
              <a:gd name="adj" fmla="val 8333"/>
            </a:avLst>
          </a:prstGeom>
          <a:solidFill>
            <a:srgbClr val="F4B740"/>
          </a:solidFill>
          <a:ln/>
        </p:spPr>
      </p:sp>
      <p:sp>
        <p:nvSpPr>
          <p:cNvPr id="8" name="Text 6"/>
          <p:cNvSpPr/>
          <p:nvPr/>
        </p:nvSpPr>
        <p:spPr>
          <a:xfrm>
            <a:off x="731520" y="2761488"/>
            <a:ext cx="914400" cy="658368"/>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3</a:t>
            </a:r>
            <a:endParaRPr lang="en-US" sz="1500" dirty="0"/>
          </a:p>
        </p:txBody>
      </p:sp>
      <p:sp>
        <p:nvSpPr>
          <p:cNvPr id="9" name="Text 7"/>
          <p:cNvSpPr/>
          <p:nvPr/>
        </p:nvSpPr>
        <p:spPr>
          <a:xfrm>
            <a:off x="1874520" y="2761488"/>
            <a:ext cx="9601200" cy="658368"/>
          </a:xfrm>
          <a:prstGeom prst="rect">
            <a:avLst/>
          </a:prstGeom>
          <a:noFill/>
          <a:ln/>
        </p:spPr>
        <p:txBody>
          <a:bodyPr wrap="square" lIns="0" tIns="0" rIns="0" bIns="0" rtlCol="0" anchor="ctr"/>
          <a:lstStyle/>
          <a:p>
            <a:pPr indent="0" marL="0">
              <a:buNone/>
            </a:pPr>
            <a:r>
              <a:rPr lang="en-US" sz="1450" dirty="0">
                <a:solidFill>
                  <a:srgbClr val="0A1F33"/>
                </a:solidFill>
                <a:latin typeface="Courier New" pitchFamily="34" charset="0"/>
                <a:ea typeface="Courier New" pitchFamily="34" charset="-122"/>
                <a:cs typeface="Courier New" pitchFamily="34" charset="-120"/>
              </a:rPr>
              <a:t>secret = random.randint(1, top) — once</a:t>
            </a:r>
            <a:endParaRPr lang="en-US" sz="1450" dirty="0"/>
          </a:p>
        </p:txBody>
      </p:sp>
      <p:sp>
        <p:nvSpPr>
          <p:cNvPr id="10" name="Shape 8"/>
          <p:cNvSpPr/>
          <p:nvPr/>
        </p:nvSpPr>
        <p:spPr>
          <a:xfrm>
            <a:off x="731520" y="3602736"/>
            <a:ext cx="914400" cy="658368"/>
          </a:xfrm>
          <a:prstGeom prst="roundRect">
            <a:avLst>
              <a:gd name="adj" fmla="val 8333"/>
            </a:avLst>
          </a:prstGeom>
          <a:solidFill>
            <a:srgbClr val="3DDC84"/>
          </a:solidFill>
          <a:ln/>
        </p:spPr>
      </p:sp>
      <p:sp>
        <p:nvSpPr>
          <p:cNvPr id="11" name="Text 9"/>
          <p:cNvSpPr/>
          <p:nvPr/>
        </p:nvSpPr>
        <p:spPr>
          <a:xfrm>
            <a:off x="731520" y="3602736"/>
            <a:ext cx="914400" cy="658368"/>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4–5</a:t>
            </a:r>
            <a:endParaRPr lang="en-US" sz="1500" dirty="0"/>
          </a:p>
        </p:txBody>
      </p:sp>
      <p:sp>
        <p:nvSpPr>
          <p:cNvPr id="12" name="Text 10"/>
          <p:cNvSpPr/>
          <p:nvPr/>
        </p:nvSpPr>
        <p:spPr>
          <a:xfrm>
            <a:off x="1874520" y="3602736"/>
            <a:ext cx="9601200" cy="658368"/>
          </a:xfrm>
          <a:prstGeom prst="rect">
            <a:avLst/>
          </a:prstGeom>
          <a:noFill/>
          <a:ln/>
        </p:spPr>
        <p:txBody>
          <a:bodyPr wrap="square" lIns="0" tIns="0" rIns="0" bIns="0" rtlCol="0" anchor="ctr"/>
          <a:lstStyle/>
          <a:p>
            <a:pPr indent="0" marL="0">
              <a:buNone/>
            </a:pPr>
            <a:r>
              <a:rPr lang="en-US" sz="1450" dirty="0">
                <a:solidFill>
                  <a:srgbClr val="0A1F33"/>
                </a:solidFill>
                <a:latin typeface="Courier New" pitchFamily="34" charset="0"/>
                <a:ea typeface="Courier New" pitchFamily="34" charset="-122"/>
                <a:cs typeface="Courier New" pitchFamily="34" charset="-120"/>
              </a:rPr>
              <a:t>guess = get_guess(top); result = check_guess(guess, secret)</a:t>
            </a:r>
            <a:endParaRPr lang="en-US" sz="1450" dirty="0"/>
          </a:p>
        </p:txBody>
      </p:sp>
      <p:sp>
        <p:nvSpPr>
          <p:cNvPr id="13" name="Shape 11"/>
          <p:cNvSpPr/>
          <p:nvPr/>
        </p:nvSpPr>
        <p:spPr>
          <a:xfrm>
            <a:off x="731520" y="4443984"/>
            <a:ext cx="914400" cy="658368"/>
          </a:xfrm>
          <a:prstGeom prst="roundRect">
            <a:avLst>
              <a:gd name="adj" fmla="val 8333"/>
            </a:avLst>
          </a:prstGeom>
          <a:solidFill>
            <a:srgbClr val="3DDC84"/>
          </a:solidFill>
          <a:ln/>
        </p:spPr>
      </p:sp>
      <p:sp>
        <p:nvSpPr>
          <p:cNvPr id="14" name="Text 12"/>
          <p:cNvSpPr/>
          <p:nvPr/>
        </p:nvSpPr>
        <p:spPr>
          <a:xfrm>
            <a:off x="731520" y="4443984"/>
            <a:ext cx="914400" cy="658368"/>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6–7</a:t>
            </a:r>
            <a:endParaRPr lang="en-US" sz="1500" dirty="0"/>
          </a:p>
        </p:txBody>
      </p:sp>
      <p:sp>
        <p:nvSpPr>
          <p:cNvPr id="15" name="Text 13"/>
          <p:cNvSpPr/>
          <p:nvPr/>
        </p:nvSpPr>
        <p:spPr>
          <a:xfrm>
            <a:off x="1874520" y="4443984"/>
            <a:ext cx="9601200" cy="658368"/>
          </a:xfrm>
          <a:prstGeom prst="rect">
            <a:avLst/>
          </a:prstGeom>
          <a:noFill/>
          <a:ln/>
        </p:spPr>
        <p:txBody>
          <a:bodyPr wrap="square" lIns="0" tIns="0" rIns="0" bIns="0" rtlCol="0" anchor="ctr"/>
          <a:lstStyle/>
          <a:p>
            <a:pPr indent="0" marL="0">
              <a:buNone/>
            </a:pPr>
            <a:r>
              <a:rPr lang="en-US" sz="1450" dirty="0">
                <a:solidFill>
                  <a:srgbClr val="0A1F33"/>
                </a:solidFill>
                <a:latin typeface="Courier New" pitchFamily="34" charset="0"/>
                <a:ea typeface="Courier New" pitchFamily="34" charset="-122"/>
                <a:cs typeface="Courier New" pitchFamily="34" charset="-120"/>
              </a:rPr>
              <a:t>False? say Nope! and loop back to step 4</a:t>
            </a:r>
            <a:endParaRPr lang="en-US" sz="1450" dirty="0"/>
          </a:p>
        </p:txBody>
      </p:sp>
      <p:sp>
        <p:nvSpPr>
          <p:cNvPr id="16" name="Shape 14"/>
          <p:cNvSpPr/>
          <p:nvPr/>
        </p:nvSpPr>
        <p:spPr>
          <a:xfrm>
            <a:off x="731520" y="5285232"/>
            <a:ext cx="914400" cy="658368"/>
          </a:xfrm>
          <a:prstGeom prst="roundRect">
            <a:avLst>
              <a:gd name="adj" fmla="val 8333"/>
            </a:avLst>
          </a:prstGeom>
          <a:solidFill>
            <a:srgbClr val="3DDC84"/>
          </a:solidFill>
          <a:ln/>
        </p:spPr>
      </p:sp>
      <p:sp>
        <p:nvSpPr>
          <p:cNvPr id="17" name="Text 15"/>
          <p:cNvSpPr/>
          <p:nvPr/>
        </p:nvSpPr>
        <p:spPr>
          <a:xfrm>
            <a:off x="731520" y="5285232"/>
            <a:ext cx="914400" cy="658368"/>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8</a:t>
            </a:r>
            <a:endParaRPr lang="en-US" sz="1500" dirty="0"/>
          </a:p>
        </p:txBody>
      </p:sp>
      <p:sp>
        <p:nvSpPr>
          <p:cNvPr id="18" name="Text 16"/>
          <p:cNvSpPr/>
          <p:nvPr/>
        </p:nvSpPr>
        <p:spPr>
          <a:xfrm>
            <a:off x="1874520" y="5285232"/>
            <a:ext cx="9601200" cy="658368"/>
          </a:xfrm>
          <a:prstGeom prst="rect">
            <a:avLst/>
          </a:prstGeom>
          <a:noFill/>
          <a:ln/>
        </p:spPr>
        <p:txBody>
          <a:bodyPr wrap="square" lIns="0" tIns="0" rIns="0" bIns="0" rtlCol="0" anchor="ctr"/>
          <a:lstStyle/>
          <a:p>
            <a:pPr indent="0" marL="0">
              <a:buNone/>
            </a:pPr>
            <a:r>
              <a:rPr lang="en-US" sz="1450" dirty="0">
                <a:solidFill>
                  <a:srgbClr val="0A1F33"/>
                </a:solidFill>
                <a:latin typeface="Courier New" pitchFamily="34" charset="0"/>
                <a:ea typeface="Courier New" pitchFamily="34" charset="-122"/>
                <a:cs typeface="Courier New" pitchFamily="34" charset="-120"/>
              </a:rPr>
              <a:t>True? say You guessed correctly! — done</a:t>
            </a:r>
            <a:endParaRPr lang="en-US" sz="1450" dirty="0"/>
          </a:p>
        </p:txBody>
      </p:sp>
      <p:sp>
        <p:nvSpPr>
          <p:cNvPr id="19" name="Text 17"/>
          <p:cNvSpPr/>
          <p:nvPr/>
        </p:nvSpPr>
        <p:spPr>
          <a:xfrm>
            <a:off x="640080" y="6080760"/>
            <a:ext cx="10972800" cy="411480"/>
          </a:xfrm>
          <a:prstGeom prst="rect">
            <a:avLst/>
          </a:prstGeom>
          <a:noFill/>
          <a:ln/>
        </p:spPr>
        <p:txBody>
          <a:bodyPr wrap="square" lIns="0" tIns="0" rIns="0" bIns="0" rtlCol="0" anchor="ctr"/>
          <a:lstStyle/>
          <a:p>
            <a:pPr algn="ctr" indent="0" marL="0">
              <a:buNone/>
            </a:pPr>
            <a:r>
              <a:rPr lang="en-US" sz="1400" b="1" dirty="0">
                <a:solidFill>
                  <a:srgbClr val="0A1F33"/>
                </a:solidFill>
                <a:latin typeface="Calibri" pitchFamily="34" charset="0"/>
                <a:ea typeface="Calibri" pitchFamily="34" charset="-122"/>
                <a:cs typeface="Calibri" pitchFamily="34" charset="-120"/>
              </a:rPr>
              <a:t>The loop wraps steps 4 through 6 only. The range and the secret are set once, before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Three predictions in your notebook. Contracts don't lie.</a:t>
            </a:r>
            <a:endParaRPr lang="en-US" sz="1700" dirty="0"/>
          </a:p>
        </p:txBody>
      </p:sp>
      <p:sp>
        <p:nvSpPr>
          <p:cNvPr id="4" name="Shape 2"/>
          <p:cNvSpPr/>
          <p:nvPr/>
        </p:nvSpPr>
        <p:spPr>
          <a:xfrm>
            <a:off x="640080" y="2011680"/>
            <a:ext cx="3474720" cy="3291840"/>
          </a:xfrm>
          <a:prstGeom prst="roundRect">
            <a:avLst>
              <a:gd name="adj" fmla="val 2222"/>
            </a:avLst>
          </a:prstGeom>
          <a:solidFill>
            <a:srgbClr val="FFFFFF"/>
          </a:solidFill>
          <a:ln w="12700">
            <a:solidFill>
              <a:srgbClr val="C7D2DC"/>
            </a:solidFill>
            <a:prstDash val="solid"/>
          </a:ln>
        </p:spPr>
      </p:sp>
      <p:sp>
        <p:nvSpPr>
          <p:cNvPr id="5" name="Text 3"/>
          <p:cNvSpPr/>
          <p:nvPr/>
        </p:nvSpPr>
        <p:spPr>
          <a:xfrm>
            <a:off x="868680" y="2240280"/>
            <a:ext cx="3017520" cy="457200"/>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Prediction 1</a:t>
            </a:r>
            <a:endParaRPr lang="en-US" sz="1550" dirty="0"/>
          </a:p>
        </p:txBody>
      </p:sp>
      <p:sp>
        <p:nvSpPr>
          <p:cNvPr id="6" name="Text 4"/>
          <p:cNvSpPr/>
          <p:nvPr/>
        </p:nvSpPr>
        <p:spPr>
          <a:xfrm>
            <a:off x="868680" y="2788920"/>
            <a:ext cx="3017520" cy="2377440"/>
          </a:xfrm>
          <a:prstGeom prst="rect">
            <a:avLst/>
          </a:prstGeom>
          <a:noFill/>
          <a:ln/>
        </p:spPr>
        <p:txBody>
          <a:bodyPr wrap="square" lIns="0" tIns="0" rIns="0" bIns="0" rtlCol="0" anchor="ctr"/>
          <a:lstStyle/>
          <a:p>
            <a:pPr indent="0" marL="0">
              <a:buNone/>
            </a:pPr>
            <a:r>
              <a:rPr lang="en-US" sz="1300" dirty="0">
                <a:solidFill>
                  <a:srgbClr val="0A1F33"/>
                </a:solidFill>
                <a:latin typeface="Courier New" pitchFamily="34" charset="0"/>
                <a:ea typeface="Courier New" pitchFamily="34" charset="-122"/>
                <a:cs typeface="Courier New" pitchFamily="34" charset="-120"/>
              </a:rPr>
              <a:t>random.randint(1, 10)</a:t>
            </a:r>
            <a:endParaRPr lang="en-US" sz="1300" dirty="0"/>
          </a:p>
          <a:p>
            <a:pPr indent="0" marL="0">
              <a:buNone/>
            </a:pPr>
            <a:endParaRPr lang="en-US" sz="1300" dirty="0"/>
          </a:p>
          <a:p>
            <a:pPr indent="0" marL="0">
              <a:buNone/>
            </a:pPr>
            <a:r>
              <a:rPr lang="en-US" sz="1300" dirty="0">
                <a:solidFill>
                  <a:srgbClr val="0A1F33"/>
                </a:solidFill>
                <a:latin typeface="Courier New" pitchFamily="34" charset="0"/>
                <a:ea typeface="Courier New" pitchFamily="34" charset="-122"/>
                <a:cs typeface="Courier New" pitchFamily="34" charset="-120"/>
              </a:rPr>
              <a:t>Can it return 10? Can it return 0?</a:t>
            </a:r>
            <a:endParaRPr lang="en-US" sz="1300" dirty="0"/>
          </a:p>
        </p:txBody>
      </p:sp>
      <p:sp>
        <p:nvSpPr>
          <p:cNvPr id="7" name="Shape 5"/>
          <p:cNvSpPr/>
          <p:nvPr/>
        </p:nvSpPr>
        <p:spPr>
          <a:xfrm>
            <a:off x="4434840" y="2011680"/>
            <a:ext cx="3474720" cy="3291840"/>
          </a:xfrm>
          <a:prstGeom prst="roundRect">
            <a:avLst>
              <a:gd name="adj" fmla="val 2222"/>
            </a:avLst>
          </a:prstGeom>
          <a:solidFill>
            <a:srgbClr val="FFFFFF"/>
          </a:solidFill>
          <a:ln w="12700">
            <a:solidFill>
              <a:srgbClr val="C7D2DC"/>
            </a:solidFill>
            <a:prstDash val="solid"/>
          </a:ln>
        </p:spPr>
      </p:sp>
      <p:sp>
        <p:nvSpPr>
          <p:cNvPr id="8" name="Text 6"/>
          <p:cNvSpPr/>
          <p:nvPr/>
        </p:nvSpPr>
        <p:spPr>
          <a:xfrm>
            <a:off x="4663440" y="2240280"/>
            <a:ext cx="3017520" cy="457200"/>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Prediction 2</a:t>
            </a:r>
            <a:endParaRPr lang="en-US" sz="1550" dirty="0"/>
          </a:p>
        </p:txBody>
      </p:sp>
      <p:sp>
        <p:nvSpPr>
          <p:cNvPr id="9" name="Text 7"/>
          <p:cNvSpPr/>
          <p:nvPr/>
        </p:nvSpPr>
        <p:spPr>
          <a:xfrm>
            <a:off x="4663440" y="2788920"/>
            <a:ext cx="3017520" cy="2377440"/>
          </a:xfrm>
          <a:prstGeom prst="rect">
            <a:avLst/>
          </a:prstGeom>
          <a:noFill/>
          <a:ln/>
        </p:spPr>
        <p:txBody>
          <a:bodyPr wrap="square" lIns="0" tIns="0" rIns="0" bIns="0" rtlCol="0" anchor="ctr"/>
          <a:lstStyle/>
          <a:p>
            <a:pPr indent="0" marL="0">
              <a:buNone/>
            </a:pPr>
            <a:r>
              <a:rPr lang="en-US" sz="1300" dirty="0">
                <a:solidFill>
                  <a:srgbClr val="0A1F33"/>
                </a:solidFill>
                <a:latin typeface="Courier New" pitchFamily="34" charset="0"/>
                <a:ea typeface="Courier New" pitchFamily="34" charset="-122"/>
                <a:cs typeface="Courier New" pitchFamily="34" charset="-120"/>
              </a:rPr>
              <a:t>check_guess(7, 7)</a:t>
            </a:r>
            <a:endParaRPr lang="en-US" sz="1300" dirty="0"/>
          </a:p>
          <a:p>
            <a:pPr indent="0" marL="0">
              <a:buNone/>
            </a:pPr>
            <a:endParaRPr lang="en-US" sz="1300" dirty="0"/>
          </a:p>
          <a:p>
            <a:pPr indent="0" marL="0">
              <a:buNone/>
            </a:pPr>
            <a:r>
              <a:rPr lang="en-US" sz="1300" dirty="0">
                <a:solidFill>
                  <a:srgbClr val="0A1F33"/>
                </a:solidFill>
                <a:latin typeface="Courier New" pitchFamily="34" charset="0"/>
                <a:ea typeface="Courier New" pitchFamily="34" charset="-122"/>
                <a:cs typeface="Courier New" pitchFamily="34" charset="-120"/>
              </a:rPr>
              <a:t>What comes back — and what does NOT happen?</a:t>
            </a:r>
            <a:endParaRPr lang="en-US" sz="1300" dirty="0"/>
          </a:p>
        </p:txBody>
      </p:sp>
      <p:sp>
        <p:nvSpPr>
          <p:cNvPr id="10" name="Shape 8"/>
          <p:cNvSpPr/>
          <p:nvPr/>
        </p:nvSpPr>
        <p:spPr>
          <a:xfrm>
            <a:off x="8229600" y="2011680"/>
            <a:ext cx="3474720" cy="3291840"/>
          </a:xfrm>
          <a:prstGeom prst="roundRect">
            <a:avLst>
              <a:gd name="adj" fmla="val 2222"/>
            </a:avLst>
          </a:prstGeom>
          <a:solidFill>
            <a:srgbClr val="FFFFFF"/>
          </a:solidFill>
          <a:ln w="12700">
            <a:solidFill>
              <a:srgbClr val="C7D2DC"/>
            </a:solidFill>
            <a:prstDash val="solid"/>
          </a:ln>
        </p:spPr>
      </p:sp>
      <p:sp>
        <p:nvSpPr>
          <p:cNvPr id="11" name="Text 9"/>
          <p:cNvSpPr/>
          <p:nvPr/>
        </p:nvSpPr>
        <p:spPr>
          <a:xfrm>
            <a:off x="8458200" y="2240280"/>
            <a:ext cx="3017520" cy="457200"/>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Prediction 3</a:t>
            </a:r>
            <a:endParaRPr lang="en-US" sz="1550" dirty="0"/>
          </a:p>
        </p:txBody>
      </p:sp>
      <p:sp>
        <p:nvSpPr>
          <p:cNvPr id="12" name="Text 10"/>
          <p:cNvSpPr/>
          <p:nvPr/>
        </p:nvSpPr>
        <p:spPr>
          <a:xfrm>
            <a:off x="8458200" y="2788920"/>
            <a:ext cx="3017520" cy="2377440"/>
          </a:xfrm>
          <a:prstGeom prst="rect">
            <a:avLst/>
          </a:prstGeom>
          <a:noFill/>
          <a:ln/>
        </p:spPr>
        <p:txBody>
          <a:bodyPr wrap="square" lIns="0" tIns="0" rIns="0" bIns="0" rtlCol="0" anchor="ctr"/>
          <a:lstStyle/>
          <a:p>
            <a:pPr indent="0" marL="0">
              <a:buNone/>
            </a:pPr>
            <a:r>
              <a:rPr lang="en-US" sz="1300" dirty="0">
                <a:solidFill>
                  <a:srgbClr val="0A1F33"/>
                </a:solidFill>
                <a:latin typeface="Courier New" pitchFamily="34" charset="0"/>
                <a:ea typeface="Courier New" pitchFamily="34" charset="-122"/>
                <a:cs typeface="Courier New" pitchFamily="34" charset="-120"/>
              </a:rPr>
              <a:t>get_guess(50) sees 0,</a:t>
            </a:r>
            <a:endParaRPr lang="en-US" sz="1300" dirty="0"/>
          </a:p>
          <a:p>
            <a:pPr indent="0" marL="0">
              <a:buNone/>
            </a:pPr>
            <a:r>
              <a:rPr lang="en-US" sz="1300" dirty="0">
                <a:solidFill>
                  <a:srgbClr val="0A1F33"/>
                </a:solidFill>
                <a:latin typeface="Courier New" pitchFamily="34" charset="0"/>
                <a:ea typeface="Courier New" pitchFamily="34" charset="-122"/>
                <a:cs typeface="Courier New" pitchFamily="34" charset="-120"/>
              </a:rPr>
              <a:t>then 51, then 32.</a:t>
            </a:r>
            <a:endParaRPr lang="en-US" sz="1300" dirty="0"/>
          </a:p>
          <a:p>
            <a:pPr indent="0" marL="0">
              <a:buNone/>
            </a:pPr>
            <a:endParaRPr lang="en-US" sz="1300" dirty="0"/>
          </a:p>
          <a:p>
            <a:pPr indent="0" marL="0">
              <a:buNone/>
            </a:pPr>
            <a:r>
              <a:rPr lang="en-US" sz="1300" dirty="0">
                <a:solidFill>
                  <a:srgbClr val="0A1F33"/>
                </a:solidFill>
                <a:latin typeface="Courier New" pitchFamily="34" charset="0"/>
                <a:ea typeface="Courier New" pitchFamily="34" charset="-122"/>
                <a:cs typeface="Courier New" pitchFamily="34" charset="-120"/>
              </a:rPr>
              <a:t>What does the user experience?</a:t>
            </a:r>
            <a:endParaRPr lang="en-US" sz="1300" dirty="0"/>
          </a:p>
        </p:txBody>
      </p:sp>
      <p:sp>
        <p:nvSpPr>
          <p:cNvPr id="13" name="Text 11"/>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050" dirty="0">
                <a:solidFill>
                  <a:srgbClr val="5A6B7B"/>
                </a:solidFill>
                <a:latin typeface="Courier New" pitchFamily="34" charset="0"/>
                <a:ea typeface="Courier New" pitchFamily="34" charset="-122"/>
                <a:cs typeface="Courier New" pitchFamily="34" charset="-120"/>
              </a:rPr>
              <a:t>Answers: 10 yes, 0 never (both ends included)  ·  True — and no printing; the caller decides  ·  re-asked twice, then 32 is returned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1887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377440"/>
            <a:ext cx="502920" cy="502920"/>
          </a:xfrm>
          <a:prstGeom prst="roundRect">
            <a:avLst>
              <a:gd name="adj" fmla="val 10909"/>
            </a:avLst>
          </a:prstGeom>
          <a:solidFill>
            <a:srgbClr val="3DDC84"/>
          </a:solidFill>
          <a:ln/>
        </p:spPr>
      </p:sp>
      <p:sp>
        <p:nvSpPr>
          <p:cNvPr id="4" name="Text 2"/>
          <p:cNvSpPr/>
          <p:nvPr/>
        </p:nvSpPr>
        <p:spPr>
          <a:xfrm>
            <a:off x="731520" y="23774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3500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Build get_range(), get_guess(top), and check_guess(guess, secret) exactly to their specs.</a:t>
            </a:r>
            <a:endParaRPr lang="en-US" sz="1600" dirty="0"/>
          </a:p>
        </p:txBody>
      </p:sp>
      <p:sp>
        <p:nvSpPr>
          <p:cNvPr id="6" name="Shape 4"/>
          <p:cNvSpPr/>
          <p:nvPr/>
        </p:nvSpPr>
        <p:spPr>
          <a:xfrm>
            <a:off x="731520" y="3246120"/>
            <a:ext cx="502920" cy="502920"/>
          </a:xfrm>
          <a:prstGeom prst="roundRect">
            <a:avLst>
              <a:gd name="adj" fmla="val 10909"/>
            </a:avLst>
          </a:prstGeom>
          <a:solidFill>
            <a:srgbClr val="3DDC84"/>
          </a:solidFill>
          <a:ln/>
        </p:spPr>
      </p:sp>
      <p:sp>
        <p:nvSpPr>
          <p:cNvPr id="7" name="Text 5"/>
          <p:cNvSpPr/>
          <p:nvPr/>
        </p:nvSpPr>
        <p:spPr>
          <a:xfrm>
            <a:off x="731520" y="32461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21868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Main program: welcome, range, secret via random.randint — then loop guess and check until True.</a:t>
            </a:r>
            <a:endParaRPr lang="en-US" sz="1600" dirty="0"/>
          </a:p>
        </p:txBody>
      </p:sp>
      <p:sp>
        <p:nvSpPr>
          <p:cNvPr id="9" name="Shape 7"/>
          <p:cNvSpPr/>
          <p:nvPr/>
        </p:nvSpPr>
        <p:spPr>
          <a:xfrm>
            <a:off x="731520" y="4114800"/>
            <a:ext cx="502920" cy="502920"/>
          </a:xfrm>
          <a:prstGeom prst="roundRect">
            <a:avLst>
              <a:gd name="adj" fmla="val 10909"/>
            </a:avLst>
          </a:prstGeom>
          <a:solidFill>
            <a:srgbClr val="3DDC84"/>
          </a:solidFill>
          <a:ln/>
        </p:spPr>
      </p:sp>
      <p:sp>
        <p:nvSpPr>
          <p:cNvPr id="10" name="Text 8"/>
          <p:cNvSpPr/>
          <p:nvPr/>
        </p:nvSpPr>
        <p:spPr>
          <a:xfrm>
            <a:off x="731520" y="41148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408736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Playtest with hostile input, then turn in your .py file.</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lesson: cherries, lemons, diamonds — and the container that holds them.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2026-08-19T16:13:51Z</dcterms:created>
  <dcterms:modified xsi:type="dcterms:W3CDTF">2026-08-19T16:13:51Z</dcterms:modified>
</cp:coreProperties>
</file>