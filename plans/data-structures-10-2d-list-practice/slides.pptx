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opener. Bridge from Learn Python: the slot machine's list held one line of data — a checkerboard, a spreadsheet, a seating chart won't fit in a line. Today: the 2D list, nested loops, and a crash caused on purpose. One period; the lab is six challenges in a starter file with line-count budgets.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Bold and define: data structure. The theater analogy carries the whole lesson — a list is one row of seats; a 2D list is the theater. Its limit: theaters vary row lengths, and our board keeps every row the same width. Then the punchline in the code: a 2D list is nothing exotic — a list whose elements are lists. Read the board literal aloud as five rows. Ask: why 25 letters, not 26? Z didn't make the cut — Challenge 4 fixes the injustice.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Index a few letters live with the class calling row and column — including one deliberate swap to show it fails SILENTLY (wrong letter, no error), which is why the challenges check against known answers. Both directions count from zero: board[1] is the SECOND row. Assignment works through the same address — reading and writing use one syntax, which Challenge 4 (seat Z) and 5 (star the corners) exercise.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rhythm out loud with a finger on the projected board: outer loop parks on row 0, inner loop sweeps the seats, then row advances. The odometer analogy fits: the rightmost wheel spins fastest. Challenge 3 (column order) is the comprehension test — don't reveal the swap; a student who found it can SAY why it works, and that's the check-in question during rotation.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crash, rebranded as the lesson. Vocabulary: out of bounds, off-by-one error. Python refuses rather than guessing — read a real traceback bottom line first: the last line names the crime. Challenge 6's protocol matters and the rubric pays for it: PREDICT in writing, then uncomment, then run, then explain, then restore the #. An error you predicted is data; an error that surprises you is a lesson; an error you caused on purpose is both. Release to lab after the practice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quiet minutes with the board projected. Prediction 1 is Challenge 1 in disguise (Q is the target there too — let them discover that in lab). Prediction 2 separates one-index from two-index results: a single index returns a ROW. Prediction 3 rehearses Challenge 6's comment questions exactly. Reveal, resolve arguments by running them, then release: 'understand your mission for today?'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 per Turn It In: the completed 2d_list_practice.py with all six challenges done and the Challenge 6 comment answered. Rubric's 4: challenges within their line budgets and a prediction that predates the crash. Early finishers: the diagonal and grid-printing challenges at the bottom of the lab. Tease: tic-tac-toe — same two indexes, an actual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board[row][col]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 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2D Lists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with rows and columns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Computer Science  •  Data Structures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data structure?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way of organizing data so it's found on purpose, not by accident.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list: one row of seats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seat numbered, starting at 0. One number finds any seat. Your slot machine symbols lived here.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406908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251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2D list: the whole theater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7091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of seats. Finding yours takes two numbers — the row, then the seat within it. In that order.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0" y="1920240"/>
            <a:ext cx="5394960" cy="4069080"/>
          </a:xfrm>
          <a:prstGeom prst="roundRect">
            <a:avLst>
              <a:gd name="adj" fmla="val 1798"/>
            </a:avLst>
          </a:prstGeom>
          <a:solidFill>
            <a:srgbClr val="13324F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219456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board = [</a:t>
            </a:r>
            <a:endParaRPr lang="en-US" sz="15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["A","B","C","D","E"],</a:t>
            </a:r>
            <a:endParaRPr lang="en-US" sz="15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["F","G","H","I","J"],</a:t>
            </a:r>
            <a:endParaRPr lang="en-US" sz="15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["K","L","M","N","O"],</a:t>
            </a:r>
            <a:endParaRPr lang="en-US" sz="15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["P","Q","R","S","T"],</a:t>
            </a:r>
            <a:endParaRPr lang="en-US" sz="15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["U","V","W","X","Y"]</a:t>
            </a:r>
            <a:endParaRPr lang="en-US" sz="15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numbers find anything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first, then column. Always. Both start at zero.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852160" cy="2651760"/>
          </a:xfrm>
          <a:prstGeom prst="roundRect">
            <a:avLst>
              <a:gd name="adj" fmla="val 2759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377440"/>
            <a:ext cx="5303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board[1]     → ["F","G","H","I","J"]</a:t>
            </a:r>
            <a:endParaRPr lang="en-US" sz="16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board[1][2]  → "H"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949440" y="2011680"/>
            <a:ext cx="46634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2240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inside out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223760" y="274320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index grabs a whole row (itself a list). A second index picks the seat inside it. board[1][2]: second row, third letter.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5029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index is also a delivery address:  board[0][1] = "!"  — and B is gone.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Row, then column. Swapping them reads the wrong letter — without the courtesy of crashing.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loops: visiting every seat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outer loop picks a row. The inner loop walks it.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852160" cy="2651760"/>
          </a:xfrm>
          <a:prstGeom prst="roundRect">
            <a:avLst>
              <a:gd name="adj" fmla="val 2759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423160"/>
            <a:ext cx="5303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row in range(5):</a:t>
            </a:r>
            <a:endParaRPr lang="en-US" sz="165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col in range(5):</a:t>
            </a:r>
            <a:endParaRPr lang="en-US" sz="165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print(board[row][col])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949440" y="2011680"/>
            <a:ext cx="46634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2240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rhythm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223760" y="274320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stays at 0 while col runs 0…4, then row moves to 1. Five inner laps per outer lap: 25 visits, A through Y, reading order.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5074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3 wants column order: A, F, K, P, U, B, G… Something small needs to swap. That's yours to find.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Falling off the board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ticket for row 5 in a theater whose rows stop at 4.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214884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IndexError: list index out of range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463040" y="3200400"/>
            <a:ext cx="4206240" cy="2103120"/>
          </a:xfrm>
          <a:prstGeom prst="roundRect">
            <a:avLst>
              <a:gd name="adj" fmla="val 3478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3310128"/>
            <a:ext cx="4206240" cy="1093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board[5][0]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63040" y="442021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sixth row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4798771"/>
            <a:ext cx="4023360" cy="459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stops. No seat in the parking lot.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92240" y="3200400"/>
            <a:ext cx="4206240" cy="2103120"/>
          </a:xfrm>
          <a:prstGeom prst="roundRect">
            <a:avLst>
              <a:gd name="adj" fmla="val 3478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3310128"/>
            <a:ext cx="4206240" cy="1093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len(board)-1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92240" y="442021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legal index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4798771"/>
            <a:ext cx="4023360" cy="459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rows → rows 0 through 4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0" y="562356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for index 5 in a list of length 5 is the off-by-one error — common enough to have its own name. Today you'll write one on purpose.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before lab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predictions in your notebook. The board is on screen.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1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board[3][1]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Which letter?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34840" y="20116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2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663440" y="27889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board[0]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exactly comes back — a letter or something bigger?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0" y="20116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3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458200" y="27889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row index that works. The largest column index. And what board[4][5] does.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"Q" — fourth row, second seat  ·  a whole row, the list ["A","B","C","D","E"]  ·  4 and 4; board[4][5] raises IndexError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3774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3500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all six challenges in 2d_list_practice.py — reading, changing, looping, and crashing on purpose.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2461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21868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6: write your prediction BEFORE you run the crash, and leave your answers in the comment.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114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40873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in the completed file, with the # restored so it runs clean.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the board grows X's and O's — and your program referees.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2026-08-19T16:17:09Z</dcterms:created>
  <dcterms:modified xsi:type="dcterms:W3CDTF">2026-08-19T16:17:09Z</dcterms:modified>
</cp:coreProperties>
</file>