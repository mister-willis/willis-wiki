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period. Students start from the program the class built together (flash and rainbow called in an infinite loop) and write at least two original effects as functions, composed in an order they choose. The concept of the day is define vs. call — one word teaches Python the trick, the other performs it. Everyone types in and runs the starter before writing anything original: known-good baseline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starter is printed in the lab — this slide shows its skeleton so the shape is visible without the detail. Trace one full call on the board: Python reads the defs (learning, not doing), hits the loop, meets flash(), jumps up, runs the body, comes back, meets rainbow(). Ask 'flash appears twice — which one runs the lights?' That question is also the wrap-up cold-close and the rubric's 2/3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syntax errors that fill the help queue today: missing colon and unindented body. Show both broken on the projector if time allows — seeing the error message calmly in advance beats meeting it alone. Rule 2 matters because someone WILL put an infinite loop in their best effect and wonder why the others never play: the first act never ends. Effects end; the outer loop repeats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picture: a show composed from named pieces, like a DJ's set list. Point out you can repeat an effect (comet twice), reorder the show by dragging lines, and fix a bug in one place instead of everywhere you pasted it. This is the modularity idea the unit standard actually asks for — many instructions, invoked by one name. Blackout() as a named effect (all pixels off, brief pause) is a legitimately useful trick; offer it as a freebie.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menu, not assignments — original means original, but a blank ring is scarier than a blank page. The chase row is the honest on-ramp: they wrote that code two labs ago in roulette; wrapping it in a def is a legal and educational first effect. Sparkle needs import random, which they met in the roulette challenges. Tools inventory on the board if useful: fill(), pixels[i], colorwheel(), time.sleep(), for, range,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Notebooks, two minutes, reveal. The left card is arithmetic that doubles as reading practice on the actual starter. The right card is the rubric's 3-row in disguise — defined-but-never-called is the most common way good work goes silently missing. Then the sequence: type in the starter, RUN IT, and only then write original effects.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floor/ceiling line manages the room's range honestly: strugglers copy flash, rename it, change colors — that's a legal original effect and a real first step. Sprinters get pointed at colorwheel and per-pixel math. The test-one-at-a-time habit (comment out the rest of the loop) is the debugging skill that transfers to every lab after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matches Turn It In exactly: code.py from the CIRCUITPY drive. Rubric's 4: at least two original, visibly distinct effects, sensibly named, composed in a chosen order. Cold-close at the wrap: point at your code — where is an effect defined, where is it called? Tease the input-device lab: next time the board stops performing and starts controlling — it will type into the computer as a USB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def flash():  ...  flash()</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name it once</a:t>
            </a:r>
            <a:pPr algn="ctr" indent="0" marL="0">
              <a:buNone/>
            </a:pPr>
            <a:r>
              <a:rPr lang="en-US" sz="3800" b="1" dirty="0">
                <a:solidFill>
                  <a:srgbClr val="1B3A5C"/>
                </a:solidFill>
                <a:latin typeface="Courier New" pitchFamily="34" charset="0"/>
                <a:ea typeface="Courier New" pitchFamily="34" charset="-122"/>
                <a:cs typeface="Courier New" pitchFamily="34" charset="-120"/>
              </a:rPr>
              <a:t>  ·  </a:t>
            </a:r>
            <a:pPr algn="ctr" indent="0" marL="0">
              <a:buNone/>
            </a:pPr>
            <a:r>
              <a:rPr lang="en-US" sz="3800" b="1" dirty="0">
                <a:solidFill>
                  <a:srgbClr val="3DDC84"/>
                </a:solidFill>
                <a:latin typeface="Courier New" pitchFamily="34" charset="0"/>
                <a:ea typeface="Courier New" pitchFamily="34" charset="-122"/>
                <a:cs typeface="Courier New" pitchFamily="34" charset="-120"/>
              </a:rPr>
              <a:t>play it anywhere</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Lighting Effects</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Functions: name an effect, then compose a show</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Computer Science 6  •  Circuit Playground Express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starter: our class program</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effects defined. Two effects called. That's the shape.</a:t>
            </a:r>
            <a:endParaRPr lang="en-US" sz="1700" dirty="0"/>
          </a:p>
        </p:txBody>
      </p:sp>
      <p:sp>
        <p:nvSpPr>
          <p:cNvPr id="4" name="Shape 2"/>
          <p:cNvSpPr/>
          <p:nvPr/>
        </p:nvSpPr>
        <p:spPr>
          <a:xfrm>
            <a:off x="640080" y="2011680"/>
            <a:ext cx="5669280" cy="3657600"/>
          </a:xfrm>
          <a:prstGeom prst="roundRect">
            <a:avLst>
              <a:gd name="adj" fmla="val 2000"/>
            </a:avLst>
          </a:prstGeom>
          <a:solidFill>
            <a:srgbClr val="13324F"/>
          </a:solidFill>
          <a:ln/>
        </p:spPr>
      </p:sp>
      <p:sp>
        <p:nvSpPr>
          <p:cNvPr id="5" name="Text 3"/>
          <p:cNvSpPr/>
          <p:nvPr/>
        </p:nvSpPr>
        <p:spPr>
          <a:xfrm>
            <a:off x="1005840" y="2286000"/>
            <a:ext cx="4937760" cy="3200400"/>
          </a:xfrm>
          <a:prstGeom prst="rect">
            <a:avLst/>
          </a:prstGeom>
          <a:noFill/>
          <a:ln/>
        </p:spPr>
        <p:txBody>
          <a:bodyPr wrap="square" lIns="0" tIns="0" rIns="0" bIns="0" rtlCol="0" anchor="ctr"/>
          <a:lstStyle/>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def flash():</a:t>
            </a:r>
            <a:endParaRPr lang="en-US" sz="1500" dirty="0"/>
          </a:p>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    # red, green, blue, purple</a:t>
            </a:r>
            <a:endParaRPr lang="en-US" sz="1500" dirty="0"/>
          </a:p>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    # ten times, fast</a:t>
            </a:r>
            <a:endParaRPr lang="en-US" sz="1500" dirty="0"/>
          </a:p>
          <a:p>
            <a:pPr indent="0" marL="0">
              <a:lnSpc>
                <a:spcPts val="2200"/>
              </a:lnSpc>
              <a:buNone/>
            </a:pPr>
            <a:endParaRPr lang="en-US" sz="1500" dirty="0"/>
          </a:p>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def rainbow():</a:t>
            </a:r>
            <a:endParaRPr lang="en-US" sz="1500" dirty="0"/>
          </a:p>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    # colorwheel around the ring</a:t>
            </a:r>
            <a:endParaRPr lang="en-US" sz="1500" dirty="0"/>
          </a:p>
          <a:p>
            <a:pPr indent="0" marL="0">
              <a:lnSpc>
                <a:spcPts val="2200"/>
              </a:lnSpc>
              <a:buNone/>
            </a:pPr>
            <a:endParaRPr lang="en-US" sz="1500" dirty="0"/>
          </a:p>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while True:</a:t>
            </a:r>
            <a:endParaRPr lang="en-US" sz="1500" dirty="0"/>
          </a:p>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    flash()</a:t>
            </a:r>
            <a:endParaRPr lang="en-US" sz="1500" dirty="0"/>
          </a:p>
          <a:p>
            <a:pPr indent="0" marL="0">
              <a:lnSpc>
                <a:spcPts val="2200"/>
              </a:lnSpc>
              <a:buNone/>
            </a:pPr>
            <a:r>
              <a:rPr lang="en-US" sz="1500" b="1" dirty="0">
                <a:solidFill>
                  <a:srgbClr val="3DDC84"/>
                </a:solidFill>
                <a:latin typeface="Courier New" pitchFamily="34" charset="0"/>
                <a:ea typeface="Courier New" pitchFamily="34" charset="-122"/>
                <a:cs typeface="Courier New" pitchFamily="34" charset="-120"/>
              </a:rPr>
              <a:t>    rainbow()</a:t>
            </a:r>
            <a:endParaRPr lang="en-US" sz="1500" dirty="0"/>
          </a:p>
        </p:txBody>
      </p:sp>
      <p:sp>
        <p:nvSpPr>
          <p:cNvPr id="6" name="Shape 4"/>
          <p:cNvSpPr/>
          <p:nvPr/>
        </p:nvSpPr>
        <p:spPr>
          <a:xfrm>
            <a:off x="6766560" y="2011680"/>
            <a:ext cx="4846320" cy="3657600"/>
          </a:xfrm>
          <a:prstGeom prst="roundRect">
            <a:avLst>
              <a:gd name="adj" fmla="val 2000"/>
            </a:avLst>
          </a:prstGeom>
          <a:solidFill>
            <a:srgbClr val="FFFFFF"/>
          </a:solidFill>
          <a:ln w="12700">
            <a:solidFill>
              <a:srgbClr val="C7D2DC"/>
            </a:solidFill>
            <a:prstDash val="solid"/>
          </a:ln>
        </p:spPr>
      </p:sp>
      <p:sp>
        <p:nvSpPr>
          <p:cNvPr id="7" name="Text 5"/>
          <p:cNvSpPr/>
          <p:nvPr/>
        </p:nvSpPr>
        <p:spPr>
          <a:xfrm>
            <a:off x="7040880" y="2194560"/>
            <a:ext cx="429768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Two different jobs</a:t>
            </a:r>
            <a:endParaRPr lang="en-US" sz="1700" dirty="0"/>
          </a:p>
        </p:txBody>
      </p:sp>
      <p:sp>
        <p:nvSpPr>
          <p:cNvPr id="8" name="Text 6"/>
          <p:cNvSpPr/>
          <p:nvPr/>
        </p:nvSpPr>
        <p:spPr>
          <a:xfrm>
            <a:off x="7040880" y="2651760"/>
            <a:ext cx="4297680" cy="283464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def flash(): — TEACHES Python a trick and names it. Nothing lights up yet.</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flash() — PERFORMS the trick, right now, lights on.</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Definitions live at the top. Calls live in the loop. The loop reads like a playlist.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Anatomy of a function</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Three parts, two rules.</a:t>
            </a:r>
            <a:endParaRPr lang="en-US" sz="1700" dirty="0"/>
          </a:p>
        </p:txBody>
      </p:sp>
      <p:sp>
        <p:nvSpPr>
          <p:cNvPr id="4" name="Shape 2"/>
          <p:cNvSpPr/>
          <p:nvPr/>
        </p:nvSpPr>
        <p:spPr>
          <a:xfrm>
            <a:off x="640080" y="2011680"/>
            <a:ext cx="4023360" cy="868680"/>
          </a:xfrm>
          <a:prstGeom prst="roundRect">
            <a:avLst>
              <a:gd name="adj" fmla="val 8421"/>
            </a:avLst>
          </a:prstGeom>
          <a:solidFill>
            <a:srgbClr val="13324F"/>
          </a:solidFill>
          <a:ln/>
        </p:spPr>
      </p:sp>
      <p:sp>
        <p:nvSpPr>
          <p:cNvPr id="5" name="Text 3"/>
          <p:cNvSpPr/>
          <p:nvPr/>
        </p:nvSpPr>
        <p:spPr>
          <a:xfrm>
            <a:off x="914400" y="2011680"/>
            <a:ext cx="3657600" cy="868680"/>
          </a:xfrm>
          <a:prstGeom prst="rect">
            <a:avLst/>
          </a:prstGeom>
          <a:noFill/>
          <a:ln/>
        </p:spPr>
        <p:txBody>
          <a:bodyPr wrap="square" lIns="0" tIns="0" rIns="0" bIns="0" rtlCol="0" anchor="ctr"/>
          <a:lstStyle/>
          <a:p>
            <a:pPr indent="0" marL="0">
              <a:buNone/>
            </a:pPr>
            <a:r>
              <a:rPr lang="en-US" sz="1700" b="1" dirty="0">
                <a:solidFill>
                  <a:srgbClr val="3DDC84"/>
                </a:solidFill>
                <a:latin typeface="Courier New" pitchFamily="34" charset="0"/>
                <a:ea typeface="Courier New" pitchFamily="34" charset="-122"/>
                <a:cs typeface="Courier New" pitchFamily="34" charset="-120"/>
              </a:rPr>
              <a:t>def comet():</a:t>
            </a:r>
            <a:endParaRPr lang="en-US" sz="1700" dirty="0"/>
          </a:p>
        </p:txBody>
      </p:sp>
      <p:sp>
        <p:nvSpPr>
          <p:cNvPr id="6" name="Text 4"/>
          <p:cNvSpPr/>
          <p:nvPr/>
        </p:nvSpPr>
        <p:spPr>
          <a:xfrm>
            <a:off x="5029200" y="2011680"/>
            <a:ext cx="6583680" cy="868680"/>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def, a name you choose, parentheses, a colon. Name it for what it DOES.</a:t>
            </a:r>
            <a:endParaRPr lang="en-US" sz="1450" dirty="0"/>
          </a:p>
        </p:txBody>
      </p:sp>
      <p:sp>
        <p:nvSpPr>
          <p:cNvPr id="7" name="Shape 5"/>
          <p:cNvSpPr/>
          <p:nvPr/>
        </p:nvSpPr>
        <p:spPr>
          <a:xfrm>
            <a:off x="640080" y="3063240"/>
            <a:ext cx="4023360" cy="868680"/>
          </a:xfrm>
          <a:prstGeom prst="roundRect">
            <a:avLst>
              <a:gd name="adj" fmla="val 8421"/>
            </a:avLst>
          </a:prstGeom>
          <a:solidFill>
            <a:srgbClr val="13324F"/>
          </a:solidFill>
          <a:ln/>
        </p:spPr>
      </p:sp>
      <p:sp>
        <p:nvSpPr>
          <p:cNvPr id="8" name="Text 6"/>
          <p:cNvSpPr/>
          <p:nvPr/>
        </p:nvSpPr>
        <p:spPr>
          <a:xfrm>
            <a:off x="914400" y="3063240"/>
            <a:ext cx="3657600" cy="868680"/>
          </a:xfrm>
          <a:prstGeom prst="rect">
            <a:avLst/>
          </a:prstGeom>
          <a:noFill/>
          <a:ln/>
        </p:spPr>
        <p:txBody>
          <a:bodyPr wrap="square" lIns="0" tIns="0" rIns="0" bIns="0" rtlCol="0" anchor="ctr"/>
          <a:lstStyle/>
          <a:p>
            <a:pPr indent="0" marL="0">
              <a:buNone/>
            </a:pPr>
            <a:r>
              <a:rPr lang="en-US" sz="1700" b="1" dirty="0">
                <a:solidFill>
                  <a:srgbClr val="3DDC84"/>
                </a:solidFill>
                <a:latin typeface="Courier New" pitchFamily="34" charset="0"/>
                <a:ea typeface="Courier New" pitchFamily="34" charset="-122"/>
                <a:cs typeface="Courier New" pitchFamily="34" charset="-120"/>
              </a:rPr>
              <a:t>    (indented body)</a:t>
            </a:r>
            <a:endParaRPr lang="en-US" sz="1700" dirty="0"/>
          </a:p>
        </p:txBody>
      </p:sp>
      <p:sp>
        <p:nvSpPr>
          <p:cNvPr id="9" name="Text 7"/>
          <p:cNvSpPr/>
          <p:nvPr/>
        </p:nvSpPr>
        <p:spPr>
          <a:xfrm>
            <a:off x="5029200" y="3063240"/>
            <a:ext cx="6583680" cy="868680"/>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every line of the effect, indented one level — the indent is what's inside.</a:t>
            </a:r>
            <a:endParaRPr lang="en-US" sz="1450" dirty="0"/>
          </a:p>
        </p:txBody>
      </p:sp>
      <p:sp>
        <p:nvSpPr>
          <p:cNvPr id="10" name="Shape 8"/>
          <p:cNvSpPr/>
          <p:nvPr/>
        </p:nvSpPr>
        <p:spPr>
          <a:xfrm>
            <a:off x="640080" y="4114800"/>
            <a:ext cx="4023360" cy="868680"/>
          </a:xfrm>
          <a:prstGeom prst="roundRect">
            <a:avLst>
              <a:gd name="adj" fmla="val 8421"/>
            </a:avLst>
          </a:prstGeom>
          <a:solidFill>
            <a:srgbClr val="13324F"/>
          </a:solidFill>
          <a:ln/>
        </p:spPr>
      </p:sp>
      <p:sp>
        <p:nvSpPr>
          <p:cNvPr id="11" name="Text 9"/>
          <p:cNvSpPr/>
          <p:nvPr/>
        </p:nvSpPr>
        <p:spPr>
          <a:xfrm>
            <a:off x="914400" y="4114800"/>
            <a:ext cx="3657600" cy="868680"/>
          </a:xfrm>
          <a:prstGeom prst="rect">
            <a:avLst/>
          </a:prstGeom>
          <a:noFill/>
          <a:ln/>
        </p:spPr>
        <p:txBody>
          <a:bodyPr wrap="square" lIns="0" tIns="0" rIns="0" bIns="0" rtlCol="0" anchor="ctr"/>
          <a:lstStyle/>
          <a:p>
            <a:pPr indent="0" marL="0">
              <a:buNone/>
            </a:pPr>
            <a:r>
              <a:rPr lang="en-US" sz="1700" b="1" dirty="0">
                <a:solidFill>
                  <a:srgbClr val="3DDC84"/>
                </a:solidFill>
                <a:latin typeface="Courier New" pitchFamily="34" charset="0"/>
                <a:ea typeface="Courier New" pitchFamily="34" charset="-122"/>
                <a:cs typeface="Courier New" pitchFamily="34" charset="-120"/>
              </a:rPr>
              <a:t>comet()</a:t>
            </a:r>
            <a:endParaRPr lang="en-US" sz="1700" dirty="0"/>
          </a:p>
        </p:txBody>
      </p:sp>
      <p:sp>
        <p:nvSpPr>
          <p:cNvPr id="12" name="Text 10"/>
          <p:cNvSpPr/>
          <p:nvPr/>
        </p:nvSpPr>
        <p:spPr>
          <a:xfrm>
            <a:off x="5029200" y="4114800"/>
            <a:ext cx="6583680" cy="868680"/>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the call: name plus parentheses. No def. This is the line that makes light.</a:t>
            </a:r>
            <a:endParaRPr lang="en-US" sz="1450" dirty="0"/>
          </a:p>
        </p:txBody>
      </p:sp>
      <p:sp>
        <p:nvSpPr>
          <p:cNvPr id="13" name="Text 11"/>
          <p:cNvSpPr/>
          <p:nvPr/>
        </p:nvSpPr>
        <p:spPr>
          <a:xfrm>
            <a:off x="640080" y="5394960"/>
            <a:ext cx="10972800" cy="731520"/>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Rule 1: define before you call. Rule 2: an effect should END — no while True inside a function, or the show never reaches act two.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Your loop is a set list</a:t>
            </a:r>
            <a:endParaRPr lang="en-US" sz="3400" dirty="0"/>
          </a:p>
        </p:txBody>
      </p:sp>
      <p:sp>
        <p:nvSpPr>
          <p:cNvPr id="3" name="Text 1"/>
          <p:cNvSpPr/>
          <p:nvPr/>
        </p:nvSpPr>
        <p:spPr>
          <a:xfrm>
            <a:off x="0" y="2103120"/>
            <a:ext cx="12191695" cy="2377440"/>
          </a:xfrm>
          <a:prstGeom prst="rect">
            <a:avLst/>
          </a:prstGeom>
          <a:noFill/>
          <a:ln/>
        </p:spPr>
        <p:txBody>
          <a:bodyPr wrap="square" lIns="0" tIns="0" rIns="0" bIns="0" rtlCol="0" anchor="ctr"/>
          <a:lstStyle/>
          <a:p>
            <a:pPr algn="ctr" indent="0" marL="0">
              <a:lnSpc>
                <a:spcPts val="3800"/>
              </a:lnSpc>
              <a:buNone/>
            </a:pPr>
            <a:r>
              <a:rPr lang="en-US" sz="2800" b="1" dirty="0">
                <a:solidFill>
                  <a:srgbClr val="3DDC84"/>
                </a:solidFill>
                <a:latin typeface="Courier New" pitchFamily="34" charset="0"/>
                <a:ea typeface="Courier New" pitchFamily="34" charset="-122"/>
                <a:cs typeface="Courier New" pitchFamily="34" charset="-120"/>
              </a:rPr>
              <a:t>while True:</a:t>
            </a:r>
            <a:endParaRPr lang="en-US" sz="2800" dirty="0"/>
          </a:p>
          <a:p>
            <a:pPr algn="ctr" indent="0" marL="0">
              <a:lnSpc>
                <a:spcPts val="3800"/>
              </a:lnSpc>
              <a:buNone/>
            </a:pPr>
            <a:r>
              <a:rPr lang="en-US" sz="2800" b="1" dirty="0">
                <a:solidFill>
                  <a:srgbClr val="3DDC84"/>
                </a:solidFill>
                <a:latin typeface="Courier New" pitchFamily="34" charset="0"/>
                <a:ea typeface="Courier New" pitchFamily="34" charset="-122"/>
                <a:cs typeface="Courier New" pitchFamily="34" charset="-120"/>
              </a:rPr>
              <a:t>    comet()</a:t>
            </a:r>
            <a:endParaRPr lang="en-US" sz="2800" dirty="0"/>
          </a:p>
          <a:p>
            <a:pPr algn="ctr" indent="0" marL="0">
              <a:lnSpc>
                <a:spcPts val="3800"/>
              </a:lnSpc>
              <a:buNone/>
            </a:pPr>
            <a:r>
              <a:rPr lang="en-US" sz="2800" b="1" dirty="0">
                <a:solidFill>
                  <a:srgbClr val="3DDC84"/>
                </a:solidFill>
                <a:latin typeface="Courier New" pitchFamily="34" charset="0"/>
                <a:ea typeface="Courier New" pitchFamily="34" charset="-122"/>
                <a:cs typeface="Courier New" pitchFamily="34" charset="-120"/>
              </a:rPr>
              <a:t>    sparkle()</a:t>
            </a:r>
            <a:endParaRPr lang="en-US" sz="2800" dirty="0"/>
          </a:p>
          <a:p>
            <a:pPr algn="ctr" indent="0" marL="0">
              <a:lnSpc>
                <a:spcPts val="3800"/>
              </a:lnSpc>
              <a:buNone/>
            </a:pPr>
            <a:r>
              <a:rPr lang="en-US" sz="2800" b="1" dirty="0">
                <a:solidFill>
                  <a:srgbClr val="3DDC84"/>
                </a:solidFill>
                <a:latin typeface="Courier New" pitchFamily="34" charset="0"/>
                <a:ea typeface="Courier New" pitchFamily="34" charset="-122"/>
                <a:cs typeface="Courier New" pitchFamily="34" charset="-120"/>
              </a:rPr>
              <a:t>    blackout()</a:t>
            </a:r>
            <a:endParaRPr lang="en-US" sz="2800" dirty="0"/>
          </a:p>
          <a:p>
            <a:pPr algn="ctr" indent="0" marL="0">
              <a:lnSpc>
                <a:spcPts val="3800"/>
              </a:lnSpc>
              <a:buNone/>
            </a:pPr>
            <a:r>
              <a:rPr lang="en-US" sz="2800" b="1" dirty="0">
                <a:solidFill>
                  <a:srgbClr val="3DDC84"/>
                </a:solidFill>
                <a:latin typeface="Courier New" pitchFamily="34" charset="0"/>
                <a:ea typeface="Courier New" pitchFamily="34" charset="-122"/>
                <a:cs typeface="Courier New" pitchFamily="34" charset="-120"/>
              </a:rPr>
              <a:t>    comet()</a:t>
            </a:r>
            <a:endParaRPr lang="en-US" sz="2800" dirty="0"/>
          </a:p>
        </p:txBody>
      </p:sp>
      <p:sp>
        <p:nvSpPr>
          <p:cNvPr id="4" name="Text 2"/>
          <p:cNvSpPr/>
          <p:nvPr/>
        </p:nvSpPr>
        <p:spPr>
          <a:xfrm>
            <a:off x="0" y="4846320"/>
            <a:ext cx="12191695" cy="457200"/>
          </a:xfrm>
          <a:prstGeom prst="rect">
            <a:avLst/>
          </a:prstGeom>
          <a:noFill/>
          <a:ln/>
        </p:spPr>
        <p:txBody>
          <a:bodyPr wrap="square" lIns="0" tIns="0" rIns="0" bIns="0" rtlCol="0" anchor="ctr"/>
          <a:lstStyle/>
          <a:p>
            <a:pPr algn="ctr" indent="0" marL="0">
              <a:buNone/>
            </a:pPr>
            <a:r>
              <a:rPr lang="en-US" sz="1700" dirty="0">
                <a:solidFill>
                  <a:srgbClr val="C7D2DC"/>
                </a:solidFill>
                <a:latin typeface="Calibri" pitchFamily="34" charset="0"/>
                <a:ea typeface="Calibri" pitchFamily="34" charset="-122"/>
                <a:cs typeface="Calibri" pitchFamily="34" charset="-120"/>
              </a:rPr>
              <a:t>Readable. Reorderable. Each name is one idea, written once, fixed in one place.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Effect ideas, and the tools that build them</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Steal an idea. The code stays yours.</a:t>
            </a:r>
            <a:endParaRPr lang="en-US" sz="1700" dirty="0"/>
          </a:p>
        </p:txBody>
      </p:sp>
      <p:sp>
        <p:nvSpPr>
          <p:cNvPr id="4" name="Shape 2"/>
          <p:cNvSpPr/>
          <p:nvPr/>
        </p:nvSpPr>
        <p:spPr>
          <a:xfrm>
            <a:off x="640080" y="1874520"/>
            <a:ext cx="2651760" cy="658368"/>
          </a:xfrm>
          <a:prstGeom prst="roundRect">
            <a:avLst>
              <a:gd name="adj" fmla="val 11111"/>
            </a:avLst>
          </a:prstGeom>
          <a:solidFill>
            <a:srgbClr val="13324F"/>
          </a:solidFill>
          <a:ln/>
        </p:spPr>
      </p:sp>
      <p:sp>
        <p:nvSpPr>
          <p:cNvPr id="5" name="Text 3"/>
          <p:cNvSpPr/>
          <p:nvPr/>
        </p:nvSpPr>
        <p:spPr>
          <a:xfrm>
            <a:off x="640080" y="1874520"/>
            <a:ext cx="2651760" cy="658368"/>
          </a:xfrm>
          <a:prstGeom prst="rect">
            <a:avLst/>
          </a:prstGeom>
          <a:noFill/>
          <a:ln/>
        </p:spPr>
        <p:txBody>
          <a:bodyPr wrap="square" lIns="0" tIns="0" rIns="0" bIns="0" rtlCol="0" anchor="ctr"/>
          <a:lstStyle/>
          <a:p>
            <a:pPr algn="ctr" indent="0" marL="0">
              <a:buNone/>
            </a:pPr>
            <a:r>
              <a:rPr lang="en-US" sz="1600" b="1" dirty="0">
                <a:solidFill>
                  <a:srgbClr val="3DDC84"/>
                </a:solidFill>
                <a:latin typeface="Courier New" pitchFamily="34" charset="0"/>
                <a:ea typeface="Courier New" pitchFamily="34" charset="-122"/>
                <a:cs typeface="Courier New" pitchFamily="34" charset="-120"/>
              </a:rPr>
              <a:t>chase()</a:t>
            </a:r>
            <a:endParaRPr lang="en-US" sz="1600" dirty="0"/>
          </a:p>
        </p:txBody>
      </p:sp>
      <p:sp>
        <p:nvSpPr>
          <p:cNvPr id="6" name="Text 4"/>
          <p:cNvSpPr/>
          <p:nvPr/>
        </p:nvSpPr>
        <p:spPr>
          <a:xfrm>
            <a:off x="3566160" y="1874520"/>
            <a:ext cx="8046720" cy="658368"/>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one light runs the ring — your roulette loop, re-costumed</a:t>
            </a:r>
            <a:endParaRPr lang="en-US" sz="1450" dirty="0"/>
          </a:p>
        </p:txBody>
      </p:sp>
      <p:sp>
        <p:nvSpPr>
          <p:cNvPr id="7" name="Shape 5"/>
          <p:cNvSpPr/>
          <p:nvPr/>
        </p:nvSpPr>
        <p:spPr>
          <a:xfrm>
            <a:off x="640080" y="2679192"/>
            <a:ext cx="2651760" cy="658368"/>
          </a:xfrm>
          <a:prstGeom prst="roundRect">
            <a:avLst>
              <a:gd name="adj" fmla="val 11111"/>
            </a:avLst>
          </a:prstGeom>
          <a:solidFill>
            <a:srgbClr val="13324F"/>
          </a:solidFill>
          <a:ln/>
        </p:spPr>
      </p:sp>
      <p:sp>
        <p:nvSpPr>
          <p:cNvPr id="8" name="Text 6"/>
          <p:cNvSpPr/>
          <p:nvPr/>
        </p:nvSpPr>
        <p:spPr>
          <a:xfrm>
            <a:off x="640080" y="2679192"/>
            <a:ext cx="2651760" cy="658368"/>
          </a:xfrm>
          <a:prstGeom prst="rect">
            <a:avLst/>
          </a:prstGeom>
          <a:noFill/>
          <a:ln/>
        </p:spPr>
        <p:txBody>
          <a:bodyPr wrap="square" lIns="0" tIns="0" rIns="0" bIns="0" rtlCol="0" anchor="ctr"/>
          <a:lstStyle/>
          <a:p>
            <a:pPr algn="ctr" indent="0" marL="0">
              <a:buNone/>
            </a:pPr>
            <a:r>
              <a:rPr lang="en-US" sz="1600" b="1" dirty="0">
                <a:solidFill>
                  <a:srgbClr val="3DDC84"/>
                </a:solidFill>
                <a:latin typeface="Courier New" pitchFamily="34" charset="0"/>
                <a:ea typeface="Courier New" pitchFamily="34" charset="-122"/>
                <a:cs typeface="Courier New" pitchFamily="34" charset="-120"/>
              </a:rPr>
              <a:t>comet()</a:t>
            </a:r>
            <a:endParaRPr lang="en-US" sz="1600" dirty="0"/>
          </a:p>
        </p:txBody>
      </p:sp>
      <p:sp>
        <p:nvSpPr>
          <p:cNvPr id="9" name="Text 7"/>
          <p:cNvSpPr/>
          <p:nvPr/>
        </p:nvSpPr>
        <p:spPr>
          <a:xfrm>
            <a:off x="3566160" y="2679192"/>
            <a:ext cx="8046720" cy="658368"/>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a bright head, then dimmer pixels trailing behind it</a:t>
            </a:r>
            <a:endParaRPr lang="en-US" sz="1450" dirty="0"/>
          </a:p>
        </p:txBody>
      </p:sp>
      <p:sp>
        <p:nvSpPr>
          <p:cNvPr id="10" name="Shape 8"/>
          <p:cNvSpPr/>
          <p:nvPr/>
        </p:nvSpPr>
        <p:spPr>
          <a:xfrm>
            <a:off x="640080" y="3483864"/>
            <a:ext cx="2651760" cy="658368"/>
          </a:xfrm>
          <a:prstGeom prst="roundRect">
            <a:avLst>
              <a:gd name="adj" fmla="val 11111"/>
            </a:avLst>
          </a:prstGeom>
          <a:solidFill>
            <a:srgbClr val="13324F"/>
          </a:solidFill>
          <a:ln/>
        </p:spPr>
      </p:sp>
      <p:sp>
        <p:nvSpPr>
          <p:cNvPr id="11" name="Text 9"/>
          <p:cNvSpPr/>
          <p:nvPr/>
        </p:nvSpPr>
        <p:spPr>
          <a:xfrm>
            <a:off x="640080" y="3483864"/>
            <a:ext cx="2651760" cy="658368"/>
          </a:xfrm>
          <a:prstGeom prst="rect">
            <a:avLst/>
          </a:prstGeom>
          <a:noFill/>
          <a:ln/>
        </p:spPr>
        <p:txBody>
          <a:bodyPr wrap="square" lIns="0" tIns="0" rIns="0" bIns="0" rtlCol="0" anchor="ctr"/>
          <a:lstStyle/>
          <a:p>
            <a:pPr algn="ctr" indent="0" marL="0">
              <a:buNone/>
            </a:pPr>
            <a:r>
              <a:rPr lang="en-US" sz="1600" b="1" dirty="0">
                <a:solidFill>
                  <a:srgbClr val="3DDC84"/>
                </a:solidFill>
                <a:latin typeface="Courier New" pitchFamily="34" charset="0"/>
                <a:ea typeface="Courier New" pitchFamily="34" charset="-122"/>
                <a:cs typeface="Courier New" pitchFamily="34" charset="-120"/>
              </a:rPr>
              <a:t>strobe()</a:t>
            </a:r>
            <a:endParaRPr lang="en-US" sz="1600" dirty="0"/>
          </a:p>
        </p:txBody>
      </p:sp>
      <p:sp>
        <p:nvSpPr>
          <p:cNvPr id="12" name="Text 10"/>
          <p:cNvSpPr/>
          <p:nvPr/>
        </p:nvSpPr>
        <p:spPr>
          <a:xfrm>
            <a:off x="3566160" y="3483864"/>
            <a:ext cx="8046720" cy="658368"/>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fill a color, sleep, fill black, repeat — careful with speed</a:t>
            </a:r>
            <a:endParaRPr lang="en-US" sz="1450" dirty="0"/>
          </a:p>
        </p:txBody>
      </p:sp>
      <p:sp>
        <p:nvSpPr>
          <p:cNvPr id="13" name="Shape 11"/>
          <p:cNvSpPr/>
          <p:nvPr/>
        </p:nvSpPr>
        <p:spPr>
          <a:xfrm>
            <a:off x="640080" y="4288536"/>
            <a:ext cx="2651760" cy="658368"/>
          </a:xfrm>
          <a:prstGeom prst="roundRect">
            <a:avLst>
              <a:gd name="adj" fmla="val 11111"/>
            </a:avLst>
          </a:prstGeom>
          <a:solidFill>
            <a:srgbClr val="13324F"/>
          </a:solidFill>
          <a:ln/>
        </p:spPr>
      </p:sp>
      <p:sp>
        <p:nvSpPr>
          <p:cNvPr id="14" name="Text 12"/>
          <p:cNvSpPr/>
          <p:nvPr/>
        </p:nvSpPr>
        <p:spPr>
          <a:xfrm>
            <a:off x="640080" y="4288536"/>
            <a:ext cx="2651760" cy="658368"/>
          </a:xfrm>
          <a:prstGeom prst="rect">
            <a:avLst/>
          </a:prstGeom>
          <a:noFill/>
          <a:ln/>
        </p:spPr>
        <p:txBody>
          <a:bodyPr wrap="square" lIns="0" tIns="0" rIns="0" bIns="0" rtlCol="0" anchor="ctr"/>
          <a:lstStyle/>
          <a:p>
            <a:pPr algn="ctr" indent="0" marL="0">
              <a:buNone/>
            </a:pPr>
            <a:r>
              <a:rPr lang="en-US" sz="1600" b="1" dirty="0">
                <a:solidFill>
                  <a:srgbClr val="3DDC84"/>
                </a:solidFill>
                <a:latin typeface="Courier New" pitchFamily="34" charset="0"/>
                <a:ea typeface="Courier New" pitchFamily="34" charset="-122"/>
                <a:cs typeface="Courier New" pitchFamily="34" charset="-120"/>
              </a:rPr>
              <a:t>sparkle()</a:t>
            </a:r>
            <a:endParaRPr lang="en-US" sz="1600" dirty="0"/>
          </a:p>
        </p:txBody>
      </p:sp>
      <p:sp>
        <p:nvSpPr>
          <p:cNvPr id="15" name="Text 13"/>
          <p:cNvSpPr/>
          <p:nvPr/>
        </p:nvSpPr>
        <p:spPr>
          <a:xfrm>
            <a:off x="3566160" y="4288536"/>
            <a:ext cx="8046720" cy="658368"/>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random pixels flicker: import random, pick a pixel, blink it</a:t>
            </a:r>
            <a:endParaRPr lang="en-US" sz="1450" dirty="0"/>
          </a:p>
        </p:txBody>
      </p:sp>
      <p:sp>
        <p:nvSpPr>
          <p:cNvPr id="16" name="Shape 14"/>
          <p:cNvSpPr/>
          <p:nvPr/>
        </p:nvSpPr>
        <p:spPr>
          <a:xfrm>
            <a:off x="640080" y="5093208"/>
            <a:ext cx="2651760" cy="658368"/>
          </a:xfrm>
          <a:prstGeom prst="roundRect">
            <a:avLst>
              <a:gd name="adj" fmla="val 11111"/>
            </a:avLst>
          </a:prstGeom>
          <a:solidFill>
            <a:srgbClr val="13324F"/>
          </a:solidFill>
          <a:ln/>
        </p:spPr>
      </p:sp>
      <p:sp>
        <p:nvSpPr>
          <p:cNvPr id="17" name="Text 15"/>
          <p:cNvSpPr/>
          <p:nvPr/>
        </p:nvSpPr>
        <p:spPr>
          <a:xfrm>
            <a:off x="640080" y="5093208"/>
            <a:ext cx="2651760" cy="658368"/>
          </a:xfrm>
          <a:prstGeom prst="rect">
            <a:avLst/>
          </a:prstGeom>
          <a:noFill/>
          <a:ln/>
        </p:spPr>
        <p:txBody>
          <a:bodyPr wrap="square" lIns="0" tIns="0" rIns="0" bIns="0" rtlCol="0" anchor="ctr"/>
          <a:lstStyle/>
          <a:p>
            <a:pPr algn="ctr" indent="0" marL="0">
              <a:buNone/>
            </a:pPr>
            <a:r>
              <a:rPr lang="en-US" sz="1600" b="1" dirty="0">
                <a:solidFill>
                  <a:srgbClr val="3DDC84"/>
                </a:solidFill>
                <a:latin typeface="Courier New" pitchFamily="34" charset="0"/>
                <a:ea typeface="Courier New" pitchFamily="34" charset="-122"/>
                <a:cs typeface="Courier New" pitchFamily="34" charset="-120"/>
              </a:rPr>
              <a:t>breathe()</a:t>
            </a:r>
            <a:endParaRPr lang="en-US" sz="1600" dirty="0"/>
          </a:p>
        </p:txBody>
      </p:sp>
      <p:sp>
        <p:nvSpPr>
          <p:cNvPr id="18" name="Text 16"/>
          <p:cNvSpPr/>
          <p:nvPr/>
        </p:nvSpPr>
        <p:spPr>
          <a:xfrm>
            <a:off x="3566160" y="5093208"/>
            <a:ext cx="8046720" cy="658368"/>
          </a:xfrm>
          <a:prstGeom prst="rect">
            <a:avLst/>
          </a:prstGeom>
          <a:noFill/>
          <a:ln/>
        </p:spPr>
        <p:txBody>
          <a:bodyPr wrap="square" lIns="0" tIns="0" rIns="0" bIns="0" rtlCol="0" anchor="ctr"/>
          <a:lstStyle/>
          <a:p>
            <a:pPr indent="0" marL="0">
              <a:buNone/>
            </a:pPr>
            <a:r>
              <a:rPr lang="en-US" sz="1450" dirty="0">
                <a:solidFill>
                  <a:srgbClr val="0A1F33"/>
                </a:solidFill>
                <a:latin typeface="Calibri" pitchFamily="34" charset="0"/>
                <a:ea typeface="Calibri" pitchFamily="34" charset="-122"/>
                <a:cs typeface="Calibri" pitchFamily="34" charset="-120"/>
              </a:rPr>
              <a:t>one color, brightness gliding up and down with a for-loop</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read the starter</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questions about code you're about to own.</a:t>
            </a:r>
            <a:endParaRPr lang="en-US" sz="1700" dirty="0"/>
          </a:p>
        </p:txBody>
      </p:sp>
      <p:sp>
        <p:nvSpPr>
          <p:cNvPr id="4" name="Shape 2"/>
          <p:cNvSpPr/>
          <p:nvPr/>
        </p:nvSpPr>
        <p:spPr>
          <a:xfrm>
            <a:off x="640080" y="2011680"/>
            <a:ext cx="5394960" cy="3566160"/>
          </a:xfrm>
          <a:prstGeom prst="roundRect">
            <a:avLst>
              <a:gd name="adj" fmla="val 2051"/>
            </a:avLst>
          </a:prstGeom>
          <a:solidFill>
            <a:srgbClr val="FFFFFF"/>
          </a:solidFill>
          <a:ln w="12700">
            <a:solidFill>
              <a:srgbClr val="C7D2DC"/>
            </a:solidFill>
            <a:prstDash val="solid"/>
          </a:ln>
        </p:spPr>
      </p:sp>
      <p:sp>
        <p:nvSpPr>
          <p:cNvPr id="5" name="Text 3"/>
          <p:cNvSpPr/>
          <p:nvPr/>
        </p:nvSpPr>
        <p:spPr>
          <a:xfrm>
            <a:off x="91440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Time flash()</a:t>
            </a:r>
            <a:endParaRPr lang="en-US" sz="1700" dirty="0"/>
          </a:p>
        </p:txBody>
      </p:sp>
      <p:sp>
        <p:nvSpPr>
          <p:cNvPr id="6" name="Text 4"/>
          <p:cNvSpPr/>
          <p:nvPr/>
        </p:nvSpPr>
        <p:spPr>
          <a:xfrm>
            <a:off x="914400" y="2651760"/>
            <a:ext cx="4846320" cy="274320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flash() loops 10 times, and each pass fills 4 colors with a 0.1-second sleep after each.</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About how long does one flash() call last?</a:t>
            </a:r>
            <a:endParaRPr lang="en-US" sz="1400" dirty="0"/>
          </a:p>
        </p:txBody>
      </p:sp>
      <p:sp>
        <p:nvSpPr>
          <p:cNvPr id="7" name="Shape 5"/>
          <p:cNvSpPr/>
          <p:nvPr/>
        </p:nvSpPr>
        <p:spPr>
          <a:xfrm>
            <a:off x="6400800" y="2011680"/>
            <a:ext cx="5394960" cy="3566160"/>
          </a:xfrm>
          <a:prstGeom prst="roundRect">
            <a:avLst>
              <a:gd name="adj" fmla="val 2051"/>
            </a:avLst>
          </a:prstGeom>
          <a:solidFill>
            <a:srgbClr val="FFFFFF"/>
          </a:solidFill>
          <a:ln w="12700">
            <a:solidFill>
              <a:srgbClr val="C7D2DC"/>
            </a:solidFill>
            <a:prstDash val="solid"/>
          </a:ln>
        </p:spPr>
      </p:sp>
      <p:sp>
        <p:nvSpPr>
          <p:cNvPr id="8" name="Text 6"/>
          <p:cNvSpPr/>
          <p:nvPr/>
        </p:nvSpPr>
        <p:spPr>
          <a:xfrm>
            <a:off x="667512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silent bug</a:t>
            </a:r>
            <a:endParaRPr lang="en-US" sz="1700" dirty="0"/>
          </a:p>
        </p:txBody>
      </p:sp>
      <p:sp>
        <p:nvSpPr>
          <p:cNvPr id="9" name="Text 7"/>
          <p:cNvSpPr/>
          <p:nvPr/>
        </p:nvSpPr>
        <p:spPr>
          <a:xfrm>
            <a:off x="6675120" y="2651760"/>
            <a:ext cx="4846320" cy="274320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A student defines glow() at the top, but the loop reads:</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while True:</a:t>
            </a: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    flash()</a:t>
            </a: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    rainbow()</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What does glow() do all period?</a:t>
            </a:r>
            <a:endParaRPr lang="en-US" sz="1400" dirty="0"/>
          </a:p>
        </p:txBody>
      </p:sp>
      <p:sp>
        <p:nvSpPr>
          <p:cNvPr id="10" name="Text 8"/>
          <p:cNvSpPr/>
          <p:nvPr/>
        </p:nvSpPr>
        <p:spPr>
          <a:xfrm>
            <a:off x="320040" y="5897880"/>
            <a:ext cx="11521440" cy="365760"/>
          </a:xfrm>
          <a:prstGeom prst="rect">
            <a:avLst/>
          </a:prstGeom>
          <a:noFill/>
          <a:ln/>
        </p:spPr>
        <p:txBody>
          <a:bodyPr wrap="square" lIns="0" tIns="0" rIns="0" bIns="0" rtlCol="0" anchor="ctr"/>
          <a:lstStyle/>
          <a:p>
            <a:pPr algn="ctr" indent="0" marL="0">
              <a:buNone/>
            </a:pPr>
            <a:r>
              <a:rPr lang="en-US" sz="1050" dirty="0">
                <a:solidFill>
                  <a:srgbClr val="5A6B7B"/>
                </a:solidFill>
                <a:latin typeface="Courier New" pitchFamily="34" charset="0"/>
                <a:ea typeface="Courier New" pitchFamily="34" charset="-122"/>
                <a:cs typeface="Courier New" pitchFamily="34" charset="-120"/>
              </a:rPr>
              <a:t>Answers: 10 × 4 × 0.1 ≈ 4 seconds · nothing — defined but never called; Python learned the trick and nobody asked for 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Make it yours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habits separate a show from a mess.</a:t>
            </a:r>
            <a:endParaRPr lang="en-US" sz="1700" dirty="0"/>
          </a:p>
        </p:txBody>
      </p:sp>
      <p:sp>
        <p:nvSpPr>
          <p:cNvPr id="4" name="Shape 2"/>
          <p:cNvSpPr/>
          <p:nvPr/>
        </p:nvSpPr>
        <p:spPr>
          <a:xfrm>
            <a:off x="640080" y="2011680"/>
            <a:ext cx="5394960" cy="3383280"/>
          </a:xfrm>
          <a:prstGeom prst="roundRect">
            <a:avLst>
              <a:gd name="adj" fmla="val 2162"/>
            </a:avLst>
          </a:prstGeom>
          <a:solidFill>
            <a:srgbClr val="FFFFFF"/>
          </a:solidFill>
          <a:ln w="12700">
            <a:solidFill>
              <a:srgbClr val="C7D2DC"/>
            </a:solidFill>
            <a:prstDash val="solid"/>
          </a:ln>
        </p:spPr>
      </p:sp>
      <p:sp>
        <p:nvSpPr>
          <p:cNvPr id="5" name="Text 3"/>
          <p:cNvSpPr/>
          <p:nvPr/>
        </p:nvSpPr>
        <p:spPr>
          <a:xfrm>
            <a:off x="91440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Name effects for what they do</a:t>
            </a:r>
            <a:endParaRPr lang="en-US" sz="1700" dirty="0"/>
          </a:p>
        </p:txBody>
      </p:sp>
      <p:sp>
        <p:nvSpPr>
          <p:cNvPr id="6" name="Text 4"/>
          <p:cNvSpPr/>
          <p:nvPr/>
        </p:nvSpPr>
        <p:spPr>
          <a:xfrm>
            <a:off x="914400" y="2651760"/>
            <a:ext cx="4846320" cy="256032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comet(), heartbeat(), cop_lights() — a stranger should guess the look from the name.</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effect1() tells nobody anything, including you, tomorrow.</a:t>
            </a:r>
            <a:endParaRPr lang="en-US" sz="1400" dirty="0"/>
          </a:p>
        </p:txBody>
      </p:sp>
      <p:sp>
        <p:nvSpPr>
          <p:cNvPr id="7" name="Shape 5"/>
          <p:cNvSpPr/>
          <p:nvPr/>
        </p:nvSpPr>
        <p:spPr>
          <a:xfrm>
            <a:off x="6400800" y="2011680"/>
            <a:ext cx="5394960" cy="3383280"/>
          </a:xfrm>
          <a:prstGeom prst="roundRect">
            <a:avLst>
              <a:gd name="adj" fmla="val 2162"/>
            </a:avLst>
          </a:prstGeom>
          <a:solidFill>
            <a:srgbClr val="FFFFFF"/>
          </a:solidFill>
          <a:ln w="12700">
            <a:solidFill>
              <a:srgbClr val="3DDC84"/>
            </a:solidFill>
            <a:prstDash val="solid"/>
          </a:ln>
        </p:spPr>
      </p:sp>
      <p:sp>
        <p:nvSpPr>
          <p:cNvPr id="8" name="Text 6"/>
          <p:cNvSpPr/>
          <p:nvPr/>
        </p:nvSpPr>
        <p:spPr>
          <a:xfrm>
            <a:off x="667512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Test one at a time</a:t>
            </a:r>
            <a:endParaRPr lang="en-US" sz="1700" dirty="0"/>
          </a:p>
        </p:txBody>
      </p:sp>
      <p:sp>
        <p:nvSpPr>
          <p:cNvPr id="9" name="Text 7"/>
          <p:cNvSpPr/>
          <p:nvPr/>
        </p:nvSpPr>
        <p:spPr>
          <a:xfrm>
            <a:off x="6675120" y="2651760"/>
            <a:ext cx="4846320" cy="256032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New effect misbehaving? Make the loop call ONLY that effect while you fix it. Add the rest back when it earns its spot.</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 a comment sign silences a line without deleting it.</a:t>
            </a:r>
            <a:endParaRPr lang="en-US" sz="1400" dirty="0"/>
          </a:p>
        </p:txBody>
      </p:sp>
      <p:sp>
        <p:nvSpPr>
          <p:cNvPr id="10" name="Text 8"/>
          <p:cNvSpPr/>
          <p:nvPr/>
        </p:nvSpPr>
        <p:spPr>
          <a:xfrm>
            <a:off x="640080" y="5623560"/>
            <a:ext cx="10972800" cy="457200"/>
          </a:xfrm>
          <a:prstGeom prst="rect">
            <a:avLst/>
          </a:prstGeom>
          <a:noFill/>
          <a:ln/>
        </p:spPr>
        <p:txBody>
          <a:bodyPr wrap="square" lIns="0" tIns="0" rIns="0" bIns="0" rtlCol="0" anchor="ctr"/>
          <a:lstStyle/>
          <a:p>
            <a:pPr algn="ctr" indent="0" marL="0">
              <a:buNone/>
            </a:pPr>
            <a:r>
              <a:rPr lang="en-US" sz="1500" b="1" dirty="0">
                <a:solidFill>
                  <a:srgbClr val="0A1F33"/>
                </a:solidFill>
                <a:latin typeface="Calibri" pitchFamily="34" charset="0"/>
                <a:ea typeface="Calibri" pitchFamily="34" charset="-122"/>
                <a:cs typeface="Calibri" pitchFamily="34" charset="-120"/>
              </a:rPr>
              <a:t>Floor: re-skin flash() with your own colors. Ceiling: per-pixel colorwheel math. Both are legal.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9728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286000"/>
            <a:ext cx="502920" cy="502920"/>
          </a:xfrm>
          <a:prstGeom prst="roundRect">
            <a:avLst>
              <a:gd name="adj" fmla="val 10909"/>
            </a:avLst>
          </a:prstGeom>
          <a:solidFill>
            <a:srgbClr val="3DDC84"/>
          </a:solidFill>
          <a:ln/>
        </p:spPr>
      </p:sp>
      <p:sp>
        <p:nvSpPr>
          <p:cNvPr id="4" name="Text 2"/>
          <p:cNvSpPr/>
          <p:nvPr/>
        </p:nvSpPr>
        <p:spPr>
          <a:xfrm>
            <a:off x="731520" y="22860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258568"/>
            <a:ext cx="9966960" cy="566928"/>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Write at least two lighting effects of your own, as functions, named for what they do.</a:t>
            </a:r>
            <a:endParaRPr lang="en-US" sz="1650" dirty="0"/>
          </a:p>
        </p:txBody>
      </p:sp>
      <p:sp>
        <p:nvSpPr>
          <p:cNvPr id="6" name="Shape 4"/>
          <p:cNvSpPr/>
          <p:nvPr/>
        </p:nvSpPr>
        <p:spPr>
          <a:xfrm>
            <a:off x="731520" y="3200400"/>
            <a:ext cx="502920" cy="502920"/>
          </a:xfrm>
          <a:prstGeom prst="roundRect">
            <a:avLst>
              <a:gd name="adj" fmla="val 10909"/>
            </a:avLst>
          </a:prstGeom>
          <a:solidFill>
            <a:srgbClr val="3DDC84"/>
          </a:solidFill>
          <a:ln/>
        </p:spPr>
      </p:sp>
      <p:sp>
        <p:nvSpPr>
          <p:cNvPr id="7" name="Text 5"/>
          <p:cNvSpPr/>
          <p:nvPr/>
        </p:nvSpPr>
        <p:spPr>
          <a:xfrm>
            <a:off x="731520" y="32004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172968"/>
            <a:ext cx="9966960" cy="566928"/>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Call your effects in the infinite loop, in an order you chose — compose the show.</a:t>
            </a:r>
            <a:endParaRPr lang="en-US" sz="1650" dirty="0"/>
          </a:p>
        </p:txBody>
      </p:sp>
      <p:sp>
        <p:nvSpPr>
          <p:cNvPr id="9" name="Shape 7"/>
          <p:cNvSpPr/>
          <p:nvPr/>
        </p:nvSpPr>
        <p:spPr>
          <a:xfrm>
            <a:off x="731520" y="4114800"/>
            <a:ext cx="502920" cy="502920"/>
          </a:xfrm>
          <a:prstGeom prst="roundRect">
            <a:avLst>
              <a:gd name="adj" fmla="val 10909"/>
            </a:avLst>
          </a:prstGeom>
          <a:solidFill>
            <a:srgbClr val="3DDC84"/>
          </a:solidFill>
          <a:ln/>
        </p:spPr>
      </p:sp>
      <p:sp>
        <p:nvSpPr>
          <p:cNvPr id="10" name="Text 8"/>
          <p:cNvSpPr/>
          <p:nvPr/>
        </p:nvSpPr>
        <p:spPr>
          <a:xfrm>
            <a:off x="731520" y="41148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4087368"/>
            <a:ext cx="9966960" cy="566928"/>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Turn it in: submit your code.py file from the CIRCUITPY drive.</a:t>
            </a:r>
            <a:endParaRPr lang="en-US" sz="165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lesson: your board impersonates a keyboard — and controls a video game.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2026-08-19T15:28:16Z</dcterms:created>
  <dcterms:modified xsi:type="dcterms:W3CDTF">2026-08-19T15:28:16Z</dcterms:modified>
</cp:coreProperties>
</file>