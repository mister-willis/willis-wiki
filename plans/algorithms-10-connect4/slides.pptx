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you will not be playing Connect 4 in this unit — you'll write a Python library that plays it FOR you, then enter it in a tournament against every other library in the room. Bridge from the data-structures unit: tic-tac-toe gave us the board-as-2D-list idea and win checking; Connect 4 scales both up. Deck spans two days: Day 1 through the practice slide, Day 2 opens on the tournament-flow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one fast physical game (or projected online game) while narrating the decisions a library would have to make each turn: which column do I drop in, is my opponent's move legal, did anyone just win? The 69 number is a plant for the check-win helpers lab. Left board shows a vertical win for red in column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tic-tac-toe board representation scaled up — same idea, bigger grid, three possible cell values. Drill state[row][col] reading: what's at state[5][0]? (R.) state[0][0]? (-.) The amber card is the day's most important warning: students who assume row 0 is the bottom write make_move functions that play legally and lose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signatures are a contract: the tournament program imports the library and calls these names with these arguments, with nobody there to explain what you meant. Read each row aloud with its return type. The file-name rule matters for the same reason — the tournament finds libraries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lab's warning callout, staged. Software that other software calls has no benefit of the doubt: makeMove is not make_move, and "win" is not "WIN". This is the first time most students meet an interface contract — name the idea. Industry runs on exactly this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solo, then neighbor comparison. The board has a live win: R takes column 0 NOW (vertical — R at rows 3, 4, 5; the drop lands at row 2). Students who miss it usually got distracted watching Y's building column-4 stack — scanning for your OWN win first is a make_move algorithm insight worth saying out loud. The column-9 question previews check_move. Then release to lab: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OPENER. Recap yesterday (board, signatures), then walk this flow start to finish once. The insight worth landing: the referee functions are scoring functions — an opponent that fails to report its own victory hands you the game. So check_move and check_win aren't chores before the fun part; they ARE competitive strategy. Then release to lab: library file, get_name, first make_move.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mirror Turn It In: the algorithm description (notebook, natural language, no code) and the library .py file named exactly right. The library is submitted after the unit-testing lab, but it's due with THIS assignment — say that clearly. Rubric's 4: exact signatures, graceful recovery from illegal arguments, and an algorithm another programmer could implement without asking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R  Y  -  R  Y  -  R</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make_move()</a:t>
            </a:r>
            <a:pPr algn="ctr" indent="0" marL="0">
              <a:buNone/>
            </a:pPr>
            <a:r>
              <a:rPr lang="en-US" sz="3800" b="1" dirty="0">
                <a:solidFill>
                  <a:srgbClr val="1B3A5C"/>
                </a:solidFill>
                <a:latin typeface="Courier New" pitchFamily="34" charset="0"/>
                <a:ea typeface="Courier New" pitchFamily="34" charset="-122"/>
                <a:cs typeface="Courier New" pitchFamily="34" charset="-120"/>
              </a:rPr>
              <a:t> → </a:t>
            </a:r>
            <a:pPr algn="ctr" indent="0" marL="0">
              <a:buNone/>
            </a:pPr>
            <a:r>
              <a:rPr lang="en-US" sz="3800" b="1" dirty="0">
                <a:solidFill>
                  <a:srgbClr val="3DDC84"/>
                </a:solidFill>
                <a:latin typeface="Courier New" pitchFamily="34" charset="0"/>
                <a:ea typeface="Courier New" pitchFamily="34" charset="-122"/>
                <a:cs typeface="Courier New" pitchFamily="34" charset="-120"/>
              </a:rPr>
              <a:t>3</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Connect4</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Your code plays. You watch.</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Computer Science  •  Algorithms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game: 7 columns, 6 rows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Drop a disc; it falls to the lowest open space.</a:t>
            </a:r>
            <a:endParaRPr lang="en-US" sz="1700" dirty="0"/>
          </a:p>
        </p:txBody>
      </p:sp>
      <p:sp>
        <p:nvSpPr>
          <p:cNvPr id="4" name="Text 2"/>
          <p:cNvSpPr/>
          <p:nvPr/>
        </p:nvSpPr>
        <p:spPr>
          <a:xfrm>
            <a:off x="822960" y="1920240"/>
            <a:ext cx="3108960" cy="3566160"/>
          </a:xfrm>
          <a:prstGeom prst="rect">
            <a:avLst/>
          </a:prstGeom>
          <a:noFill/>
          <a:ln/>
        </p:spPr>
        <p:txBody>
          <a:bodyPr wrap="square" lIns="0" tIns="0" rIns="0" bIns="0" rtlCol="0" anchor="ctr"/>
          <a:lstStyle/>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R-Y----</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RYRY---</a:t>
            </a:r>
            <a:endParaRPr lang="en-US" sz="2600" dirty="0"/>
          </a:p>
        </p:txBody>
      </p:sp>
      <p:sp>
        <p:nvSpPr>
          <p:cNvPr id="5" name="Shape 3"/>
          <p:cNvSpPr/>
          <p:nvPr/>
        </p:nvSpPr>
        <p:spPr>
          <a:xfrm>
            <a:off x="4480560" y="1920240"/>
            <a:ext cx="7040880" cy="1645920"/>
          </a:xfrm>
          <a:prstGeom prst="roundRect">
            <a:avLst>
              <a:gd name="adj" fmla="val 4444"/>
            </a:avLst>
          </a:prstGeom>
          <a:solidFill>
            <a:srgbClr val="FFFFFF"/>
          </a:solidFill>
          <a:ln w="12700">
            <a:solidFill>
              <a:srgbClr val="C7D2DC"/>
            </a:solidFill>
            <a:prstDash val="solid"/>
          </a:ln>
        </p:spPr>
      </p:sp>
      <p:sp>
        <p:nvSpPr>
          <p:cNvPr id="6" name="Text 4"/>
          <p:cNvSpPr/>
          <p:nvPr/>
        </p:nvSpPr>
        <p:spPr>
          <a:xfrm>
            <a:off x="4754880" y="2103120"/>
            <a:ext cx="649224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Win: four in a straight line</a:t>
            </a:r>
            <a:endParaRPr lang="en-US" sz="1600" dirty="0"/>
          </a:p>
        </p:txBody>
      </p:sp>
      <p:sp>
        <p:nvSpPr>
          <p:cNvPr id="7" name="Text 5"/>
          <p:cNvSpPr/>
          <p:nvPr/>
        </p:nvSpPr>
        <p:spPr>
          <a:xfrm>
            <a:off x="4754880" y="2578608"/>
            <a:ext cx="6492240" cy="8046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Horizontal, vertical, or either diagonal. First to four wins; a full board with no four is a tie.</a:t>
            </a:r>
            <a:endParaRPr lang="en-US" sz="1350" dirty="0"/>
          </a:p>
        </p:txBody>
      </p:sp>
      <p:sp>
        <p:nvSpPr>
          <p:cNvPr id="8" name="Shape 6"/>
          <p:cNvSpPr/>
          <p:nvPr/>
        </p:nvSpPr>
        <p:spPr>
          <a:xfrm>
            <a:off x="4480560" y="3794760"/>
            <a:ext cx="7040880" cy="1737360"/>
          </a:xfrm>
          <a:prstGeom prst="roundRect">
            <a:avLst>
              <a:gd name="adj" fmla="val 4211"/>
            </a:avLst>
          </a:prstGeom>
          <a:solidFill>
            <a:srgbClr val="FFFFFF"/>
          </a:solidFill>
          <a:ln w="12700">
            <a:solidFill>
              <a:srgbClr val="C7D2DC"/>
            </a:solidFill>
            <a:prstDash val="solid"/>
          </a:ln>
        </p:spPr>
      </p:sp>
      <p:sp>
        <p:nvSpPr>
          <p:cNvPr id="9" name="Text 7"/>
          <p:cNvSpPr/>
          <p:nvPr/>
        </p:nvSpPr>
        <p:spPr>
          <a:xfrm>
            <a:off x="4754880" y="3977640"/>
            <a:ext cx="649224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69 ways to win</a:t>
            </a:r>
            <a:endParaRPr lang="en-US" sz="1600" dirty="0"/>
          </a:p>
        </p:txBody>
      </p:sp>
      <p:sp>
        <p:nvSpPr>
          <p:cNvPr id="10" name="Text 8"/>
          <p:cNvSpPr/>
          <p:nvPr/>
        </p:nvSpPr>
        <p:spPr>
          <a:xfrm>
            <a:off x="4754880" y="4453128"/>
            <a:ext cx="6492240" cy="8961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That's how many four-in-a-row lines fit on this board. Your library has to notice every single one of them — remember that number; it comes back next lab.</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board is a 2D list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Six rows of seven strings. Row 0 is the TOP.</a:t>
            </a:r>
            <a:endParaRPr lang="en-US" sz="1700" dirty="0"/>
          </a:p>
        </p:txBody>
      </p:sp>
      <p:sp>
        <p:nvSpPr>
          <p:cNvPr id="4" name="Shape 2"/>
          <p:cNvSpPr/>
          <p:nvPr/>
        </p:nvSpPr>
        <p:spPr>
          <a:xfrm>
            <a:off x="640080" y="1920240"/>
            <a:ext cx="6035040" cy="3566160"/>
          </a:xfrm>
          <a:prstGeom prst="roundRect">
            <a:avLst>
              <a:gd name="adj" fmla="val 2051"/>
            </a:avLst>
          </a:prstGeom>
          <a:solidFill>
            <a:srgbClr val="13324F"/>
          </a:solidFill>
          <a:ln/>
        </p:spPr>
      </p:sp>
      <p:sp>
        <p:nvSpPr>
          <p:cNvPr id="5" name="Text 3"/>
          <p:cNvSpPr/>
          <p:nvPr/>
        </p:nvSpPr>
        <p:spPr>
          <a:xfrm>
            <a:off x="914400" y="2084832"/>
            <a:ext cx="5486400" cy="3236976"/>
          </a:xfrm>
          <a:prstGeom prst="rect">
            <a:avLst/>
          </a:prstGeom>
          <a:noFill/>
          <a:ln/>
        </p:spPr>
        <p:txBody>
          <a:bodyPr wrap="square" lIns="0" tIns="0" rIns="0" bIns="0" rtlCol="0" anchor="t"/>
          <a:lstStyle/>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state = [</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  ["-","-","-","-","-","-","-"],</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  ["-","-","-","-","-","-","-"],</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  ["-","-","-","-","-","-","-"],</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  ["R","-","-","-","-","-","-"],</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  ["R","-","Y","-","-","-","-"],</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  ["R","Y","R","Y","-","-","-"],</a:t>
            </a:r>
            <a:endParaRPr lang="en-US" sz="1500" dirty="0"/>
          </a:p>
          <a:p>
            <a:pPr indent="0" marL="0">
              <a:lnSpc>
                <a:spcPts val="2175"/>
              </a:lnSpc>
              <a:buNone/>
            </a:pPr>
            <a:r>
              <a:rPr lang="en-US" sz="1500" dirty="0">
                <a:solidFill>
                  <a:srgbClr val="DFF6EA"/>
                </a:solidFill>
                <a:latin typeface="Courier New" pitchFamily="34" charset="0"/>
                <a:ea typeface="Courier New" pitchFamily="34" charset="-122"/>
                <a:cs typeface="Courier New" pitchFamily="34" charset="-120"/>
              </a:rPr>
              <a:t>]</a:t>
            </a:r>
            <a:endParaRPr lang="en-US" sz="1500" dirty="0"/>
          </a:p>
        </p:txBody>
      </p:sp>
      <p:sp>
        <p:nvSpPr>
          <p:cNvPr id="6" name="Shape 4"/>
          <p:cNvSpPr/>
          <p:nvPr/>
        </p:nvSpPr>
        <p:spPr>
          <a:xfrm>
            <a:off x="7040880" y="1920240"/>
            <a:ext cx="4572000" cy="1645920"/>
          </a:xfrm>
          <a:prstGeom prst="roundRect">
            <a:avLst>
              <a:gd name="adj" fmla="val 4444"/>
            </a:avLst>
          </a:prstGeom>
          <a:solidFill>
            <a:srgbClr val="FFFFFF"/>
          </a:solidFill>
          <a:ln w="12700">
            <a:solidFill>
              <a:srgbClr val="C7D2DC"/>
            </a:solidFill>
            <a:prstDash val="solid"/>
          </a:ln>
        </p:spPr>
      </p:sp>
      <p:sp>
        <p:nvSpPr>
          <p:cNvPr id="7" name="Text 5"/>
          <p:cNvSpPr/>
          <p:nvPr/>
        </p:nvSpPr>
        <p:spPr>
          <a:xfrm>
            <a:off x="7315200" y="2103120"/>
            <a:ext cx="402336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Three values only</a:t>
            </a:r>
            <a:endParaRPr lang="en-US" sz="1600" dirty="0"/>
          </a:p>
        </p:txBody>
      </p:sp>
      <p:sp>
        <p:nvSpPr>
          <p:cNvPr id="8" name="Text 6"/>
          <p:cNvSpPr/>
          <p:nvPr/>
        </p:nvSpPr>
        <p:spPr>
          <a:xfrm>
            <a:off x="7315200" y="2578608"/>
            <a:ext cx="4023360" cy="8046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 is empty, "R" is red, "Y" is yellow. state[row][col] reads one cell.</a:t>
            </a:r>
            <a:endParaRPr lang="en-US" sz="1350" dirty="0"/>
          </a:p>
        </p:txBody>
      </p:sp>
      <p:sp>
        <p:nvSpPr>
          <p:cNvPr id="9" name="Shape 7"/>
          <p:cNvSpPr/>
          <p:nvPr/>
        </p:nvSpPr>
        <p:spPr>
          <a:xfrm>
            <a:off x="7040880" y="3794760"/>
            <a:ext cx="4572000" cy="1691640"/>
          </a:xfrm>
          <a:prstGeom prst="roundRect">
            <a:avLst>
              <a:gd name="adj" fmla="val 4324"/>
            </a:avLst>
          </a:prstGeom>
          <a:solidFill>
            <a:srgbClr val="FFFFFF"/>
          </a:solidFill>
          <a:ln w="12700">
            <a:solidFill>
              <a:srgbClr val="F4B740"/>
            </a:solidFill>
            <a:prstDash val="solid"/>
          </a:ln>
        </p:spPr>
      </p:sp>
      <p:sp>
        <p:nvSpPr>
          <p:cNvPr id="10" name="Text 8"/>
          <p:cNvSpPr/>
          <p:nvPr/>
        </p:nvSpPr>
        <p:spPr>
          <a:xfrm>
            <a:off x="7315200" y="3977640"/>
            <a:ext cx="402336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Gravity runs backwards</a:t>
            </a:r>
            <a:endParaRPr lang="en-US" sz="1600" dirty="0"/>
          </a:p>
        </p:txBody>
      </p:sp>
      <p:sp>
        <p:nvSpPr>
          <p:cNvPr id="11" name="Text 9"/>
          <p:cNvSpPr/>
          <p:nvPr/>
        </p:nvSpPr>
        <p:spPr>
          <a:xfrm>
            <a:off x="7315200" y="4453128"/>
            <a:ext cx="4023360" cy="850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Row 0 is the top of the board, row 5 is the bottom — pieces "fall" toward HIGHER row numbers. Half this unit's bugs are this fact, reversed.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Four functions. Exact signatures.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tournament calls them by name and takes them at their word.</a:t>
            </a:r>
            <a:endParaRPr lang="en-US" sz="1700" dirty="0"/>
          </a:p>
        </p:txBody>
      </p:sp>
      <p:sp>
        <p:nvSpPr>
          <p:cNvPr id="4" name="Shape 2"/>
          <p:cNvSpPr/>
          <p:nvPr/>
        </p:nvSpPr>
        <p:spPr>
          <a:xfrm>
            <a:off x="640080" y="1920240"/>
            <a:ext cx="10972800" cy="868680"/>
          </a:xfrm>
          <a:prstGeom prst="roundRect">
            <a:avLst>
              <a:gd name="adj" fmla="val 8421"/>
            </a:avLst>
          </a:prstGeom>
          <a:solidFill>
            <a:srgbClr val="FFFFFF"/>
          </a:solidFill>
          <a:ln w="12700">
            <a:solidFill>
              <a:srgbClr val="C7D2DC"/>
            </a:solidFill>
            <a:prstDash val="solid"/>
          </a:ln>
        </p:spPr>
      </p:sp>
      <p:sp>
        <p:nvSpPr>
          <p:cNvPr id="5" name="Text 3"/>
          <p:cNvSpPr/>
          <p:nvPr/>
        </p:nvSpPr>
        <p:spPr>
          <a:xfrm>
            <a:off x="914400" y="2002536"/>
            <a:ext cx="5394960" cy="685800"/>
          </a:xfrm>
          <a:prstGeom prst="rect">
            <a:avLst/>
          </a:prstGeom>
          <a:noFill/>
          <a:ln/>
        </p:spPr>
        <p:txBody>
          <a:bodyPr wrap="square" lIns="0" tIns="0" rIns="0" bIns="0" rtlCol="0" anchor="ctr"/>
          <a:lstStyle/>
          <a:p>
            <a:pPr indent="0" marL="0">
              <a:buNone/>
            </a:pPr>
            <a:r>
              <a:rPr lang="en-US" sz="1600" b="1" dirty="0">
                <a:solidFill>
                  <a:srgbClr val="0A1F33"/>
                </a:solidFill>
                <a:latin typeface="Courier New" pitchFamily="34" charset="0"/>
                <a:ea typeface="Courier New" pitchFamily="34" charset="-122"/>
                <a:cs typeface="Courier New" pitchFamily="34" charset="-120"/>
              </a:rPr>
              <a:t>make_move(piece, state)</a:t>
            </a:r>
            <a:endParaRPr lang="en-US" sz="1600" dirty="0"/>
          </a:p>
        </p:txBody>
      </p:sp>
      <p:sp>
        <p:nvSpPr>
          <p:cNvPr id="6" name="Text 4"/>
          <p:cNvSpPr/>
          <p:nvPr/>
        </p:nvSpPr>
        <p:spPr>
          <a:xfrm>
            <a:off x="6400800" y="2002536"/>
            <a:ext cx="5029200" cy="68580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returns an int 0–6: the column you play</a:t>
            </a:r>
            <a:endParaRPr lang="en-US" sz="1350" dirty="0"/>
          </a:p>
        </p:txBody>
      </p:sp>
      <p:sp>
        <p:nvSpPr>
          <p:cNvPr id="7" name="Shape 5"/>
          <p:cNvSpPr/>
          <p:nvPr/>
        </p:nvSpPr>
        <p:spPr>
          <a:xfrm>
            <a:off x="640080" y="2944368"/>
            <a:ext cx="10972800" cy="868680"/>
          </a:xfrm>
          <a:prstGeom prst="roundRect">
            <a:avLst>
              <a:gd name="adj" fmla="val 8421"/>
            </a:avLst>
          </a:prstGeom>
          <a:solidFill>
            <a:srgbClr val="FFFFFF"/>
          </a:solidFill>
          <a:ln w="12700">
            <a:solidFill>
              <a:srgbClr val="C7D2DC"/>
            </a:solidFill>
            <a:prstDash val="solid"/>
          </a:ln>
        </p:spPr>
      </p:sp>
      <p:sp>
        <p:nvSpPr>
          <p:cNvPr id="8" name="Text 6"/>
          <p:cNvSpPr/>
          <p:nvPr/>
        </p:nvSpPr>
        <p:spPr>
          <a:xfrm>
            <a:off x="914400" y="3026664"/>
            <a:ext cx="5394960" cy="685800"/>
          </a:xfrm>
          <a:prstGeom prst="rect">
            <a:avLst/>
          </a:prstGeom>
          <a:noFill/>
          <a:ln/>
        </p:spPr>
        <p:txBody>
          <a:bodyPr wrap="square" lIns="0" tIns="0" rIns="0" bIns="0" rtlCol="0" anchor="ctr"/>
          <a:lstStyle/>
          <a:p>
            <a:pPr indent="0" marL="0">
              <a:buNone/>
            </a:pPr>
            <a:r>
              <a:rPr lang="en-US" sz="1600" b="1" dirty="0">
                <a:solidFill>
                  <a:srgbClr val="0A1F33"/>
                </a:solidFill>
                <a:latin typeface="Courier New" pitchFamily="34" charset="0"/>
                <a:ea typeface="Courier New" pitchFamily="34" charset="-122"/>
                <a:cs typeface="Courier New" pitchFamily="34" charset="-120"/>
              </a:rPr>
              <a:t>check_move(piece, column, state)</a:t>
            </a:r>
            <a:endParaRPr lang="en-US" sz="1600" dirty="0"/>
          </a:p>
        </p:txBody>
      </p:sp>
      <p:sp>
        <p:nvSpPr>
          <p:cNvPr id="9" name="Text 7"/>
          <p:cNvSpPr/>
          <p:nvPr/>
        </p:nvSpPr>
        <p:spPr>
          <a:xfrm>
            <a:off x="6400800" y="3026664"/>
            <a:ext cx="5029200" cy="68580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returns True if the proposed move is legal</a:t>
            </a:r>
            <a:endParaRPr lang="en-US" sz="1350" dirty="0"/>
          </a:p>
        </p:txBody>
      </p:sp>
      <p:sp>
        <p:nvSpPr>
          <p:cNvPr id="10" name="Shape 8"/>
          <p:cNvSpPr/>
          <p:nvPr/>
        </p:nvSpPr>
        <p:spPr>
          <a:xfrm>
            <a:off x="640080" y="3968496"/>
            <a:ext cx="10972800" cy="868680"/>
          </a:xfrm>
          <a:prstGeom prst="roundRect">
            <a:avLst>
              <a:gd name="adj" fmla="val 8421"/>
            </a:avLst>
          </a:prstGeom>
          <a:solidFill>
            <a:srgbClr val="FFFFFF"/>
          </a:solidFill>
          <a:ln w="12700">
            <a:solidFill>
              <a:srgbClr val="C7D2DC"/>
            </a:solidFill>
            <a:prstDash val="solid"/>
          </a:ln>
        </p:spPr>
      </p:sp>
      <p:sp>
        <p:nvSpPr>
          <p:cNvPr id="11" name="Text 9"/>
          <p:cNvSpPr/>
          <p:nvPr/>
        </p:nvSpPr>
        <p:spPr>
          <a:xfrm>
            <a:off x="914400" y="4050792"/>
            <a:ext cx="5394960" cy="685800"/>
          </a:xfrm>
          <a:prstGeom prst="rect">
            <a:avLst/>
          </a:prstGeom>
          <a:noFill/>
          <a:ln/>
        </p:spPr>
        <p:txBody>
          <a:bodyPr wrap="square" lIns="0" tIns="0" rIns="0" bIns="0" rtlCol="0" anchor="ctr"/>
          <a:lstStyle/>
          <a:p>
            <a:pPr indent="0" marL="0">
              <a:buNone/>
            </a:pPr>
            <a:r>
              <a:rPr lang="en-US" sz="1600" b="1" dirty="0">
                <a:solidFill>
                  <a:srgbClr val="0A1F33"/>
                </a:solidFill>
                <a:latin typeface="Courier New" pitchFamily="34" charset="0"/>
                <a:ea typeface="Courier New" pitchFamily="34" charset="-122"/>
                <a:cs typeface="Courier New" pitchFamily="34" charset="-120"/>
              </a:rPr>
              <a:t>check_win(state)</a:t>
            </a:r>
            <a:endParaRPr lang="en-US" sz="1600" dirty="0"/>
          </a:p>
        </p:txBody>
      </p:sp>
      <p:sp>
        <p:nvSpPr>
          <p:cNvPr id="12" name="Text 10"/>
          <p:cNvSpPr/>
          <p:nvPr/>
        </p:nvSpPr>
        <p:spPr>
          <a:xfrm>
            <a:off x="6400800" y="4050792"/>
            <a:ext cx="5029200" cy="68580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returns "WIN", "TIE", or "IN PROGRESS" — exactly</a:t>
            </a:r>
            <a:endParaRPr lang="en-US" sz="1350" dirty="0"/>
          </a:p>
        </p:txBody>
      </p:sp>
      <p:sp>
        <p:nvSpPr>
          <p:cNvPr id="13" name="Shape 11"/>
          <p:cNvSpPr/>
          <p:nvPr/>
        </p:nvSpPr>
        <p:spPr>
          <a:xfrm>
            <a:off x="640080" y="4992624"/>
            <a:ext cx="10972800" cy="868680"/>
          </a:xfrm>
          <a:prstGeom prst="roundRect">
            <a:avLst>
              <a:gd name="adj" fmla="val 8421"/>
            </a:avLst>
          </a:prstGeom>
          <a:solidFill>
            <a:srgbClr val="FFFFFF"/>
          </a:solidFill>
          <a:ln w="12700">
            <a:solidFill>
              <a:srgbClr val="C7D2DC"/>
            </a:solidFill>
            <a:prstDash val="solid"/>
          </a:ln>
        </p:spPr>
      </p:sp>
      <p:sp>
        <p:nvSpPr>
          <p:cNvPr id="14" name="Text 12"/>
          <p:cNvSpPr/>
          <p:nvPr/>
        </p:nvSpPr>
        <p:spPr>
          <a:xfrm>
            <a:off x="914400" y="5074920"/>
            <a:ext cx="5394960" cy="685800"/>
          </a:xfrm>
          <a:prstGeom prst="rect">
            <a:avLst/>
          </a:prstGeom>
          <a:noFill/>
          <a:ln/>
        </p:spPr>
        <p:txBody>
          <a:bodyPr wrap="square" lIns="0" tIns="0" rIns="0" bIns="0" rtlCol="0" anchor="ctr"/>
          <a:lstStyle/>
          <a:p>
            <a:pPr indent="0" marL="0">
              <a:buNone/>
            </a:pPr>
            <a:r>
              <a:rPr lang="en-US" sz="1600" b="1" dirty="0">
                <a:solidFill>
                  <a:srgbClr val="0A1F33"/>
                </a:solidFill>
                <a:latin typeface="Courier New" pitchFamily="34" charset="0"/>
                <a:ea typeface="Courier New" pitchFamily="34" charset="-122"/>
                <a:cs typeface="Courier New" pitchFamily="34" charset="-120"/>
              </a:rPr>
              <a:t>get_name()</a:t>
            </a:r>
            <a:endParaRPr lang="en-US" sz="1600" dirty="0"/>
          </a:p>
        </p:txBody>
      </p:sp>
      <p:sp>
        <p:nvSpPr>
          <p:cNvPr id="15" name="Text 13"/>
          <p:cNvSpPr/>
          <p:nvPr/>
        </p:nvSpPr>
        <p:spPr>
          <a:xfrm>
            <a:off x="6400800" y="5074920"/>
            <a:ext cx="5029200" cy="68580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returns your first name, properly capitalized</a:t>
            </a:r>
            <a:endParaRPr lang="en-US" sz="1350" dirty="0"/>
          </a:p>
        </p:txBody>
      </p:sp>
      <p:sp>
        <p:nvSpPr>
          <p:cNvPr id="16" name="Text 14"/>
          <p:cNvSpPr/>
          <p:nvPr/>
        </p:nvSpPr>
        <p:spPr>
          <a:xfrm>
            <a:off x="640080" y="6172200"/>
            <a:ext cx="10972800" cy="365760"/>
          </a:xfrm>
          <a:prstGeom prst="rect">
            <a:avLst/>
          </a:prstGeom>
          <a:noFill/>
          <a:ln/>
        </p:spPr>
        <p:txBody>
          <a:bodyPr wrap="square" lIns="0" tIns="0" rIns="0" bIns="0" rtlCol="0" anchor="ctr"/>
          <a:lstStyle/>
          <a:p>
            <a:pPr algn="ctr" indent="0" marL="0">
              <a:buNone/>
            </a:pPr>
            <a:r>
              <a:rPr lang="en-US" sz="1300" b="1" dirty="0">
                <a:solidFill>
                  <a:srgbClr val="0A1F33"/>
                </a:solidFill>
                <a:latin typeface="Courier New" pitchFamily="34" charset="0"/>
                <a:ea typeface="Courier New" pitchFamily="34" charset="-122"/>
                <a:cs typeface="Courier New" pitchFamily="34" charset="-120"/>
              </a:rPr>
              <a:t>File name: your first name, all lowercase — steve.py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“Precisely” means precisely</a:t>
            </a:r>
            <a:endParaRPr lang="en-US" sz="3400" dirty="0"/>
          </a:p>
        </p:txBody>
      </p:sp>
      <p:sp>
        <p:nvSpPr>
          <p:cNvPr id="3" name="Text 1"/>
          <p:cNvSpPr/>
          <p:nvPr/>
        </p:nvSpPr>
        <p:spPr>
          <a:xfrm>
            <a:off x="0" y="2103120"/>
            <a:ext cx="12191695" cy="1005840"/>
          </a:xfrm>
          <a:prstGeom prst="rect">
            <a:avLst/>
          </a:prstGeom>
          <a:noFill/>
          <a:ln/>
        </p:spPr>
        <p:txBody>
          <a:bodyPr wrap="square" lIns="0" tIns="0" rIns="0" bIns="0" rtlCol="0" anchor="ctr"/>
          <a:lstStyle/>
          <a:p>
            <a:pPr algn="ctr" indent="0" marL="0">
              <a:buNone/>
            </a:pPr>
            <a:r>
              <a:rPr lang="en-US" sz="6000" b="1" dirty="0">
                <a:solidFill>
                  <a:srgbClr val="F4B740"/>
                </a:solidFill>
                <a:latin typeface="Courier New" pitchFamily="34" charset="0"/>
                <a:ea typeface="Courier New" pitchFamily="34" charset="-122"/>
                <a:cs typeface="Courier New" pitchFamily="34" charset="-120"/>
              </a:rPr>
              <a:t>"win"</a:t>
            </a:r>
            <a:pPr algn="ctr" indent="0" marL="0">
              <a:buNone/>
            </a:pPr>
            <a:r>
              <a:rPr lang="en-US" sz="6000" b="1" dirty="0">
                <a:solidFill>
                  <a:srgbClr val="C7D2DC"/>
                </a:solidFill>
                <a:latin typeface="Courier New" pitchFamily="34" charset="0"/>
                <a:ea typeface="Courier New" pitchFamily="34" charset="-122"/>
                <a:cs typeface="Courier New" pitchFamily="34" charset="-120"/>
              </a:rPr>
              <a:t>  ≠  </a:t>
            </a:r>
            <a:pPr algn="ctr" indent="0" marL="0">
              <a:buNone/>
            </a:pPr>
            <a:r>
              <a:rPr lang="en-US" sz="6000" b="1" dirty="0">
                <a:solidFill>
                  <a:srgbClr val="3DDC84"/>
                </a:solidFill>
                <a:latin typeface="Courier New" pitchFamily="34" charset="0"/>
                <a:ea typeface="Courier New" pitchFamily="34" charset="-122"/>
                <a:cs typeface="Courier New" pitchFamily="34" charset="-120"/>
              </a:rPr>
              <a:t>"WIN"</a:t>
            </a:r>
            <a:endParaRPr lang="en-US" sz="6000" dirty="0"/>
          </a:p>
        </p:txBody>
      </p:sp>
      <p:sp>
        <p:nvSpPr>
          <p:cNvPr id="4" name="Text 2"/>
          <p:cNvSpPr/>
          <p:nvPr/>
        </p:nvSpPr>
        <p:spPr>
          <a:xfrm>
            <a:off x="0" y="3657600"/>
            <a:ext cx="12191695"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 misspelled function name or a lowercase return value doesn't lose points.</a:t>
            </a:r>
            <a:endParaRPr lang="en-US" sz="2000" dirty="0"/>
          </a:p>
          <a:p>
            <a:pPr algn="ctr" indent="0" marL="0">
              <a:buNone/>
            </a:pPr>
            <a:r>
              <a:rPr lang="en-US" sz="2000" b="1" dirty="0">
                <a:solidFill>
                  <a:srgbClr val="FFFFFF"/>
                </a:solidFill>
                <a:latin typeface="Calibri" pitchFamily="34" charset="0"/>
                <a:ea typeface="Calibri" pitchFamily="34" charset="-122"/>
                <a:cs typeface="Calibri" pitchFamily="34" charset="-120"/>
              </a:rPr>
              <a:t>It forfeits games.</a:t>
            </a:r>
            <a:endParaRPr lang="en-US" sz="2000" dirty="0"/>
          </a:p>
        </p:txBody>
      </p:sp>
      <p:sp>
        <p:nvSpPr>
          <p:cNvPr id="5" name="Text 3"/>
          <p:cNvSpPr/>
          <p:nvPr/>
        </p:nvSpPr>
        <p:spPr>
          <a:xfrm>
            <a:off x="0" y="4937760"/>
            <a:ext cx="12191695" cy="457200"/>
          </a:xfrm>
          <a:prstGeom prst="rect">
            <a:avLst/>
          </a:prstGeom>
          <a:noFill/>
          <a:ln/>
        </p:spPr>
        <p:txBody>
          <a:bodyPr wrap="square" lIns="0" tIns="0" rIns="0" bIns="0" rtlCol="0" anchor="ctr"/>
          <a:lstStyle/>
          <a:p>
            <a:pPr algn="ctr" indent="0" marL="0">
              <a:buNone/>
            </a:pPr>
            <a:r>
              <a:rPr lang="en-US" sz="1500" i="1" dirty="0">
                <a:solidFill>
                  <a:srgbClr val="5A6B7B"/>
                </a:solidFill>
                <a:latin typeface="Calibri" pitchFamily="34" charset="0"/>
                <a:ea typeface="Calibri" pitchFamily="34" charset="-122"/>
                <a:cs typeface="Calibri" pitchFamily="34" charset="-120"/>
              </a:rPr>
              <a:t>The tournament program does not guess what you meant.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read the board</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Before any code: be the library for one turn.</a:t>
            </a:r>
            <a:endParaRPr lang="en-US" sz="1700" dirty="0"/>
          </a:p>
        </p:txBody>
      </p:sp>
      <p:sp>
        <p:nvSpPr>
          <p:cNvPr id="4" name="Text 2"/>
          <p:cNvSpPr/>
          <p:nvPr/>
        </p:nvSpPr>
        <p:spPr>
          <a:xfrm>
            <a:off x="822960" y="1965960"/>
            <a:ext cx="3108960" cy="3566160"/>
          </a:xfrm>
          <a:prstGeom prst="rect">
            <a:avLst/>
          </a:prstGeom>
          <a:noFill/>
          <a:ln/>
        </p:spPr>
        <p:txBody>
          <a:bodyPr wrap="square" lIns="0" tIns="0" rIns="0" bIns="0" rtlCol="0" anchor="ctr"/>
          <a:lstStyle/>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----Y--</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R---Y--</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R-Y-R--</a:t>
            </a:r>
            <a:endParaRPr lang="en-US" sz="2600" dirty="0"/>
          </a:p>
          <a:p>
            <a:pPr indent="0" marL="0">
              <a:lnSpc>
                <a:spcPts val="3600"/>
              </a:lnSpc>
              <a:buNone/>
            </a:pPr>
            <a:r>
              <a:rPr lang="en-US" sz="2600" b="1" dirty="0">
                <a:solidFill>
                  <a:srgbClr val="0A1F33"/>
                </a:solidFill>
                <a:latin typeface="Courier New" pitchFamily="34" charset="0"/>
                <a:ea typeface="Courier New" pitchFamily="34" charset="-122"/>
                <a:cs typeface="Courier New" pitchFamily="34" charset="-120"/>
              </a:rPr>
              <a:t>RYRYRY-</a:t>
            </a:r>
            <a:endParaRPr lang="en-US" sz="2600" dirty="0"/>
          </a:p>
        </p:txBody>
      </p:sp>
      <p:sp>
        <p:nvSpPr>
          <p:cNvPr id="5" name="Shape 3"/>
          <p:cNvSpPr/>
          <p:nvPr/>
        </p:nvSpPr>
        <p:spPr>
          <a:xfrm>
            <a:off x="4480560" y="1965960"/>
            <a:ext cx="7040880" cy="1600200"/>
          </a:xfrm>
          <a:prstGeom prst="roundRect">
            <a:avLst>
              <a:gd name="adj" fmla="val 4571"/>
            </a:avLst>
          </a:prstGeom>
          <a:solidFill>
            <a:srgbClr val="FFFFFF"/>
          </a:solidFill>
          <a:ln w="12700">
            <a:solidFill>
              <a:srgbClr val="C7D2DC"/>
            </a:solidFill>
            <a:prstDash val="solid"/>
          </a:ln>
        </p:spPr>
      </p:sp>
      <p:sp>
        <p:nvSpPr>
          <p:cNvPr id="6" name="Text 4"/>
          <p:cNvSpPr/>
          <p:nvPr/>
        </p:nvSpPr>
        <p:spPr>
          <a:xfrm>
            <a:off x="4754880" y="2148840"/>
            <a:ext cx="649224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You are R. Which column do you play?</a:t>
            </a:r>
            <a:endParaRPr lang="en-US" sz="1600" dirty="0"/>
          </a:p>
        </p:txBody>
      </p:sp>
      <p:sp>
        <p:nvSpPr>
          <p:cNvPr id="7" name="Text 5"/>
          <p:cNvSpPr/>
          <p:nvPr/>
        </p:nvSpPr>
        <p:spPr>
          <a:xfrm>
            <a:off x="4754880" y="2624328"/>
            <a:ext cx="6492240" cy="75895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Write your column choice (0–6) in your notebook, and the reason. Then compare with a neighbor — did you defend, or attack?</a:t>
            </a:r>
            <a:endParaRPr lang="en-US" sz="1350" dirty="0"/>
          </a:p>
        </p:txBody>
      </p:sp>
      <p:sp>
        <p:nvSpPr>
          <p:cNvPr id="8" name="Shape 6"/>
          <p:cNvSpPr/>
          <p:nvPr/>
        </p:nvSpPr>
        <p:spPr>
          <a:xfrm>
            <a:off x="4480560" y="3749040"/>
            <a:ext cx="7040880" cy="1600200"/>
          </a:xfrm>
          <a:prstGeom prst="roundRect">
            <a:avLst>
              <a:gd name="adj" fmla="val 4571"/>
            </a:avLst>
          </a:prstGeom>
          <a:solidFill>
            <a:srgbClr val="FFFFFF"/>
          </a:solidFill>
          <a:ln w="12700">
            <a:solidFill>
              <a:srgbClr val="C7D2DC"/>
            </a:solidFill>
            <a:prstDash val="solid"/>
          </a:ln>
        </p:spPr>
      </p:sp>
      <p:sp>
        <p:nvSpPr>
          <p:cNvPr id="9" name="Text 7"/>
          <p:cNvSpPr/>
          <p:nvPr/>
        </p:nvSpPr>
        <p:spPr>
          <a:xfrm>
            <a:off x="4754880" y="3931920"/>
            <a:ext cx="649224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Your opponent proposes column 9.</a:t>
            </a:r>
            <a:endParaRPr lang="en-US" sz="1600" dirty="0"/>
          </a:p>
        </p:txBody>
      </p:sp>
      <p:sp>
        <p:nvSpPr>
          <p:cNvPr id="10" name="Text 8"/>
          <p:cNvSpPr/>
          <p:nvPr/>
        </p:nvSpPr>
        <p:spPr>
          <a:xfrm>
            <a:off x="4754880" y="4407408"/>
            <a:ext cx="6492240" cy="75895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Which of your four functions catches that — and what exactly does it return?</a:t>
            </a:r>
            <a:endParaRPr lang="en-US" sz="1350" dirty="0"/>
          </a:p>
        </p:txBody>
      </p:sp>
      <p:sp>
        <p:nvSpPr>
          <p:cNvPr id="11" name="Text 9"/>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100" dirty="0">
                <a:solidFill>
                  <a:srgbClr val="5A6B7B"/>
                </a:solidFill>
                <a:latin typeface="Courier New" pitchFamily="34" charset="0"/>
                <a:ea typeface="Courier New" pitchFamily="34" charset="-122"/>
                <a:cs typeface="Courier New" pitchFamily="34" charset="-120"/>
              </a:rPr>
              <a:t>Answers: column 0 wins for R right now (three R's stacked — the fourth lands on top) · check_move returns False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Referees who play, players who referee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Your library is never trusted to referee itself.</a:t>
            </a:r>
            <a:endParaRPr lang="en-US" sz="1700" dirty="0"/>
          </a:p>
        </p:txBody>
      </p:sp>
      <p:sp>
        <p:nvSpPr>
          <p:cNvPr id="4" name="Shape 2"/>
          <p:cNvSpPr/>
          <p:nvPr/>
        </p:nvSpPr>
        <p:spPr>
          <a:xfrm>
            <a:off x="731520" y="1965960"/>
            <a:ext cx="548640" cy="548640"/>
          </a:xfrm>
          <a:prstGeom prst="roundRect">
            <a:avLst>
              <a:gd name="adj" fmla="val 10000"/>
            </a:avLst>
          </a:prstGeom>
          <a:solidFill>
            <a:srgbClr val="3DDC84"/>
          </a:solidFill>
          <a:ln/>
        </p:spPr>
      </p:sp>
      <p:sp>
        <p:nvSpPr>
          <p:cNvPr id="5" name="Text 3"/>
          <p:cNvSpPr/>
          <p:nvPr/>
        </p:nvSpPr>
        <p:spPr>
          <a:xfrm>
            <a:off x="731520" y="196596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54480" y="1947672"/>
            <a:ext cx="10241280" cy="585216"/>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Your make_move() proposes a column</a:t>
            </a:r>
            <a:endParaRPr lang="en-US" sz="1550" dirty="0"/>
          </a:p>
        </p:txBody>
      </p:sp>
      <p:sp>
        <p:nvSpPr>
          <p:cNvPr id="7" name="Shape 5"/>
          <p:cNvSpPr/>
          <p:nvPr/>
        </p:nvSpPr>
        <p:spPr>
          <a:xfrm>
            <a:off x="731520" y="2834640"/>
            <a:ext cx="548640" cy="548640"/>
          </a:xfrm>
          <a:prstGeom prst="roundRect">
            <a:avLst>
              <a:gd name="adj" fmla="val 10000"/>
            </a:avLst>
          </a:prstGeom>
          <a:solidFill>
            <a:srgbClr val="3DDC84"/>
          </a:solidFill>
          <a:ln/>
        </p:spPr>
      </p:sp>
      <p:sp>
        <p:nvSpPr>
          <p:cNvPr id="8" name="Text 6"/>
          <p:cNvSpPr/>
          <p:nvPr/>
        </p:nvSpPr>
        <p:spPr>
          <a:xfrm>
            <a:off x="731520" y="283464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54480" y="2816352"/>
            <a:ext cx="10241280" cy="585216"/>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THEIR check_move() rules on it — illegal caught means you lose</a:t>
            </a:r>
            <a:endParaRPr lang="en-US" sz="1550" dirty="0"/>
          </a:p>
        </p:txBody>
      </p:sp>
      <p:sp>
        <p:nvSpPr>
          <p:cNvPr id="10" name="Shape 8"/>
          <p:cNvSpPr/>
          <p:nvPr/>
        </p:nvSpPr>
        <p:spPr>
          <a:xfrm>
            <a:off x="731520" y="3703320"/>
            <a:ext cx="548640" cy="548640"/>
          </a:xfrm>
          <a:prstGeom prst="roundRect">
            <a:avLst>
              <a:gd name="adj" fmla="val 10000"/>
            </a:avLst>
          </a:prstGeom>
          <a:solidFill>
            <a:srgbClr val="3DDC84"/>
          </a:solidFill>
          <a:ln/>
        </p:spPr>
      </p:sp>
      <p:sp>
        <p:nvSpPr>
          <p:cNvPr id="11" name="Text 9"/>
          <p:cNvSpPr/>
          <p:nvPr/>
        </p:nvSpPr>
        <p:spPr>
          <a:xfrm>
            <a:off x="731520" y="370332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54480" y="3685032"/>
            <a:ext cx="10241280" cy="585216"/>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Your check_win() reports WIN, TIE, or IN PROGRESS</a:t>
            </a:r>
            <a:endParaRPr lang="en-US" sz="1550" dirty="0"/>
          </a:p>
        </p:txBody>
      </p:sp>
      <p:sp>
        <p:nvSpPr>
          <p:cNvPr id="13" name="Shape 11"/>
          <p:cNvSpPr/>
          <p:nvPr/>
        </p:nvSpPr>
        <p:spPr>
          <a:xfrm>
            <a:off x="731520" y="4572000"/>
            <a:ext cx="548640" cy="548640"/>
          </a:xfrm>
          <a:prstGeom prst="roundRect">
            <a:avLst>
              <a:gd name="adj" fmla="val 10000"/>
            </a:avLst>
          </a:prstGeom>
          <a:solidFill>
            <a:srgbClr val="3DDC84"/>
          </a:solidFill>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54480" y="4553712"/>
            <a:ext cx="10241280" cy="585216"/>
          </a:xfrm>
          <a:prstGeom prst="rect">
            <a:avLst/>
          </a:prstGeom>
          <a:noFill/>
          <a:ln/>
        </p:spPr>
        <p:txBody>
          <a:bodyPr wrap="square" lIns="0" tIns="0" rIns="0" bIns="0" rtlCol="0" anchor="ctr"/>
          <a:lstStyle/>
          <a:p>
            <a:pPr indent="0" marL="0">
              <a:buNone/>
            </a:pPr>
            <a:r>
              <a:rPr lang="en-US" sz="1550" b="1" dirty="0">
                <a:solidFill>
                  <a:srgbClr val="0A1F33"/>
                </a:solidFill>
                <a:latin typeface="Calibri" pitchFamily="34" charset="0"/>
                <a:ea typeface="Calibri" pitchFamily="34" charset="-122"/>
                <a:cs typeface="Calibri" pitchFamily="34" charset="-120"/>
              </a:rPr>
              <a:t>THEIR check_win() double-checks you — a win you fail to report hands them the game</a:t>
            </a:r>
            <a:endParaRPr lang="en-US" sz="1550" dirty="0"/>
          </a:p>
        </p:txBody>
      </p:sp>
      <p:sp>
        <p:nvSpPr>
          <p:cNvPr id="16" name="Shape 14"/>
          <p:cNvSpPr/>
          <p:nvPr/>
        </p:nvSpPr>
        <p:spPr>
          <a:xfrm>
            <a:off x="731520" y="5486400"/>
            <a:ext cx="10881360" cy="868680"/>
          </a:xfrm>
          <a:prstGeom prst="roundRect">
            <a:avLst>
              <a:gd name="adj" fmla="val 8421"/>
            </a:avLst>
          </a:prstGeom>
          <a:solidFill>
            <a:srgbClr val="FFFFFF"/>
          </a:solidFill>
          <a:ln w="12700">
            <a:solidFill>
              <a:srgbClr val="3DDC84"/>
            </a:solidFill>
            <a:prstDash val="solid"/>
          </a:ln>
        </p:spPr>
      </p:sp>
      <p:sp>
        <p:nvSpPr>
          <p:cNvPr id="17" name="Text 15"/>
          <p:cNvSpPr/>
          <p:nvPr/>
        </p:nvSpPr>
        <p:spPr>
          <a:xfrm>
            <a:off x="1005840" y="5559552"/>
            <a:ext cx="10332720" cy="731520"/>
          </a:xfrm>
          <a:prstGeom prst="rect">
            <a:avLst/>
          </a:prstGeom>
          <a:noFill/>
          <a:ln/>
        </p:spPr>
        <p:txBody>
          <a:bodyPr wrap="square" lIns="0" tIns="0" rIns="0" bIns="0" rtlCol="0" anchor="ctr"/>
          <a:lstStyle/>
          <a:p>
            <a:pPr indent="0" marL="0">
              <a:buNone/>
            </a:pPr>
            <a:r>
              <a:rPr lang="en-US" sz="1450" b="1" dirty="0">
                <a:solidFill>
                  <a:srgbClr val="0A1F33"/>
                </a:solidFill>
                <a:latin typeface="Calibri" pitchFamily="34" charset="0"/>
                <a:ea typeface="Calibri" pitchFamily="34" charset="-122"/>
                <a:cs typeface="Calibri" pitchFamily="34" charset="-120"/>
              </a:rPr>
              <a:t>A library with a sharp check_win can win games its make_move didn't earn.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37160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468880"/>
            <a:ext cx="502920" cy="502920"/>
          </a:xfrm>
          <a:prstGeom prst="roundRect">
            <a:avLst>
              <a:gd name="adj" fmla="val 10909"/>
            </a:avLst>
          </a:prstGeom>
          <a:solidFill>
            <a:srgbClr val="3DDC84"/>
          </a:solidFill>
          <a:ln/>
        </p:spPr>
      </p:sp>
      <p:sp>
        <p:nvSpPr>
          <p:cNvPr id="4" name="Text 2"/>
          <p:cNvSpPr/>
          <p:nvPr/>
        </p:nvSpPr>
        <p:spPr>
          <a:xfrm>
            <a:off x="731520" y="246888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44144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Write a detailed description of your make_move() algorithm — how it chooses a column from the board. No Python code in it.</a:t>
            </a:r>
            <a:endParaRPr lang="en-US" sz="1600" dirty="0"/>
          </a:p>
        </p:txBody>
      </p:sp>
      <p:sp>
        <p:nvSpPr>
          <p:cNvPr id="6" name="Shape 4"/>
          <p:cNvSpPr/>
          <p:nvPr/>
        </p:nvSpPr>
        <p:spPr>
          <a:xfrm>
            <a:off x="731520" y="3520440"/>
            <a:ext cx="502920" cy="502920"/>
          </a:xfrm>
          <a:prstGeom prst="roundRect">
            <a:avLst>
              <a:gd name="adj" fmla="val 10909"/>
            </a:avLst>
          </a:prstGeom>
          <a:solidFill>
            <a:srgbClr val="3DDC84"/>
          </a:solidFill>
          <a:ln/>
        </p:spPr>
      </p:sp>
      <p:sp>
        <p:nvSpPr>
          <p:cNvPr id="7" name="Text 5"/>
          <p:cNvSpPr/>
          <p:nvPr/>
        </p:nvSpPr>
        <p:spPr>
          <a:xfrm>
            <a:off x="731520" y="35204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4930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Build your library: your first name, lowercase, .py — all four functions, exact signatures, tested in a protected main().</a:t>
            </a:r>
            <a:endParaRPr lang="en-US" sz="1600" dirty="0"/>
          </a:p>
        </p:txBody>
      </p:sp>
      <p:sp>
        <p:nvSpPr>
          <p:cNvPr id="9" name="Text 7"/>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69 winning lines, four small helpers — your check_win learns to see.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2026-08-19T15:52:16Z</dcterms:created>
  <dcterms:modified xsi:type="dcterms:W3CDTF">2026-08-19T15:52:16Z</dcterms:modified>
</cp:coreProperties>
</file>