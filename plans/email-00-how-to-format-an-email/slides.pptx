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nobody grades the emails you send to a coach, a boss, or a teacher, but everyone who reads one decides in about four seconds whether you took care writing it. This unit is that four seconds, practiced once a week until it's automatic. Today: the four parts, the four rules, who can see what, and then they write and send the first one (Checking In) before the bell. Ask who has ever emailed a teacher. Then ask who has ever gotten a reply. The gap between those two numbers is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you get an email with no subject from an address you don't recognize. What do you do with it? (Delete it.) That is exactly what happens to theirs. The point of this slide is that the reader decides most of the outcome before reading the body, so the parts that look like decoration (subject, greeting, name) are the parts doing the most work. Don't moralize; it's a reader-modeling problem, same as any design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example top to bottom and name each part as you pass it. Subject: tells the coach what it is and who it's from before opening. Greeting: 'Hey' is for friends; anyone you'd call by last name in person gets title and last name. Body: two paragraphs, two ideas (what's happening; the ask). Point out that there is exactly one question, so the coach knows how to reply. Closing: a word, then the name — set up a Gmail signature so it types itself. This is also the moment to say the word 'salutation' once so they recognize it on the reference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Tiles, left to right. 'Short' is the one adults get wrong most; students usually err the other way and send one sentence, so for this class 'short' means 'short paragraphs,' not 'short email.' Scannable: show the double-Enter on the projector; one Enter is a new line in the same paragraph, and half the class doesn't know that. Proofread: the fastest way is to read it aloud under your breath. Tell them Mr. Willis is a terrible proofreader and uses this trick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can see the Cc line? (Everyone on the email.) Then: so who should be on it? (People who need to know, not people who might find it interesting.) Carbon paper story if there's time: a typist put carbon paper between two sheets so typing once made two copies, and the second went to someone who needed to know without being the addressee. Reply-all is the same rule in reverse: before you hit it, look at who's in To. The amber card is the privacy beat the standards care about: email is public the moment it leaves, so treat it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right card (or add it on a click if you convert this) and let students call out what's wrong with the left one. The five they should find: no subject, 'hey,' one block of text with two unrelated ideas, text-speak and no capitalization, no name. Then reveal the right side and have them count the parts and the paragraphs. Point out the fixed version is not longer; it is organized. The second paragraph is the 'different idea, different paragraph' rule in action. This slide is the whole unit in one picture; everything after today is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routine here so you never have to explain it again. One email a week, each adds one skill, the last one (the Winter Extravaganza pitch) uses all of them at once. Every lab is scored with the same 0-4 shape: a 4 is all four parts plus the lab's one new skill done properly, so the thing that separates a 4 from a 3 each week is the thing that week was teaching. Point at the green tile: today is 'format,' and they're about to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mission row aloud, then send them to the lab page (labs/email-10-checking-in) for the full list of what to include: name and grade, favorite and least favorite class, a goal, a hobby, a piece of technology they use, and what they hope to learn in a tech class. 'Understand your mission for today?' Circulate for subject lines and greetings in the first ten minutes; those two tell you whether the slides landed. Wrap: one student names the four parts; another says what Re: means (next-next week's lab). Tease: next week they'll ask for an extension after a fictional three-day absence.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0" y="457200"/>
            <a:ext cx="12191695" cy="365760"/>
          </a:xfrm>
          <a:prstGeom prst="rect">
            <a:avLst/>
          </a:prstGeom>
          <a:noFill/>
          <a:ln/>
        </p:spPr>
        <p:txBody>
          <a:bodyPr wrap="square" lIns="0" tIns="0" rIns="0" bIns="0" rtlCol="0" anchor="ctr"/>
          <a:lstStyle/>
          <a:p>
            <a:pPr algn="ctr" indent="0" marL="0">
              <a:buNone/>
            </a:pPr>
            <a:r>
              <a:rPr lang="en-US" sz="1200" dirty="0">
                <a:solidFill>
                  <a:srgbClr val="1B3A5C"/>
                </a:solidFill>
                <a:latin typeface="Courier New" pitchFamily="34" charset="0"/>
                <a:ea typeface="Courier New" pitchFamily="34" charset="-122"/>
                <a:cs typeface="Courier New" pitchFamily="34" charset="-120"/>
              </a:rPr>
              <a:t>SUBJECT  ·  GREETING  ·  BODY  ·  CLOSING</a:t>
            </a:r>
            <a:endParaRPr lang="en-US" sz="1200" dirty="0"/>
          </a:p>
        </p:txBody>
      </p:sp>
      <p:sp>
        <p:nvSpPr>
          <p:cNvPr id="3" name="Text 1"/>
          <p:cNvSpPr/>
          <p:nvPr/>
        </p:nvSpPr>
        <p:spPr>
          <a:xfrm>
            <a:off x="0" y="1554480"/>
            <a:ext cx="12191695" cy="822960"/>
          </a:xfrm>
          <a:prstGeom prst="rect">
            <a:avLst/>
          </a:prstGeom>
          <a:noFill/>
          <a:ln/>
        </p:spPr>
        <p:txBody>
          <a:bodyPr wrap="square" lIns="0" tIns="0" rIns="0" bIns="0" rtlCol="0" anchor="ctr"/>
          <a:lstStyle/>
          <a:p>
            <a:pPr algn="ctr" indent="0" marL="0">
              <a:buNone/>
            </a:pPr>
            <a:r>
              <a:rPr lang="en-US" sz="3400" b="1" dirty="0">
                <a:solidFill>
                  <a:srgbClr val="5A6B7B"/>
                </a:solidFill>
                <a:latin typeface="Courier New" pitchFamily="34" charset="0"/>
                <a:ea typeface="Courier New" pitchFamily="34" charset="-122"/>
                <a:cs typeface="Courier New" pitchFamily="34" charset="-120"/>
              </a:rPr>
              <a:t>To: </a:t>
            </a:r>
            <a:pPr algn="ctr" indent="0" marL="0">
              <a:buNone/>
            </a:pPr>
            <a:r>
              <a:rPr lang="en-US" sz="3400" b="1" dirty="0">
                <a:solidFill>
                  <a:srgbClr val="3DDC84"/>
                </a:solidFill>
                <a:latin typeface="Courier New" pitchFamily="34" charset="0"/>
                <a:ea typeface="Courier New" pitchFamily="34" charset="-122"/>
                <a:cs typeface="Courier New" pitchFamily="34" charset="-120"/>
              </a:rPr>
              <a:t>swillis@northlandprep.org</a:t>
            </a:r>
            <a:endParaRPr lang="en-US" sz="3400" dirty="0"/>
          </a:p>
        </p:txBody>
      </p:sp>
      <p:sp>
        <p:nvSpPr>
          <p:cNvPr id="4" name="Text 2"/>
          <p:cNvSpPr/>
          <p:nvPr/>
        </p:nvSpPr>
        <p:spPr>
          <a:xfrm>
            <a:off x="0" y="228600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Professional Email</a:t>
            </a:r>
            <a:endParaRPr lang="en-US" sz="5400" dirty="0"/>
          </a:p>
        </p:txBody>
      </p:sp>
      <p:sp>
        <p:nvSpPr>
          <p:cNvPr id="5" name="Text 3"/>
          <p:cNvSpPr/>
          <p:nvPr/>
        </p:nvSpPr>
        <p:spPr>
          <a:xfrm>
            <a:off x="0" y="3383280"/>
            <a:ext cx="12191695" cy="548640"/>
          </a:xfrm>
          <a:prstGeom prst="rect">
            <a:avLst/>
          </a:prstGeom>
          <a:noFill/>
          <a:ln/>
        </p:spPr>
        <p:txBody>
          <a:bodyPr wrap="square" lIns="0" tIns="0" rIns="0" bIns="0" rtlCol="0" anchor="ctr"/>
          <a:lstStyle/>
          <a:p>
            <a:pPr algn="ctr" indent="0" marL="0">
              <a:buNone/>
            </a:pPr>
            <a:r>
              <a:rPr lang="en-US" sz="2200" dirty="0">
                <a:solidFill>
                  <a:srgbClr val="3DDC84"/>
                </a:solidFill>
                <a:latin typeface="Calibri" pitchFamily="34" charset="0"/>
                <a:ea typeface="Calibri" pitchFamily="34" charset="-122"/>
                <a:cs typeface="Calibri" pitchFamily="34" charset="-120"/>
              </a:rPr>
              <a:t>Every email is a four-second job application</a:t>
            </a:r>
            <a:endParaRPr lang="en-US" sz="2200" dirty="0"/>
          </a:p>
        </p:txBody>
      </p:sp>
      <p:sp>
        <p:nvSpPr>
          <p:cNvPr id="6" name="Text 4"/>
          <p:cNvSpPr/>
          <p:nvPr/>
        </p:nvSpPr>
        <p:spPr>
          <a:xfrm>
            <a:off x="0" y="5852160"/>
            <a:ext cx="12191695" cy="45720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Middle School Computer Science  •  Professional Email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four-second test</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What a reader sees before they read a word, and what they decide from it.</a:t>
            </a:r>
            <a:endParaRPr lang="en-US" sz="1700" dirty="0"/>
          </a:p>
        </p:txBody>
      </p:sp>
      <p:sp>
        <p:nvSpPr>
          <p:cNvPr id="4" name="Shape 2"/>
          <p:cNvSpPr/>
          <p:nvPr/>
        </p:nvSpPr>
        <p:spPr>
          <a:xfrm>
            <a:off x="548640" y="1828800"/>
            <a:ext cx="5394960" cy="2926080"/>
          </a:xfrm>
          <a:prstGeom prst="roundRect">
            <a:avLst>
              <a:gd name="adj" fmla="val 2500"/>
            </a:avLst>
          </a:prstGeom>
          <a:solidFill>
            <a:srgbClr val="FFFFFF"/>
          </a:solidFill>
          <a:ln w="12700">
            <a:solidFill>
              <a:srgbClr val="C7D2DC"/>
            </a:solidFill>
            <a:prstDash val="solid"/>
          </a:ln>
        </p:spPr>
      </p:sp>
      <p:sp>
        <p:nvSpPr>
          <p:cNvPr id="5" name="Text 3"/>
          <p:cNvSpPr/>
          <p:nvPr/>
        </p:nvSpPr>
        <p:spPr>
          <a:xfrm>
            <a:off x="822960" y="2011680"/>
            <a:ext cx="4846320" cy="411480"/>
          </a:xfrm>
          <a:prstGeom prst="rect">
            <a:avLst/>
          </a:prstGeom>
          <a:noFill/>
          <a:ln/>
        </p:spPr>
        <p:txBody>
          <a:bodyPr wrap="square" lIns="0" tIns="0" rIns="0" bIns="0" rtlCol="0" anchor="ctr"/>
          <a:lstStyle/>
          <a:p>
            <a:pPr indent="0" marL="0">
              <a:buNone/>
            </a:pPr>
            <a:r>
              <a:rPr lang="en-US" sz="1800" b="1" dirty="0">
                <a:solidFill>
                  <a:srgbClr val="0A1F33"/>
                </a:solidFill>
                <a:latin typeface="Calibri" pitchFamily="34" charset="0"/>
                <a:ea typeface="Calibri" pitchFamily="34" charset="-122"/>
                <a:cs typeface="Calibri" pitchFamily="34" charset="-120"/>
              </a:rPr>
              <a:t>What they see</a:t>
            </a:r>
            <a:endParaRPr lang="en-US" sz="1800" dirty="0"/>
          </a:p>
        </p:txBody>
      </p:sp>
      <p:sp>
        <p:nvSpPr>
          <p:cNvPr id="6" name="Text 4"/>
          <p:cNvSpPr/>
          <p:nvPr/>
        </p:nvSpPr>
        <p:spPr>
          <a:xfrm>
            <a:off x="822960" y="2560320"/>
            <a:ext cx="4846320" cy="2926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0A1F33"/>
                </a:solidFill>
                <a:latin typeface="Calibri" pitchFamily="34" charset="0"/>
                <a:ea typeface="Calibri" pitchFamily="34" charset="-122"/>
                <a:cs typeface="Calibri" pitchFamily="34" charset="-120"/>
              </a:rPr>
              <a:t>the subject line (or the blank where it should be)</a:t>
            </a:r>
            <a:endParaRPr lang="en-US" sz="1600" dirty="0"/>
          </a:p>
          <a:p>
            <a:pPr marL="342900" indent="-342900">
              <a:spcAft>
                <a:spcPts val="1000"/>
              </a:spcAft>
              <a:buSzPct val="100000"/>
              <a:buChar char="•"/>
            </a:pPr>
            <a:r>
              <a:rPr lang="en-US" sz="1600" dirty="0">
                <a:solidFill>
                  <a:srgbClr val="0A1F33"/>
                </a:solidFill>
                <a:latin typeface="Calibri" pitchFamily="34" charset="0"/>
                <a:ea typeface="Calibri" pitchFamily="34" charset="-122"/>
                <a:cs typeface="Calibri" pitchFamily="34" charset="-120"/>
              </a:rPr>
              <a:t>who it's from</a:t>
            </a:r>
            <a:endParaRPr lang="en-US" sz="1600" dirty="0"/>
          </a:p>
          <a:p>
            <a:pPr marL="342900" indent="-342900">
              <a:spcAft>
                <a:spcPts val="1000"/>
              </a:spcAft>
              <a:buSzPct val="100000"/>
              <a:buChar char="•"/>
            </a:pPr>
            <a:r>
              <a:rPr lang="en-US" sz="1600" dirty="0">
                <a:solidFill>
                  <a:srgbClr val="0A1F33"/>
                </a:solidFill>
                <a:latin typeface="Calibri" pitchFamily="34" charset="0"/>
                <a:ea typeface="Calibri" pitchFamily="34" charset="-122"/>
                <a:cs typeface="Calibri" pitchFamily="34" charset="-120"/>
              </a:rPr>
              <a:t>the first line of the body</a:t>
            </a:r>
            <a:endParaRPr lang="en-US" sz="1600" dirty="0"/>
          </a:p>
          <a:p>
            <a:pPr marL="342900" indent="-342900">
              <a:spcAft>
                <a:spcPts val="1000"/>
              </a:spcAft>
              <a:buSzPct val="100000"/>
              <a:buChar char="•"/>
            </a:pPr>
            <a:r>
              <a:rPr lang="en-US" sz="1600" dirty="0">
                <a:solidFill>
                  <a:srgbClr val="0A1F33"/>
                </a:solidFill>
                <a:latin typeface="Calibri" pitchFamily="34" charset="0"/>
                <a:ea typeface="Calibri" pitchFamily="34" charset="-122"/>
                <a:cs typeface="Calibri" pitchFamily="34" charset="-120"/>
              </a:rPr>
              <a:t>whether there's an attachment</a:t>
            </a:r>
            <a:endParaRPr lang="en-US" sz="1600" dirty="0"/>
          </a:p>
        </p:txBody>
      </p:sp>
      <p:sp>
        <p:nvSpPr>
          <p:cNvPr id="7" name="Shape 5"/>
          <p:cNvSpPr/>
          <p:nvPr/>
        </p:nvSpPr>
        <p:spPr>
          <a:xfrm>
            <a:off x="6263640" y="1828800"/>
            <a:ext cx="5394960" cy="2926080"/>
          </a:xfrm>
          <a:prstGeom prst="roundRect">
            <a:avLst>
              <a:gd name="adj" fmla="val 2500"/>
            </a:avLst>
          </a:prstGeom>
          <a:solidFill>
            <a:srgbClr val="FFFFFF"/>
          </a:solidFill>
          <a:ln w="12700">
            <a:solidFill>
              <a:srgbClr val="C7D2DC"/>
            </a:solidFill>
            <a:prstDash val="solid"/>
          </a:ln>
        </p:spPr>
      </p:sp>
      <p:sp>
        <p:nvSpPr>
          <p:cNvPr id="8" name="Text 6"/>
          <p:cNvSpPr/>
          <p:nvPr/>
        </p:nvSpPr>
        <p:spPr>
          <a:xfrm>
            <a:off x="6537960" y="2011680"/>
            <a:ext cx="4846320" cy="411480"/>
          </a:xfrm>
          <a:prstGeom prst="rect">
            <a:avLst/>
          </a:prstGeom>
          <a:noFill/>
          <a:ln/>
        </p:spPr>
        <p:txBody>
          <a:bodyPr wrap="square" lIns="0" tIns="0" rIns="0" bIns="0" rtlCol="0" anchor="ctr"/>
          <a:lstStyle/>
          <a:p>
            <a:pPr indent="0" marL="0">
              <a:buNone/>
            </a:pPr>
            <a:r>
              <a:rPr lang="en-US" sz="1800" b="1" dirty="0">
                <a:solidFill>
                  <a:srgbClr val="0A1F33"/>
                </a:solidFill>
                <a:latin typeface="Calibri" pitchFamily="34" charset="0"/>
                <a:ea typeface="Calibri" pitchFamily="34" charset="-122"/>
                <a:cs typeface="Calibri" pitchFamily="34" charset="-120"/>
              </a:rPr>
              <a:t>What they decide</a:t>
            </a:r>
            <a:endParaRPr lang="en-US" sz="1800" dirty="0"/>
          </a:p>
        </p:txBody>
      </p:sp>
      <p:sp>
        <p:nvSpPr>
          <p:cNvPr id="9" name="Text 7"/>
          <p:cNvSpPr/>
          <p:nvPr/>
        </p:nvSpPr>
        <p:spPr>
          <a:xfrm>
            <a:off x="6537960" y="2560320"/>
            <a:ext cx="4846320" cy="2926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0A1F33"/>
                </a:solidFill>
                <a:latin typeface="Calibri" pitchFamily="34" charset="0"/>
                <a:ea typeface="Calibri" pitchFamily="34" charset="-122"/>
                <a:cs typeface="Calibri" pitchFamily="34" charset="-120"/>
              </a:rPr>
              <a:t>open it now, later, or never</a:t>
            </a:r>
            <a:endParaRPr lang="en-US" sz="1600" dirty="0"/>
          </a:p>
          <a:p>
            <a:pPr marL="342900" indent="-342900">
              <a:spcAft>
                <a:spcPts val="1000"/>
              </a:spcAft>
              <a:buSzPct val="100000"/>
              <a:buChar char="•"/>
            </a:pPr>
            <a:r>
              <a:rPr lang="en-US" sz="1600" dirty="0">
                <a:solidFill>
                  <a:srgbClr val="0A1F33"/>
                </a:solidFill>
                <a:latin typeface="Calibri" pitchFamily="34" charset="0"/>
                <a:ea typeface="Calibri" pitchFamily="34" charset="-122"/>
                <a:cs typeface="Calibri" pitchFamily="34" charset="-120"/>
              </a:rPr>
              <a:t>whether the sender took care</a:t>
            </a:r>
            <a:endParaRPr lang="en-US" sz="1600" dirty="0"/>
          </a:p>
          <a:p>
            <a:pPr marL="342900" indent="-342900">
              <a:spcAft>
                <a:spcPts val="1000"/>
              </a:spcAft>
              <a:buSzPct val="100000"/>
              <a:buChar char="•"/>
            </a:pPr>
            <a:r>
              <a:rPr lang="en-US" sz="1600" dirty="0">
                <a:solidFill>
                  <a:srgbClr val="0A1F33"/>
                </a:solidFill>
                <a:latin typeface="Calibri" pitchFamily="34" charset="0"/>
                <a:ea typeface="Calibri" pitchFamily="34" charset="-122"/>
                <a:cs typeface="Calibri" pitchFamily="34" charset="-120"/>
              </a:rPr>
              <a:t>how much effort the reply deserves</a:t>
            </a:r>
            <a:endParaRPr lang="en-US" sz="1600" dirty="0"/>
          </a:p>
          <a:p>
            <a:pPr marL="342900" indent="-342900">
              <a:spcAft>
                <a:spcPts val="1000"/>
              </a:spcAft>
              <a:buSzPct val="100000"/>
              <a:buChar char="•"/>
            </a:pPr>
            <a:r>
              <a:rPr lang="en-US" sz="1600" dirty="0">
                <a:solidFill>
                  <a:srgbClr val="0A1F33"/>
                </a:solidFill>
                <a:latin typeface="Calibri" pitchFamily="34" charset="0"/>
                <a:ea typeface="Calibri" pitchFamily="34" charset="-122"/>
                <a:cs typeface="Calibri" pitchFamily="34" charset="-120"/>
              </a:rPr>
              <a:t>whether it's spam</a:t>
            </a:r>
            <a:endParaRPr lang="en-US" sz="1600" dirty="0"/>
          </a:p>
        </p:txBody>
      </p:sp>
      <p:sp>
        <p:nvSpPr>
          <p:cNvPr id="10" name="Text 8"/>
          <p:cNvSpPr/>
          <p:nvPr/>
        </p:nvSpPr>
        <p:spPr>
          <a:xfrm>
            <a:off x="548640" y="5120640"/>
            <a:ext cx="11064240" cy="457200"/>
          </a:xfrm>
          <a:prstGeom prst="rect">
            <a:avLst/>
          </a:prstGeom>
          <a:noFill/>
          <a:ln/>
        </p:spPr>
        <p:txBody>
          <a:bodyPr wrap="square" lIns="0" tIns="0" rIns="0" bIns="0" rtlCol="0" anchor="ctr"/>
          <a:lstStyle/>
          <a:p>
            <a:pPr algn="ctr" indent="0" marL="0">
              <a:buNone/>
            </a:pPr>
            <a:r>
              <a:rPr lang="en-US" sz="1800" b="1" i="1" dirty="0">
                <a:solidFill>
                  <a:srgbClr val="5A6B7B"/>
                </a:solidFill>
                <a:latin typeface="Calibri" pitchFamily="34" charset="0"/>
                <a:ea typeface="Calibri" pitchFamily="34" charset="-122"/>
                <a:cs typeface="Calibri" pitchFamily="34" charset="-120"/>
              </a:rPr>
              <a:t>An email with no subject looks like spam and gets treated like spam.</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four parts</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Every email in this unit has these, in this order. The rubric checks for all four.</a:t>
            </a:r>
            <a:endParaRPr lang="en-US" sz="1700" dirty="0"/>
          </a:p>
        </p:txBody>
      </p:sp>
      <p:sp>
        <p:nvSpPr>
          <p:cNvPr id="4" name="Shape 2"/>
          <p:cNvSpPr/>
          <p:nvPr/>
        </p:nvSpPr>
        <p:spPr>
          <a:xfrm>
            <a:off x="3931920" y="1783080"/>
            <a:ext cx="7680960" cy="4114800"/>
          </a:xfrm>
          <a:prstGeom prst="roundRect">
            <a:avLst>
              <a:gd name="adj" fmla="val 1778"/>
            </a:avLst>
          </a:prstGeom>
          <a:solidFill>
            <a:srgbClr val="FFFFFF"/>
          </a:solidFill>
          <a:ln w="12700">
            <a:solidFill>
              <a:srgbClr val="C7D2DC"/>
            </a:solidFill>
            <a:prstDash val="solid"/>
          </a:ln>
        </p:spPr>
      </p:sp>
      <p:sp>
        <p:nvSpPr>
          <p:cNvPr id="5" name="Text 3"/>
          <p:cNvSpPr/>
          <p:nvPr/>
        </p:nvSpPr>
        <p:spPr>
          <a:xfrm>
            <a:off x="4160520" y="1965960"/>
            <a:ext cx="7223760" cy="3749040"/>
          </a:xfrm>
          <a:prstGeom prst="rect">
            <a:avLst/>
          </a:prstGeom>
          <a:noFill/>
          <a:ln/>
        </p:spPr>
        <p:txBody>
          <a:bodyPr wrap="square" lIns="0" tIns="0" rIns="0" bIns="0" rtlCol="0" anchor="t"/>
          <a:lstStyle/>
          <a:p>
            <a:pPr indent="0" marL="0">
              <a:spcAft>
                <a:spcPts val="600"/>
              </a:spcAft>
              <a:buNone/>
            </a:pPr>
            <a:r>
              <a:rPr lang="en-US" sz="1400" b="1" dirty="0">
                <a:solidFill>
                  <a:srgbClr val="0A1F33"/>
                </a:solidFill>
                <a:latin typeface="Calibri" pitchFamily="34" charset="0"/>
                <a:ea typeface="Calibri" pitchFamily="34" charset="-122"/>
                <a:cs typeface="Calibri" pitchFamily="34" charset="-120"/>
              </a:rPr>
              <a:t>Subject: Missing Practice Thursday - Jordan Smith</a:t>
            </a:r>
            <a:endParaRPr lang="en-US" sz="1400" dirty="0"/>
          </a:p>
          <a:p>
            <a:pPr indent="0" marL="0">
              <a:spcAft>
                <a:spcPts val="600"/>
              </a:spcAft>
              <a:buNone/>
            </a:pPr>
            <a:r>
              <a:rPr lang="en-US" sz="1400" dirty="0">
                <a:solidFill>
                  <a:srgbClr val="0A1F33"/>
                </a:solidFill>
                <a:latin typeface="Calibri" pitchFamily="34" charset="0"/>
                <a:ea typeface="Calibri" pitchFamily="34" charset="-122"/>
                <a:cs typeface="Calibri" pitchFamily="34" charset="-120"/>
              </a:rPr>
              <a:t> </a:t>
            </a:r>
            <a:endParaRPr lang="en-US" sz="1400" dirty="0"/>
          </a:p>
          <a:p>
            <a:pPr indent="0" marL="0">
              <a:spcAft>
                <a:spcPts val="600"/>
              </a:spcAft>
              <a:buNone/>
            </a:pPr>
            <a:r>
              <a:rPr lang="en-US" sz="1400" dirty="0">
                <a:solidFill>
                  <a:srgbClr val="0A1F33"/>
                </a:solidFill>
                <a:latin typeface="Calibri" pitchFamily="34" charset="0"/>
                <a:ea typeface="Calibri" pitchFamily="34" charset="-122"/>
                <a:cs typeface="Calibri" pitchFamily="34" charset="-120"/>
              </a:rPr>
              <a:t>Hello Coach Patel,</a:t>
            </a:r>
            <a:endParaRPr lang="en-US" sz="1400" dirty="0"/>
          </a:p>
          <a:p>
            <a:pPr indent="0" marL="0">
              <a:spcAft>
                <a:spcPts val="600"/>
              </a:spcAft>
              <a:buNone/>
            </a:pPr>
            <a:r>
              <a:rPr lang="en-US" sz="1400" dirty="0">
                <a:solidFill>
                  <a:srgbClr val="0A1F33"/>
                </a:solidFill>
                <a:latin typeface="Calibri" pitchFamily="34" charset="0"/>
                <a:ea typeface="Calibri" pitchFamily="34" charset="-122"/>
                <a:cs typeface="Calibri" pitchFamily="34" charset="-120"/>
              </a:rPr>
              <a:t> </a:t>
            </a:r>
            <a:endParaRPr lang="en-US" sz="1400" dirty="0"/>
          </a:p>
          <a:p>
            <a:pPr indent="0" marL="0">
              <a:spcAft>
                <a:spcPts val="600"/>
              </a:spcAft>
              <a:buNone/>
            </a:pPr>
            <a:r>
              <a:rPr lang="en-US" sz="1400" dirty="0">
                <a:solidFill>
                  <a:srgbClr val="0A1F33"/>
                </a:solidFill>
                <a:latin typeface="Calibri" pitchFamily="34" charset="0"/>
                <a:ea typeface="Calibri" pitchFamily="34" charset="-122"/>
                <a:cs typeface="Calibri" pitchFamily="34" charset="-120"/>
              </a:rPr>
              <a:t>I have a dentist appointment Thursday afternoon and will miss practice. I'll be at Friday's practice as usual.</a:t>
            </a:r>
            <a:endParaRPr lang="en-US" sz="1400" dirty="0"/>
          </a:p>
          <a:p>
            <a:pPr indent="0" marL="0">
              <a:spcAft>
                <a:spcPts val="600"/>
              </a:spcAft>
              <a:buNone/>
            </a:pPr>
            <a:r>
              <a:rPr lang="en-US" sz="1400" dirty="0">
                <a:solidFill>
                  <a:srgbClr val="0A1F33"/>
                </a:solidFill>
                <a:latin typeface="Calibri" pitchFamily="34" charset="0"/>
                <a:ea typeface="Calibri" pitchFamily="34" charset="-122"/>
                <a:cs typeface="Calibri" pitchFamily="34" charset="-120"/>
              </a:rPr>
              <a:t> </a:t>
            </a:r>
            <a:endParaRPr lang="en-US" sz="1400" dirty="0"/>
          </a:p>
          <a:p>
            <a:pPr indent="0" marL="0">
              <a:spcAft>
                <a:spcPts val="600"/>
              </a:spcAft>
              <a:buNone/>
            </a:pPr>
            <a:r>
              <a:rPr lang="en-US" sz="1400" dirty="0">
                <a:solidFill>
                  <a:srgbClr val="0A1F33"/>
                </a:solidFill>
                <a:latin typeface="Calibri" pitchFamily="34" charset="0"/>
                <a:ea typeface="Calibri" pitchFamily="34" charset="-122"/>
                <a:cs typeface="Calibri" pitchFamily="34" charset="-120"/>
              </a:rPr>
              <a:t>Is there anything I should work on at home to make up for the missed day?</a:t>
            </a:r>
            <a:endParaRPr lang="en-US" sz="1400" dirty="0"/>
          </a:p>
          <a:p>
            <a:pPr indent="0" marL="0">
              <a:spcAft>
                <a:spcPts val="600"/>
              </a:spcAft>
              <a:buNone/>
            </a:pPr>
            <a:r>
              <a:rPr lang="en-US" sz="1400" dirty="0">
                <a:solidFill>
                  <a:srgbClr val="0A1F33"/>
                </a:solidFill>
                <a:latin typeface="Calibri" pitchFamily="34" charset="0"/>
                <a:ea typeface="Calibri" pitchFamily="34" charset="-122"/>
                <a:cs typeface="Calibri" pitchFamily="34" charset="-120"/>
              </a:rPr>
              <a:t> </a:t>
            </a:r>
            <a:endParaRPr lang="en-US" sz="1400" dirty="0"/>
          </a:p>
          <a:p>
            <a:pPr indent="0" marL="0">
              <a:spcAft>
                <a:spcPts val="600"/>
              </a:spcAft>
              <a:buNone/>
            </a:pPr>
            <a:r>
              <a:rPr lang="en-US" sz="1400" dirty="0">
                <a:solidFill>
                  <a:srgbClr val="0A1F33"/>
                </a:solidFill>
                <a:latin typeface="Calibri" pitchFamily="34" charset="0"/>
                <a:ea typeface="Calibri" pitchFamily="34" charset="-122"/>
                <a:cs typeface="Calibri" pitchFamily="34" charset="-120"/>
              </a:rPr>
              <a:t>Thank you,</a:t>
            </a:r>
            <a:endParaRPr lang="en-US" sz="1400" dirty="0"/>
          </a:p>
          <a:p>
            <a:pPr indent="0" marL="0">
              <a:spcAft>
                <a:spcPts val="600"/>
              </a:spcAft>
              <a:buNone/>
            </a:pPr>
            <a:r>
              <a:rPr lang="en-US" sz="1400" dirty="0">
                <a:solidFill>
                  <a:srgbClr val="0A1F33"/>
                </a:solidFill>
                <a:latin typeface="Calibri" pitchFamily="34" charset="0"/>
                <a:ea typeface="Calibri" pitchFamily="34" charset="-122"/>
                <a:cs typeface="Calibri" pitchFamily="34" charset="-120"/>
              </a:rPr>
              <a:t>Jordan Smith</a:t>
            </a:r>
            <a:endParaRPr lang="en-US" sz="1400" dirty="0"/>
          </a:p>
        </p:txBody>
      </p:sp>
      <p:sp>
        <p:nvSpPr>
          <p:cNvPr id="6" name="Shape 4"/>
          <p:cNvSpPr/>
          <p:nvPr/>
        </p:nvSpPr>
        <p:spPr>
          <a:xfrm>
            <a:off x="548640" y="1828800"/>
            <a:ext cx="3108960" cy="914400"/>
          </a:xfrm>
          <a:prstGeom prst="roundRect">
            <a:avLst>
              <a:gd name="adj" fmla="val 8000"/>
            </a:avLst>
          </a:prstGeom>
          <a:solidFill>
            <a:srgbClr val="13324F"/>
          </a:solidFill>
          <a:ln/>
        </p:spPr>
      </p:sp>
      <p:sp>
        <p:nvSpPr>
          <p:cNvPr id="7" name="Text 5"/>
          <p:cNvSpPr/>
          <p:nvPr/>
        </p:nvSpPr>
        <p:spPr>
          <a:xfrm>
            <a:off x="731520" y="1901952"/>
            <a:ext cx="2743200" cy="365760"/>
          </a:xfrm>
          <a:prstGeom prst="rect">
            <a:avLst/>
          </a:prstGeom>
          <a:noFill/>
          <a:ln/>
        </p:spPr>
        <p:txBody>
          <a:bodyPr wrap="square" lIns="0" tIns="0" rIns="0" bIns="0" rtlCol="0" anchor="ctr"/>
          <a:lstStyle/>
          <a:p>
            <a:pPr indent="0" marL="0">
              <a:buNone/>
            </a:pPr>
            <a:r>
              <a:rPr lang="en-US" sz="1700" b="1" dirty="0">
                <a:solidFill>
                  <a:srgbClr val="3DDC84"/>
                </a:solidFill>
                <a:latin typeface="Calibri" pitchFamily="34" charset="0"/>
                <a:ea typeface="Calibri" pitchFamily="34" charset="-122"/>
                <a:cs typeface="Calibri" pitchFamily="34" charset="-120"/>
              </a:rPr>
              <a:t>Subject</a:t>
            </a:r>
            <a:endParaRPr lang="en-US" sz="1700" dirty="0"/>
          </a:p>
        </p:txBody>
      </p:sp>
      <p:sp>
        <p:nvSpPr>
          <p:cNvPr id="8" name="Text 6"/>
          <p:cNvSpPr/>
          <p:nvPr/>
        </p:nvSpPr>
        <p:spPr>
          <a:xfrm>
            <a:off x="731520" y="2267712"/>
            <a:ext cx="2743200" cy="438912"/>
          </a:xfrm>
          <a:prstGeom prst="rect">
            <a:avLst/>
          </a:prstGeom>
          <a:noFill/>
          <a:ln/>
        </p:spPr>
        <p:txBody>
          <a:bodyPr wrap="square" lIns="0" tIns="0" rIns="0" bIns="0" rtlCol="0" anchor="ctr"/>
          <a:lstStyle/>
          <a:p>
            <a:pPr indent="0" marL="0">
              <a:buNone/>
            </a:pPr>
            <a:r>
              <a:rPr lang="en-US" sz="1200" dirty="0">
                <a:solidFill>
                  <a:srgbClr val="C7D2DC"/>
                </a:solidFill>
                <a:latin typeface="Calibri" pitchFamily="34" charset="0"/>
                <a:ea typeface="Calibri" pitchFamily="34" charset="-122"/>
                <a:cs typeface="Calibri" pitchFamily="34" charset="-120"/>
              </a:rPr>
              <a:t>Why they should open it, in a few words.</a:t>
            </a:r>
            <a:endParaRPr lang="en-US" sz="1200" dirty="0"/>
          </a:p>
        </p:txBody>
      </p:sp>
      <p:sp>
        <p:nvSpPr>
          <p:cNvPr id="9" name="Shape 7"/>
          <p:cNvSpPr/>
          <p:nvPr/>
        </p:nvSpPr>
        <p:spPr>
          <a:xfrm>
            <a:off x="548640" y="2880360"/>
            <a:ext cx="3108960" cy="914400"/>
          </a:xfrm>
          <a:prstGeom prst="roundRect">
            <a:avLst>
              <a:gd name="adj" fmla="val 8000"/>
            </a:avLst>
          </a:prstGeom>
          <a:solidFill>
            <a:srgbClr val="13324F"/>
          </a:solidFill>
          <a:ln/>
        </p:spPr>
      </p:sp>
      <p:sp>
        <p:nvSpPr>
          <p:cNvPr id="10" name="Text 8"/>
          <p:cNvSpPr/>
          <p:nvPr/>
        </p:nvSpPr>
        <p:spPr>
          <a:xfrm>
            <a:off x="731520" y="2953512"/>
            <a:ext cx="2743200" cy="365760"/>
          </a:xfrm>
          <a:prstGeom prst="rect">
            <a:avLst/>
          </a:prstGeom>
          <a:noFill/>
          <a:ln/>
        </p:spPr>
        <p:txBody>
          <a:bodyPr wrap="square" lIns="0" tIns="0" rIns="0" bIns="0" rtlCol="0" anchor="ctr"/>
          <a:lstStyle/>
          <a:p>
            <a:pPr indent="0" marL="0">
              <a:buNone/>
            </a:pPr>
            <a:r>
              <a:rPr lang="en-US" sz="1700" b="1" dirty="0">
                <a:solidFill>
                  <a:srgbClr val="3DDC84"/>
                </a:solidFill>
                <a:latin typeface="Calibri" pitchFamily="34" charset="0"/>
                <a:ea typeface="Calibri" pitchFamily="34" charset="-122"/>
                <a:cs typeface="Calibri" pitchFamily="34" charset="-120"/>
              </a:rPr>
              <a:t>Greeting</a:t>
            </a:r>
            <a:endParaRPr lang="en-US" sz="1700" dirty="0"/>
          </a:p>
        </p:txBody>
      </p:sp>
      <p:sp>
        <p:nvSpPr>
          <p:cNvPr id="11" name="Text 9"/>
          <p:cNvSpPr/>
          <p:nvPr/>
        </p:nvSpPr>
        <p:spPr>
          <a:xfrm>
            <a:off x="731520" y="3319272"/>
            <a:ext cx="2743200" cy="438912"/>
          </a:xfrm>
          <a:prstGeom prst="rect">
            <a:avLst/>
          </a:prstGeom>
          <a:noFill/>
          <a:ln/>
        </p:spPr>
        <p:txBody>
          <a:bodyPr wrap="square" lIns="0" tIns="0" rIns="0" bIns="0" rtlCol="0" anchor="ctr"/>
          <a:lstStyle/>
          <a:p>
            <a:pPr indent="0" marL="0">
              <a:buNone/>
            </a:pPr>
            <a:r>
              <a:rPr lang="en-US" sz="1200" dirty="0">
                <a:solidFill>
                  <a:srgbClr val="C7D2DC"/>
                </a:solidFill>
                <a:latin typeface="Calibri" pitchFamily="34" charset="0"/>
                <a:ea typeface="Calibri" pitchFamily="34" charset="-122"/>
                <a:cs typeface="Calibri" pitchFamily="34" charset="-120"/>
              </a:rPr>
              <a:t>Name the person. Title and last name.</a:t>
            </a:r>
            <a:endParaRPr lang="en-US" sz="1200" dirty="0"/>
          </a:p>
        </p:txBody>
      </p:sp>
      <p:sp>
        <p:nvSpPr>
          <p:cNvPr id="12" name="Shape 10"/>
          <p:cNvSpPr/>
          <p:nvPr/>
        </p:nvSpPr>
        <p:spPr>
          <a:xfrm>
            <a:off x="548640" y="3931920"/>
            <a:ext cx="3108960" cy="914400"/>
          </a:xfrm>
          <a:prstGeom prst="roundRect">
            <a:avLst>
              <a:gd name="adj" fmla="val 8000"/>
            </a:avLst>
          </a:prstGeom>
          <a:solidFill>
            <a:srgbClr val="13324F"/>
          </a:solidFill>
          <a:ln/>
        </p:spPr>
      </p:sp>
      <p:sp>
        <p:nvSpPr>
          <p:cNvPr id="13" name="Text 11"/>
          <p:cNvSpPr/>
          <p:nvPr/>
        </p:nvSpPr>
        <p:spPr>
          <a:xfrm>
            <a:off x="731520" y="4005072"/>
            <a:ext cx="2743200" cy="365760"/>
          </a:xfrm>
          <a:prstGeom prst="rect">
            <a:avLst/>
          </a:prstGeom>
          <a:noFill/>
          <a:ln/>
        </p:spPr>
        <p:txBody>
          <a:bodyPr wrap="square" lIns="0" tIns="0" rIns="0" bIns="0" rtlCol="0" anchor="ctr"/>
          <a:lstStyle/>
          <a:p>
            <a:pPr indent="0" marL="0">
              <a:buNone/>
            </a:pPr>
            <a:r>
              <a:rPr lang="en-US" sz="1700" b="1" dirty="0">
                <a:solidFill>
                  <a:srgbClr val="3DDC84"/>
                </a:solidFill>
                <a:latin typeface="Calibri" pitchFamily="34" charset="0"/>
                <a:ea typeface="Calibri" pitchFamily="34" charset="-122"/>
                <a:cs typeface="Calibri" pitchFamily="34" charset="-120"/>
              </a:rPr>
              <a:t>Body</a:t>
            </a:r>
            <a:endParaRPr lang="en-US" sz="1700" dirty="0"/>
          </a:p>
        </p:txBody>
      </p:sp>
      <p:sp>
        <p:nvSpPr>
          <p:cNvPr id="14" name="Text 12"/>
          <p:cNvSpPr/>
          <p:nvPr/>
        </p:nvSpPr>
        <p:spPr>
          <a:xfrm>
            <a:off x="731520" y="4370832"/>
            <a:ext cx="2743200" cy="438912"/>
          </a:xfrm>
          <a:prstGeom prst="rect">
            <a:avLst/>
          </a:prstGeom>
          <a:noFill/>
          <a:ln/>
        </p:spPr>
        <p:txBody>
          <a:bodyPr wrap="square" lIns="0" tIns="0" rIns="0" bIns="0" rtlCol="0" anchor="ctr"/>
          <a:lstStyle/>
          <a:p>
            <a:pPr indent="0" marL="0">
              <a:buNone/>
            </a:pPr>
            <a:r>
              <a:rPr lang="en-US" sz="1200" dirty="0">
                <a:solidFill>
                  <a:srgbClr val="C7D2DC"/>
                </a:solidFill>
                <a:latin typeface="Calibri" pitchFamily="34" charset="0"/>
                <a:ea typeface="Calibri" pitchFamily="34" charset="-122"/>
                <a:cs typeface="Calibri" pitchFamily="34" charset="-120"/>
              </a:rPr>
              <a:t>One idea per paragraph. Short.</a:t>
            </a:r>
            <a:endParaRPr lang="en-US" sz="1200" dirty="0"/>
          </a:p>
        </p:txBody>
      </p:sp>
      <p:sp>
        <p:nvSpPr>
          <p:cNvPr id="15" name="Shape 13"/>
          <p:cNvSpPr/>
          <p:nvPr/>
        </p:nvSpPr>
        <p:spPr>
          <a:xfrm>
            <a:off x="548640" y="4983480"/>
            <a:ext cx="3108960" cy="914400"/>
          </a:xfrm>
          <a:prstGeom prst="roundRect">
            <a:avLst>
              <a:gd name="adj" fmla="val 8000"/>
            </a:avLst>
          </a:prstGeom>
          <a:solidFill>
            <a:srgbClr val="13324F"/>
          </a:solidFill>
          <a:ln/>
        </p:spPr>
      </p:sp>
      <p:sp>
        <p:nvSpPr>
          <p:cNvPr id="16" name="Text 14"/>
          <p:cNvSpPr/>
          <p:nvPr/>
        </p:nvSpPr>
        <p:spPr>
          <a:xfrm>
            <a:off x="731520" y="5056632"/>
            <a:ext cx="2743200" cy="365760"/>
          </a:xfrm>
          <a:prstGeom prst="rect">
            <a:avLst/>
          </a:prstGeom>
          <a:noFill/>
          <a:ln/>
        </p:spPr>
        <p:txBody>
          <a:bodyPr wrap="square" lIns="0" tIns="0" rIns="0" bIns="0" rtlCol="0" anchor="ctr"/>
          <a:lstStyle/>
          <a:p>
            <a:pPr indent="0" marL="0">
              <a:buNone/>
            </a:pPr>
            <a:r>
              <a:rPr lang="en-US" sz="1700" b="1" dirty="0">
                <a:solidFill>
                  <a:srgbClr val="3DDC84"/>
                </a:solidFill>
                <a:latin typeface="Calibri" pitchFamily="34" charset="0"/>
                <a:ea typeface="Calibri" pitchFamily="34" charset="-122"/>
                <a:cs typeface="Calibri" pitchFamily="34" charset="-120"/>
              </a:rPr>
              <a:t>Closing</a:t>
            </a:r>
            <a:endParaRPr lang="en-US" sz="1700" dirty="0"/>
          </a:p>
        </p:txBody>
      </p:sp>
      <p:sp>
        <p:nvSpPr>
          <p:cNvPr id="17" name="Text 15"/>
          <p:cNvSpPr/>
          <p:nvPr/>
        </p:nvSpPr>
        <p:spPr>
          <a:xfrm>
            <a:off x="731520" y="5422392"/>
            <a:ext cx="2743200" cy="438912"/>
          </a:xfrm>
          <a:prstGeom prst="rect">
            <a:avLst/>
          </a:prstGeom>
          <a:noFill/>
          <a:ln/>
        </p:spPr>
        <p:txBody>
          <a:bodyPr wrap="square" lIns="0" tIns="0" rIns="0" bIns="0" rtlCol="0" anchor="ctr"/>
          <a:lstStyle/>
          <a:p>
            <a:pPr indent="0" marL="0">
              <a:buNone/>
            </a:pPr>
            <a:r>
              <a:rPr lang="en-US" sz="1200" dirty="0">
                <a:solidFill>
                  <a:srgbClr val="C7D2DC"/>
                </a:solidFill>
                <a:latin typeface="Calibri" pitchFamily="34" charset="0"/>
                <a:ea typeface="Calibri" pitchFamily="34" charset="-122"/>
                <a:cs typeface="Calibri" pitchFamily="34" charset="-120"/>
              </a:rPr>
              <a:t>A closing word, then your name.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four rules</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Length is not quality.</a:t>
            </a:r>
            <a:endParaRPr lang="en-US" sz="1700" dirty="0"/>
          </a:p>
        </p:txBody>
      </p:sp>
      <p:sp>
        <p:nvSpPr>
          <p:cNvPr id="4" name="Shape 2"/>
          <p:cNvSpPr/>
          <p:nvPr/>
        </p:nvSpPr>
        <p:spPr>
          <a:xfrm>
            <a:off x="548640" y="1920240"/>
            <a:ext cx="2606040" cy="3657600"/>
          </a:xfrm>
          <a:prstGeom prst="roundRect">
            <a:avLst>
              <a:gd name="adj" fmla="val 2807"/>
            </a:avLst>
          </a:prstGeom>
          <a:solidFill>
            <a:srgbClr val="13324F"/>
          </a:solidFill>
          <a:ln w="12700">
            <a:solidFill>
              <a:srgbClr val="13324F"/>
            </a:solidFill>
            <a:prstDash val="solid"/>
          </a:ln>
        </p:spPr>
      </p:sp>
      <p:sp>
        <p:nvSpPr>
          <p:cNvPr id="5" name="Text 3"/>
          <p:cNvSpPr/>
          <p:nvPr/>
        </p:nvSpPr>
        <p:spPr>
          <a:xfrm>
            <a:off x="548640" y="2029968"/>
            <a:ext cx="2606040" cy="1828800"/>
          </a:xfrm>
          <a:prstGeom prst="rect">
            <a:avLst/>
          </a:prstGeom>
          <a:noFill/>
          <a:ln/>
        </p:spPr>
        <p:txBody>
          <a:bodyPr wrap="square" lIns="0" tIns="0" rIns="0" bIns="0" rtlCol="0" anchor="ctr"/>
          <a:lstStyle/>
          <a:p>
            <a:pPr algn="ctr" indent="0" marL="0">
              <a:buNone/>
            </a:pPr>
            <a:r>
              <a:rPr lang="en-US" sz="4400" b="1" dirty="0">
                <a:solidFill>
                  <a:srgbClr val="FFFFFF"/>
                </a:solidFill>
                <a:latin typeface="Courier New" pitchFamily="34" charset="0"/>
                <a:ea typeface="Courier New" pitchFamily="34" charset="-122"/>
                <a:cs typeface="Courier New" pitchFamily="34" charset="-120"/>
              </a:rPr>
              <a:t>&lt;4</a:t>
            </a:r>
            <a:endParaRPr lang="en-US" sz="4400" dirty="0"/>
          </a:p>
        </p:txBody>
      </p:sp>
      <p:sp>
        <p:nvSpPr>
          <p:cNvPr id="6" name="Text 4"/>
          <p:cNvSpPr/>
          <p:nvPr/>
        </p:nvSpPr>
        <p:spPr>
          <a:xfrm>
            <a:off x="548640" y="4041648"/>
            <a:ext cx="2606040" cy="384048"/>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Keep it short</a:t>
            </a:r>
            <a:endParaRPr lang="en-US" sz="1700" dirty="0"/>
          </a:p>
        </p:txBody>
      </p:sp>
      <p:sp>
        <p:nvSpPr>
          <p:cNvPr id="7" name="Text 5"/>
          <p:cNvSpPr/>
          <p:nvPr/>
        </p:nvSpPr>
        <p:spPr>
          <a:xfrm>
            <a:off x="658368" y="4700016"/>
            <a:ext cx="2386584" cy="832104"/>
          </a:xfrm>
          <a:prstGeom prst="rect">
            <a:avLst/>
          </a:prstGeom>
          <a:noFill/>
          <a:ln/>
        </p:spPr>
        <p:txBody>
          <a:bodyPr wrap="square" lIns="0" tIns="0" rIns="0" bIns="0" rtlCol="0" anchor="ctr"/>
          <a:lstStyle/>
          <a:p>
            <a:pPr algn="ctr" indent="0" marL="0">
              <a:buNone/>
            </a:pPr>
            <a:r>
              <a:rPr lang="en-US" sz="1250" dirty="0">
                <a:solidFill>
                  <a:srgbClr val="C7D2DC"/>
                </a:solidFill>
                <a:latin typeface="Calibri" pitchFamily="34" charset="0"/>
                <a:ea typeface="Calibri" pitchFamily="34" charset="-122"/>
                <a:cs typeface="Calibri" pitchFamily="34" charset="-120"/>
              </a:rPr>
              <a:t>Three or four short paragraphs at most. Make the point early.</a:t>
            </a:r>
            <a:endParaRPr lang="en-US" sz="1250" dirty="0"/>
          </a:p>
        </p:txBody>
      </p:sp>
      <p:sp>
        <p:nvSpPr>
          <p:cNvPr id="8" name="Shape 6"/>
          <p:cNvSpPr/>
          <p:nvPr/>
        </p:nvSpPr>
        <p:spPr>
          <a:xfrm>
            <a:off x="3337560" y="1920240"/>
            <a:ext cx="2606040" cy="3657600"/>
          </a:xfrm>
          <a:prstGeom prst="roundRect">
            <a:avLst>
              <a:gd name="adj" fmla="val 2807"/>
            </a:avLst>
          </a:prstGeom>
          <a:solidFill>
            <a:srgbClr val="13324F"/>
          </a:solidFill>
          <a:ln w="12700">
            <a:solidFill>
              <a:srgbClr val="13324F"/>
            </a:solidFill>
            <a:prstDash val="solid"/>
          </a:ln>
        </p:spPr>
      </p:sp>
      <p:sp>
        <p:nvSpPr>
          <p:cNvPr id="9" name="Text 7"/>
          <p:cNvSpPr/>
          <p:nvPr/>
        </p:nvSpPr>
        <p:spPr>
          <a:xfrm>
            <a:off x="3337560" y="2029968"/>
            <a:ext cx="2606040" cy="1828800"/>
          </a:xfrm>
          <a:prstGeom prst="rect">
            <a:avLst/>
          </a:prstGeom>
          <a:noFill/>
          <a:ln/>
        </p:spPr>
        <p:txBody>
          <a:bodyPr wrap="square" lIns="0" tIns="0" rIns="0" bIns="0" rtlCol="0" anchor="ctr"/>
          <a:lstStyle/>
          <a:p>
            <a:pPr algn="ctr" indent="0" marL="0">
              <a:buNone/>
            </a:pPr>
            <a:r>
              <a:rPr lang="en-US" sz="4400" b="1" dirty="0">
                <a:solidFill>
                  <a:srgbClr val="FFFFFF"/>
                </a:solidFill>
                <a:latin typeface="Courier New" pitchFamily="34" charset="0"/>
                <a:ea typeface="Courier New" pitchFamily="34" charset="-122"/>
                <a:cs typeface="Courier New" pitchFamily="34" charset="-120"/>
              </a:rPr>
              <a:t>1</a:t>
            </a:r>
            <a:endParaRPr lang="en-US" sz="4400" dirty="0"/>
          </a:p>
        </p:txBody>
      </p:sp>
      <p:sp>
        <p:nvSpPr>
          <p:cNvPr id="10" name="Text 8"/>
          <p:cNvSpPr/>
          <p:nvPr/>
        </p:nvSpPr>
        <p:spPr>
          <a:xfrm>
            <a:off x="3337560" y="4041648"/>
            <a:ext cx="2606040" cy="384048"/>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One idea per sentence</a:t>
            </a:r>
            <a:endParaRPr lang="en-US" sz="1700" dirty="0"/>
          </a:p>
        </p:txBody>
      </p:sp>
      <p:sp>
        <p:nvSpPr>
          <p:cNvPr id="11" name="Text 9"/>
          <p:cNvSpPr/>
          <p:nvPr/>
        </p:nvSpPr>
        <p:spPr>
          <a:xfrm>
            <a:off x="3447288" y="4700016"/>
            <a:ext cx="2386584" cy="832104"/>
          </a:xfrm>
          <a:prstGeom prst="rect">
            <a:avLst/>
          </a:prstGeom>
          <a:noFill/>
          <a:ln/>
        </p:spPr>
        <p:txBody>
          <a:bodyPr wrap="square" lIns="0" tIns="0" rIns="0" bIns="0" rtlCol="0" anchor="ctr"/>
          <a:lstStyle/>
          <a:p>
            <a:pPr algn="ctr" indent="0" marL="0">
              <a:buNone/>
            </a:pPr>
            <a:r>
              <a:rPr lang="en-US" sz="1250" dirty="0">
                <a:solidFill>
                  <a:srgbClr val="C7D2DC"/>
                </a:solidFill>
                <a:latin typeface="Calibri" pitchFamily="34" charset="0"/>
                <a:ea typeface="Calibri" pitchFamily="34" charset="-122"/>
                <a:cs typeface="Calibri" pitchFamily="34" charset="-120"/>
              </a:rPr>
              <a:t>If you have to read your own sentence twice, so will your reader.</a:t>
            </a:r>
            <a:endParaRPr lang="en-US" sz="1250" dirty="0"/>
          </a:p>
        </p:txBody>
      </p:sp>
      <p:sp>
        <p:nvSpPr>
          <p:cNvPr id="12" name="Shape 10"/>
          <p:cNvSpPr/>
          <p:nvPr/>
        </p:nvSpPr>
        <p:spPr>
          <a:xfrm>
            <a:off x="6126480" y="1920240"/>
            <a:ext cx="2606040" cy="3657600"/>
          </a:xfrm>
          <a:prstGeom prst="roundRect">
            <a:avLst>
              <a:gd name="adj" fmla="val 2807"/>
            </a:avLst>
          </a:prstGeom>
          <a:solidFill>
            <a:srgbClr val="13324F"/>
          </a:solidFill>
          <a:ln w="12700">
            <a:solidFill>
              <a:srgbClr val="13324F"/>
            </a:solidFill>
            <a:prstDash val="solid"/>
          </a:ln>
        </p:spPr>
      </p:sp>
      <p:sp>
        <p:nvSpPr>
          <p:cNvPr id="13" name="Text 11"/>
          <p:cNvSpPr/>
          <p:nvPr/>
        </p:nvSpPr>
        <p:spPr>
          <a:xfrm>
            <a:off x="6126480" y="2029968"/>
            <a:ext cx="2606040" cy="1828800"/>
          </a:xfrm>
          <a:prstGeom prst="rect">
            <a:avLst/>
          </a:prstGeom>
          <a:noFill/>
          <a:ln/>
        </p:spPr>
        <p:txBody>
          <a:bodyPr wrap="square" lIns="0" tIns="0" rIns="0" bIns="0" rtlCol="0" anchor="ctr"/>
          <a:lstStyle/>
          <a:p>
            <a:pPr algn="ctr" indent="0" marL="0">
              <a:buNone/>
            </a:pPr>
            <a:r>
              <a:rPr lang="en-US" sz="4400" b="1" dirty="0">
                <a:solidFill>
                  <a:srgbClr val="FFFFFF"/>
                </a:solidFill>
                <a:latin typeface="Courier New" pitchFamily="34" charset="0"/>
                <a:ea typeface="Courier New" pitchFamily="34" charset="-122"/>
                <a:cs typeface="Courier New" pitchFamily="34" charset="-120"/>
              </a:rPr>
              <a:t>¶</a:t>
            </a:r>
            <a:endParaRPr lang="en-US" sz="4400" dirty="0"/>
          </a:p>
        </p:txBody>
      </p:sp>
      <p:sp>
        <p:nvSpPr>
          <p:cNvPr id="14" name="Text 12"/>
          <p:cNvSpPr/>
          <p:nvPr/>
        </p:nvSpPr>
        <p:spPr>
          <a:xfrm>
            <a:off x="6126480" y="4041648"/>
            <a:ext cx="2606040" cy="384048"/>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Make it scannable</a:t>
            </a:r>
            <a:endParaRPr lang="en-US" sz="1700" dirty="0"/>
          </a:p>
        </p:txBody>
      </p:sp>
      <p:sp>
        <p:nvSpPr>
          <p:cNvPr id="15" name="Text 13"/>
          <p:cNvSpPr/>
          <p:nvPr/>
        </p:nvSpPr>
        <p:spPr>
          <a:xfrm>
            <a:off x="6236208" y="4700016"/>
            <a:ext cx="2386584" cy="832104"/>
          </a:xfrm>
          <a:prstGeom prst="rect">
            <a:avLst/>
          </a:prstGeom>
          <a:noFill/>
          <a:ln/>
        </p:spPr>
        <p:txBody>
          <a:bodyPr wrap="square" lIns="0" tIns="0" rIns="0" bIns="0" rtlCol="0" anchor="ctr"/>
          <a:lstStyle/>
          <a:p>
            <a:pPr algn="ctr" indent="0" marL="0">
              <a:buNone/>
            </a:pPr>
            <a:r>
              <a:rPr lang="en-US" sz="1250" dirty="0">
                <a:solidFill>
                  <a:srgbClr val="C7D2DC"/>
                </a:solidFill>
                <a:latin typeface="Calibri" pitchFamily="34" charset="0"/>
                <a:ea typeface="Calibri" pitchFamily="34" charset="-122"/>
                <a:cs typeface="Calibri" pitchFamily="34" charset="-120"/>
              </a:rPr>
              <a:t>Blank line between paragraphs. A list when you have several points.</a:t>
            </a:r>
            <a:endParaRPr lang="en-US" sz="1250" dirty="0"/>
          </a:p>
        </p:txBody>
      </p:sp>
      <p:sp>
        <p:nvSpPr>
          <p:cNvPr id="16" name="Shape 14"/>
          <p:cNvSpPr/>
          <p:nvPr/>
        </p:nvSpPr>
        <p:spPr>
          <a:xfrm>
            <a:off x="8915400" y="1920240"/>
            <a:ext cx="2606040" cy="3657600"/>
          </a:xfrm>
          <a:prstGeom prst="roundRect">
            <a:avLst>
              <a:gd name="adj" fmla="val 2807"/>
            </a:avLst>
          </a:prstGeom>
          <a:solidFill>
            <a:srgbClr val="13324F"/>
          </a:solidFill>
          <a:ln w="12700">
            <a:solidFill>
              <a:srgbClr val="13324F"/>
            </a:solidFill>
            <a:prstDash val="solid"/>
          </a:ln>
        </p:spPr>
      </p:sp>
      <p:sp>
        <p:nvSpPr>
          <p:cNvPr id="17" name="Text 15"/>
          <p:cNvSpPr/>
          <p:nvPr/>
        </p:nvSpPr>
        <p:spPr>
          <a:xfrm>
            <a:off x="8915400" y="2029968"/>
            <a:ext cx="2606040" cy="1828800"/>
          </a:xfrm>
          <a:prstGeom prst="rect">
            <a:avLst/>
          </a:prstGeom>
          <a:noFill/>
          <a:ln/>
        </p:spPr>
        <p:txBody>
          <a:bodyPr wrap="square" lIns="0" tIns="0" rIns="0" bIns="0" rtlCol="0" anchor="ctr"/>
          <a:lstStyle/>
          <a:p>
            <a:pPr algn="ctr" indent="0" marL="0">
              <a:buNone/>
            </a:pPr>
            <a:r>
              <a:rPr lang="en-US" sz="4400" b="1" dirty="0">
                <a:solidFill>
                  <a:srgbClr val="FFFFFF"/>
                </a:solidFill>
                <a:latin typeface="Courier New" pitchFamily="34" charset="0"/>
                <a:ea typeface="Courier New" pitchFamily="34" charset="-122"/>
                <a:cs typeface="Courier New" pitchFamily="34" charset="-120"/>
              </a:rPr>
              <a:t>✓</a:t>
            </a:r>
            <a:endParaRPr lang="en-US" sz="4400" dirty="0"/>
          </a:p>
        </p:txBody>
      </p:sp>
      <p:sp>
        <p:nvSpPr>
          <p:cNvPr id="18" name="Text 16"/>
          <p:cNvSpPr/>
          <p:nvPr/>
        </p:nvSpPr>
        <p:spPr>
          <a:xfrm>
            <a:off x="8915400" y="4041648"/>
            <a:ext cx="2606040" cy="384048"/>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Proofread it</a:t>
            </a:r>
            <a:endParaRPr lang="en-US" sz="1700" dirty="0"/>
          </a:p>
        </p:txBody>
      </p:sp>
      <p:sp>
        <p:nvSpPr>
          <p:cNvPr id="19" name="Text 17"/>
          <p:cNvSpPr/>
          <p:nvPr/>
        </p:nvSpPr>
        <p:spPr>
          <a:xfrm>
            <a:off x="9025128" y="4700016"/>
            <a:ext cx="2386584" cy="832104"/>
          </a:xfrm>
          <a:prstGeom prst="rect">
            <a:avLst/>
          </a:prstGeom>
          <a:noFill/>
          <a:ln/>
        </p:spPr>
        <p:txBody>
          <a:bodyPr wrap="square" lIns="0" tIns="0" rIns="0" bIns="0" rtlCol="0" anchor="ctr"/>
          <a:lstStyle/>
          <a:p>
            <a:pPr algn="ctr" indent="0" marL="0">
              <a:buNone/>
            </a:pPr>
            <a:r>
              <a:rPr lang="en-US" sz="1250" dirty="0">
                <a:solidFill>
                  <a:srgbClr val="C7D2DC"/>
                </a:solidFill>
                <a:latin typeface="Calibri" pitchFamily="34" charset="0"/>
                <a:ea typeface="Calibri" pitchFamily="34" charset="-122"/>
                <a:cs typeface="Calibri" pitchFamily="34" charset="-120"/>
              </a:rPr>
              <a:t>Twenty seconds now beats a second email that starts 'sorry, I meant…'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Everyone can see everyone</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C7D2DC"/>
                </a:solidFill>
                <a:latin typeface="Calibri" pitchFamily="34" charset="0"/>
                <a:ea typeface="Calibri" pitchFamily="34" charset="-122"/>
                <a:cs typeface="Calibri" pitchFamily="34" charset="-120"/>
              </a:rPr>
              <a:t>To, Cc, and Bcc decide who gets the email and who knows who else got it.</a:t>
            </a:r>
            <a:endParaRPr lang="en-US" sz="1700" dirty="0"/>
          </a:p>
        </p:txBody>
      </p:sp>
      <p:sp>
        <p:nvSpPr>
          <p:cNvPr id="4" name="Shape 2"/>
          <p:cNvSpPr/>
          <p:nvPr/>
        </p:nvSpPr>
        <p:spPr>
          <a:xfrm>
            <a:off x="548640" y="1920240"/>
            <a:ext cx="3566160" cy="2377440"/>
          </a:xfrm>
          <a:prstGeom prst="roundRect">
            <a:avLst>
              <a:gd name="adj" fmla="val 3077"/>
            </a:avLst>
          </a:prstGeom>
          <a:solidFill>
            <a:srgbClr val="13324F"/>
          </a:solidFill>
          <a:ln w="12700">
            <a:solidFill>
              <a:srgbClr val="13324F"/>
            </a:solidFill>
            <a:prstDash val="solid"/>
          </a:ln>
        </p:spPr>
      </p:sp>
      <p:sp>
        <p:nvSpPr>
          <p:cNvPr id="5" name="Text 3"/>
          <p:cNvSpPr/>
          <p:nvPr/>
        </p:nvSpPr>
        <p:spPr>
          <a:xfrm>
            <a:off x="548640" y="2029968"/>
            <a:ext cx="356616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To</a:t>
            </a:r>
            <a:endParaRPr lang="en-US" sz="4000" dirty="0"/>
          </a:p>
        </p:txBody>
      </p:sp>
      <p:sp>
        <p:nvSpPr>
          <p:cNvPr id="6" name="Text 4"/>
          <p:cNvSpPr/>
          <p:nvPr/>
        </p:nvSpPr>
        <p:spPr>
          <a:xfrm>
            <a:off x="548640" y="3299155"/>
            <a:ext cx="3566160" cy="384048"/>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The person you're writing to</a:t>
            </a:r>
            <a:endParaRPr lang="en-US" sz="1600" dirty="0"/>
          </a:p>
        </p:txBody>
      </p:sp>
      <p:sp>
        <p:nvSpPr>
          <p:cNvPr id="7" name="Text 5"/>
          <p:cNvSpPr/>
          <p:nvPr/>
        </p:nvSpPr>
        <p:spPr>
          <a:xfrm>
            <a:off x="658368" y="3727094"/>
            <a:ext cx="3346704" cy="524866"/>
          </a:xfrm>
          <a:prstGeom prst="rect">
            <a:avLst/>
          </a:prstGeom>
          <a:noFill/>
          <a:ln/>
        </p:spPr>
        <p:txBody>
          <a:bodyPr wrap="square" lIns="0" tIns="0" rIns="0" bIns="0" rtlCol="0" anchor="ctr"/>
          <a:lstStyle/>
          <a:p>
            <a:pPr algn="ctr" indent="0" marL="0">
              <a:buNone/>
            </a:pPr>
            <a:r>
              <a:rPr lang="en-US" sz="1250" dirty="0">
                <a:solidFill>
                  <a:srgbClr val="C7D2DC"/>
                </a:solidFill>
                <a:latin typeface="Calibri" pitchFamily="34" charset="0"/>
                <a:ea typeface="Calibri" pitchFamily="34" charset="-122"/>
                <a:cs typeface="Calibri" pitchFamily="34" charset="-120"/>
              </a:rPr>
              <a:t>They're expected to act or reply.</a:t>
            </a:r>
            <a:endParaRPr lang="en-US" sz="1250" dirty="0"/>
          </a:p>
        </p:txBody>
      </p:sp>
      <p:sp>
        <p:nvSpPr>
          <p:cNvPr id="8" name="Shape 6"/>
          <p:cNvSpPr/>
          <p:nvPr/>
        </p:nvSpPr>
        <p:spPr>
          <a:xfrm>
            <a:off x="4315968" y="1920240"/>
            <a:ext cx="3566160" cy="2377440"/>
          </a:xfrm>
          <a:prstGeom prst="roundRect">
            <a:avLst>
              <a:gd name="adj" fmla="val 3077"/>
            </a:avLst>
          </a:prstGeom>
          <a:solidFill>
            <a:srgbClr val="13324F"/>
          </a:solidFill>
          <a:ln w="12700">
            <a:solidFill>
              <a:srgbClr val="13324F"/>
            </a:solidFill>
            <a:prstDash val="solid"/>
          </a:ln>
        </p:spPr>
      </p:sp>
      <p:sp>
        <p:nvSpPr>
          <p:cNvPr id="9" name="Text 7"/>
          <p:cNvSpPr/>
          <p:nvPr/>
        </p:nvSpPr>
        <p:spPr>
          <a:xfrm>
            <a:off x="4315968" y="2029968"/>
            <a:ext cx="356616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Cc</a:t>
            </a:r>
            <a:endParaRPr lang="en-US" sz="4000" dirty="0"/>
          </a:p>
        </p:txBody>
      </p:sp>
      <p:sp>
        <p:nvSpPr>
          <p:cNvPr id="10" name="Text 8"/>
          <p:cNvSpPr/>
          <p:nvPr/>
        </p:nvSpPr>
        <p:spPr>
          <a:xfrm>
            <a:off x="4315968" y="3299155"/>
            <a:ext cx="3566160" cy="384048"/>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Kept in the loop</a:t>
            </a:r>
            <a:endParaRPr lang="en-US" sz="1600" dirty="0"/>
          </a:p>
        </p:txBody>
      </p:sp>
      <p:sp>
        <p:nvSpPr>
          <p:cNvPr id="11" name="Text 9"/>
          <p:cNvSpPr/>
          <p:nvPr/>
        </p:nvSpPr>
        <p:spPr>
          <a:xfrm>
            <a:off x="4425696" y="3727094"/>
            <a:ext cx="3346704" cy="524866"/>
          </a:xfrm>
          <a:prstGeom prst="rect">
            <a:avLst/>
          </a:prstGeom>
          <a:noFill/>
          <a:ln/>
        </p:spPr>
        <p:txBody>
          <a:bodyPr wrap="square" lIns="0" tIns="0" rIns="0" bIns="0" rtlCol="0" anchor="ctr"/>
          <a:lstStyle/>
          <a:p>
            <a:pPr algn="ctr" indent="0" marL="0">
              <a:buNone/>
            </a:pPr>
            <a:r>
              <a:rPr lang="en-US" sz="1250" dirty="0">
                <a:solidFill>
                  <a:srgbClr val="C7D2DC"/>
                </a:solidFill>
                <a:latin typeface="Calibri" pitchFamily="34" charset="0"/>
                <a:ea typeface="Calibri" pitchFamily="34" charset="-122"/>
                <a:cs typeface="Calibri" pitchFamily="34" charset="-120"/>
              </a:rPr>
              <a:t>Everyone on the email can see they got it.</a:t>
            </a:r>
            <a:endParaRPr lang="en-US" sz="1250" dirty="0"/>
          </a:p>
        </p:txBody>
      </p:sp>
      <p:sp>
        <p:nvSpPr>
          <p:cNvPr id="12" name="Shape 10"/>
          <p:cNvSpPr/>
          <p:nvPr/>
        </p:nvSpPr>
        <p:spPr>
          <a:xfrm>
            <a:off x="8083296" y="1920240"/>
            <a:ext cx="3566160" cy="2377440"/>
          </a:xfrm>
          <a:prstGeom prst="roundRect">
            <a:avLst>
              <a:gd name="adj" fmla="val 3077"/>
            </a:avLst>
          </a:prstGeom>
          <a:solidFill>
            <a:srgbClr val="13324F"/>
          </a:solidFill>
          <a:ln w="12700">
            <a:solidFill>
              <a:srgbClr val="13324F"/>
            </a:solidFill>
            <a:prstDash val="solid"/>
          </a:ln>
        </p:spPr>
      </p:sp>
      <p:sp>
        <p:nvSpPr>
          <p:cNvPr id="13" name="Text 11"/>
          <p:cNvSpPr/>
          <p:nvPr/>
        </p:nvSpPr>
        <p:spPr>
          <a:xfrm>
            <a:off x="8083296" y="2029968"/>
            <a:ext cx="356616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Bcc</a:t>
            </a:r>
            <a:endParaRPr lang="en-US" sz="4000" dirty="0"/>
          </a:p>
        </p:txBody>
      </p:sp>
      <p:sp>
        <p:nvSpPr>
          <p:cNvPr id="14" name="Text 12"/>
          <p:cNvSpPr/>
          <p:nvPr/>
        </p:nvSpPr>
        <p:spPr>
          <a:xfrm>
            <a:off x="8083296" y="3299155"/>
            <a:ext cx="3566160" cy="384048"/>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Gets it quietly</a:t>
            </a:r>
            <a:endParaRPr lang="en-US" sz="1600" dirty="0"/>
          </a:p>
        </p:txBody>
      </p:sp>
      <p:sp>
        <p:nvSpPr>
          <p:cNvPr id="15" name="Text 13"/>
          <p:cNvSpPr/>
          <p:nvPr/>
        </p:nvSpPr>
        <p:spPr>
          <a:xfrm>
            <a:off x="8193024" y="3727094"/>
            <a:ext cx="3346704" cy="524866"/>
          </a:xfrm>
          <a:prstGeom prst="rect">
            <a:avLst/>
          </a:prstGeom>
          <a:noFill/>
          <a:ln/>
        </p:spPr>
        <p:txBody>
          <a:bodyPr wrap="square" lIns="0" tIns="0" rIns="0" bIns="0" rtlCol="0" anchor="ctr"/>
          <a:lstStyle/>
          <a:p>
            <a:pPr algn="ctr" indent="0" marL="0">
              <a:buNone/>
            </a:pPr>
            <a:r>
              <a:rPr lang="en-US" sz="1250" dirty="0">
                <a:solidFill>
                  <a:srgbClr val="C7D2DC"/>
                </a:solidFill>
                <a:latin typeface="Calibri" pitchFamily="34" charset="0"/>
                <a:ea typeface="Calibri" pitchFamily="34" charset="-122"/>
                <a:cs typeface="Calibri" pitchFamily="34" charset="-120"/>
              </a:rPr>
              <a:t>Nobody else can see they got it.</a:t>
            </a:r>
            <a:endParaRPr lang="en-US" sz="1250" dirty="0"/>
          </a:p>
        </p:txBody>
      </p:sp>
      <p:sp>
        <p:nvSpPr>
          <p:cNvPr id="16" name="Shape 14"/>
          <p:cNvSpPr/>
          <p:nvPr/>
        </p:nvSpPr>
        <p:spPr>
          <a:xfrm>
            <a:off x="548640" y="4572000"/>
            <a:ext cx="11100816" cy="1417320"/>
          </a:xfrm>
          <a:prstGeom prst="roundRect">
            <a:avLst>
              <a:gd name="adj" fmla="val 5161"/>
            </a:avLst>
          </a:prstGeom>
          <a:solidFill>
            <a:srgbClr val="13324F"/>
          </a:solidFill>
          <a:ln w="12700">
            <a:solidFill>
              <a:srgbClr val="13324F"/>
            </a:solidFill>
            <a:prstDash val="solid"/>
          </a:ln>
        </p:spPr>
      </p:sp>
      <p:sp>
        <p:nvSpPr>
          <p:cNvPr id="17" name="Text 15"/>
          <p:cNvSpPr/>
          <p:nvPr/>
        </p:nvSpPr>
        <p:spPr>
          <a:xfrm>
            <a:off x="822960" y="4681728"/>
            <a:ext cx="10515600" cy="365760"/>
          </a:xfrm>
          <a:prstGeom prst="rect">
            <a:avLst/>
          </a:prstGeom>
          <a:noFill/>
          <a:ln/>
        </p:spPr>
        <p:txBody>
          <a:bodyPr wrap="square" lIns="0" tIns="0" rIns="0" bIns="0" rtlCol="0" anchor="ctr"/>
          <a:lstStyle/>
          <a:p>
            <a:pPr indent="0" marL="0">
              <a:buNone/>
            </a:pPr>
            <a:r>
              <a:rPr lang="en-US" sz="1700" b="1" dirty="0">
                <a:solidFill>
                  <a:srgbClr val="F4B740"/>
                </a:solidFill>
                <a:latin typeface="Calibri" pitchFamily="34" charset="0"/>
                <a:ea typeface="Calibri" pitchFamily="34" charset="-122"/>
                <a:cs typeface="Calibri" pitchFamily="34" charset="-120"/>
              </a:rPr>
              <a:t>What never goes in an email</a:t>
            </a:r>
            <a:endParaRPr lang="en-US" sz="1700" dirty="0"/>
          </a:p>
        </p:txBody>
      </p:sp>
      <p:sp>
        <p:nvSpPr>
          <p:cNvPr id="18" name="Text 16"/>
          <p:cNvSpPr/>
          <p:nvPr/>
        </p:nvSpPr>
        <p:spPr>
          <a:xfrm>
            <a:off x="822960" y="5074920"/>
            <a:ext cx="10515600" cy="822960"/>
          </a:xfrm>
          <a:prstGeom prst="rect">
            <a:avLst/>
          </a:prstGeom>
          <a:noFill/>
          <a:ln/>
        </p:spPr>
        <p:txBody>
          <a:bodyPr wrap="square" lIns="0" tIns="0" rIns="0" bIns="0" rtlCol="0" anchor="ctr"/>
          <a:lstStyle/>
          <a:p>
            <a:pPr indent="0" marL="0">
              <a:buNone/>
            </a:pPr>
            <a:r>
              <a:rPr lang="en-US" sz="1500" dirty="0">
                <a:solidFill>
                  <a:srgbClr val="E4EAF0"/>
                </a:solidFill>
                <a:latin typeface="Calibri" pitchFamily="34" charset="0"/>
                <a:ea typeface="Calibri" pitchFamily="34" charset="-122"/>
                <a:cs typeface="Calibri" pitchFamily="34" charset="-120"/>
              </a:rPr>
              <a:t>Passwords. Account numbers. Anything you wouldn't want forwarded, printed, or left open on a screen. Assume every email will be.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Your turn — fix this email</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Find five problems before I show the fixed version.</a:t>
            </a:r>
            <a:endParaRPr lang="en-US" sz="1700" dirty="0"/>
          </a:p>
        </p:txBody>
      </p:sp>
      <p:sp>
        <p:nvSpPr>
          <p:cNvPr id="4" name="Shape 2"/>
          <p:cNvSpPr/>
          <p:nvPr/>
        </p:nvSpPr>
        <p:spPr>
          <a:xfrm>
            <a:off x="548640" y="1828800"/>
            <a:ext cx="5394960" cy="3657600"/>
          </a:xfrm>
          <a:prstGeom prst="roundRect">
            <a:avLst>
              <a:gd name="adj" fmla="val 2000"/>
            </a:avLst>
          </a:prstGeom>
          <a:solidFill>
            <a:srgbClr val="FDF0D5"/>
          </a:solidFill>
          <a:ln w="12700">
            <a:solidFill>
              <a:srgbClr val="F4B740"/>
            </a:solidFill>
            <a:prstDash val="solid"/>
          </a:ln>
        </p:spPr>
      </p:sp>
      <p:sp>
        <p:nvSpPr>
          <p:cNvPr id="5" name="Text 3"/>
          <p:cNvSpPr/>
          <p:nvPr/>
        </p:nvSpPr>
        <p:spPr>
          <a:xfrm>
            <a:off x="777240" y="2011680"/>
            <a:ext cx="4937760" cy="3291840"/>
          </a:xfrm>
          <a:prstGeom prst="rect">
            <a:avLst/>
          </a:prstGeom>
          <a:noFill/>
          <a:ln/>
        </p:spPr>
        <p:txBody>
          <a:bodyPr wrap="square" lIns="0" tIns="0" rIns="0" bIns="0" rtlCol="0" anchor="t"/>
          <a:lstStyle/>
          <a:p>
            <a:pPr indent="0" marL="0">
              <a:spcAft>
                <a:spcPts val="600"/>
              </a:spcAft>
              <a:buNone/>
            </a:pPr>
            <a:r>
              <a:rPr lang="en-US" sz="1400" b="1" dirty="0">
                <a:solidFill>
                  <a:srgbClr val="D9534F"/>
                </a:solidFill>
                <a:latin typeface="Calibri" pitchFamily="34" charset="0"/>
                <a:ea typeface="Calibri" pitchFamily="34" charset="-122"/>
                <a:cs typeface="Calibri" pitchFamily="34" charset="-120"/>
              </a:rPr>
              <a:t>Subject: (none)</a:t>
            </a:r>
            <a:endParaRPr lang="en-US" sz="1400" dirty="0"/>
          </a:p>
          <a:p>
            <a:pPr indent="0" marL="0">
              <a:spcAft>
                <a:spcPts val="600"/>
              </a:spcAft>
              <a:buNone/>
            </a:pPr>
            <a:r>
              <a:rPr lang="en-US" sz="1400" dirty="0">
                <a:solidFill>
                  <a:srgbClr val="0A1F33"/>
                </a:solidFill>
                <a:latin typeface="Calibri" pitchFamily="34" charset="0"/>
                <a:ea typeface="Calibri" pitchFamily="34" charset="-122"/>
                <a:cs typeface="Calibri" pitchFamily="34" charset="-120"/>
              </a:rPr>
              <a:t> </a:t>
            </a:r>
            <a:endParaRPr lang="en-US" sz="1400" dirty="0"/>
          </a:p>
          <a:p>
            <a:pPr indent="0" marL="0">
              <a:spcAft>
                <a:spcPts val="600"/>
              </a:spcAft>
              <a:buNone/>
            </a:pPr>
            <a:r>
              <a:rPr lang="en-US" sz="1400" dirty="0">
                <a:solidFill>
                  <a:srgbClr val="0A1F33"/>
                </a:solidFill>
                <a:latin typeface="Calibri" pitchFamily="34" charset="0"/>
                <a:ea typeface="Calibri" pitchFamily="34" charset="-122"/>
                <a:cs typeface="Calibri" pitchFamily="34" charset="-120"/>
              </a:rPr>
              <a:t>hey i wasnt here yesterday what did i miss and can i turn in the thing late bc i didnt know about it also my chromebook is being weird lol thx</a:t>
            </a:r>
            <a:endParaRPr lang="en-US" sz="1400" dirty="0"/>
          </a:p>
        </p:txBody>
      </p:sp>
      <p:sp>
        <p:nvSpPr>
          <p:cNvPr id="6" name="Shape 4"/>
          <p:cNvSpPr/>
          <p:nvPr/>
        </p:nvSpPr>
        <p:spPr>
          <a:xfrm>
            <a:off x="6263640" y="1828800"/>
            <a:ext cx="5394960" cy="3657600"/>
          </a:xfrm>
          <a:prstGeom prst="roundRect">
            <a:avLst>
              <a:gd name="adj" fmla="val 2000"/>
            </a:avLst>
          </a:prstGeom>
          <a:solidFill>
            <a:srgbClr val="DFF6EA"/>
          </a:solidFill>
          <a:ln w="12700">
            <a:solidFill>
              <a:srgbClr val="3DDC84"/>
            </a:solidFill>
            <a:prstDash val="solid"/>
          </a:ln>
        </p:spPr>
      </p:sp>
      <p:sp>
        <p:nvSpPr>
          <p:cNvPr id="7" name="Text 5"/>
          <p:cNvSpPr/>
          <p:nvPr/>
        </p:nvSpPr>
        <p:spPr>
          <a:xfrm>
            <a:off x="6492240" y="2011680"/>
            <a:ext cx="4937760" cy="3291840"/>
          </a:xfrm>
          <a:prstGeom prst="rect">
            <a:avLst/>
          </a:prstGeom>
          <a:noFill/>
          <a:ln/>
        </p:spPr>
        <p:txBody>
          <a:bodyPr wrap="square" lIns="0" tIns="0" rIns="0" bIns="0" rtlCol="0" anchor="t"/>
          <a:lstStyle/>
          <a:p>
            <a:pPr indent="0" marL="0">
              <a:spcAft>
                <a:spcPts val="600"/>
              </a:spcAft>
              <a:buNone/>
            </a:pPr>
            <a:r>
              <a:rPr lang="en-US" sz="1250" b="1" dirty="0">
                <a:solidFill>
                  <a:srgbClr val="0A1F33"/>
                </a:solidFill>
                <a:latin typeface="Calibri" pitchFamily="34" charset="0"/>
                <a:ea typeface="Calibri" pitchFamily="34" charset="-122"/>
                <a:cs typeface="Calibri" pitchFamily="34" charset="-120"/>
              </a:rPr>
              <a:t>Subject: Missed Work from Tuesday - Jordan Smith</a:t>
            </a:r>
            <a:endParaRPr lang="en-US" sz="1250" dirty="0"/>
          </a:p>
          <a:p>
            <a:pPr indent="0" marL="0">
              <a:spcAft>
                <a:spcPts val="600"/>
              </a:spcAft>
              <a:buNone/>
            </a:pPr>
            <a:r>
              <a:rPr lang="en-US" sz="1250" dirty="0">
                <a:solidFill>
                  <a:srgbClr val="0A1F33"/>
                </a:solidFill>
                <a:latin typeface="Calibri" pitchFamily="34" charset="0"/>
                <a:ea typeface="Calibri" pitchFamily="34" charset="-122"/>
                <a:cs typeface="Calibri" pitchFamily="34" charset="-120"/>
              </a:rPr>
              <a:t> </a:t>
            </a:r>
            <a:endParaRPr lang="en-US" sz="1250" dirty="0"/>
          </a:p>
          <a:p>
            <a:pPr indent="0" marL="0">
              <a:spcAft>
                <a:spcPts val="600"/>
              </a:spcAft>
              <a:buNone/>
            </a:pPr>
            <a:r>
              <a:rPr lang="en-US" sz="1250" dirty="0">
                <a:solidFill>
                  <a:srgbClr val="0A1F33"/>
                </a:solidFill>
                <a:latin typeface="Calibri" pitchFamily="34" charset="0"/>
                <a:ea typeface="Calibri" pitchFamily="34" charset="-122"/>
                <a:cs typeface="Calibri" pitchFamily="34" charset="-120"/>
              </a:rPr>
              <a:t>Hello Mr. Willis,</a:t>
            </a:r>
            <a:endParaRPr lang="en-US" sz="1250" dirty="0"/>
          </a:p>
          <a:p>
            <a:pPr indent="0" marL="0">
              <a:spcAft>
                <a:spcPts val="600"/>
              </a:spcAft>
              <a:buNone/>
            </a:pPr>
            <a:r>
              <a:rPr lang="en-US" sz="1250" dirty="0">
                <a:solidFill>
                  <a:srgbClr val="0A1F33"/>
                </a:solidFill>
                <a:latin typeface="Calibri" pitchFamily="34" charset="0"/>
                <a:ea typeface="Calibri" pitchFamily="34" charset="-122"/>
                <a:cs typeface="Calibri" pitchFamily="34" charset="-120"/>
              </a:rPr>
              <a:t> </a:t>
            </a:r>
            <a:endParaRPr lang="en-US" sz="1250" dirty="0"/>
          </a:p>
          <a:p>
            <a:pPr indent="0" marL="0">
              <a:spcAft>
                <a:spcPts val="600"/>
              </a:spcAft>
              <a:buNone/>
            </a:pPr>
            <a:r>
              <a:rPr lang="en-US" sz="1250" dirty="0">
                <a:solidFill>
                  <a:srgbClr val="0A1F33"/>
                </a:solidFill>
                <a:latin typeface="Calibri" pitchFamily="34" charset="0"/>
                <a:ea typeface="Calibri" pitchFamily="34" charset="-122"/>
                <a:cs typeface="Calibri" pitchFamily="34" charset="-120"/>
              </a:rPr>
              <a:t>I was absent Tuesday. Could you tell me which assignments I missed, and whether I may turn in the lab late?</a:t>
            </a:r>
            <a:endParaRPr lang="en-US" sz="1250" dirty="0"/>
          </a:p>
          <a:p>
            <a:pPr indent="0" marL="0">
              <a:spcAft>
                <a:spcPts val="600"/>
              </a:spcAft>
              <a:buNone/>
            </a:pPr>
            <a:r>
              <a:rPr lang="en-US" sz="1250" dirty="0">
                <a:solidFill>
                  <a:srgbClr val="0A1F33"/>
                </a:solidFill>
                <a:latin typeface="Calibri" pitchFamily="34" charset="0"/>
                <a:ea typeface="Calibri" pitchFamily="34" charset="-122"/>
                <a:cs typeface="Calibri" pitchFamily="34" charset="-120"/>
              </a:rPr>
              <a:t> </a:t>
            </a:r>
            <a:endParaRPr lang="en-US" sz="1250" dirty="0"/>
          </a:p>
          <a:p>
            <a:pPr indent="0" marL="0">
              <a:spcAft>
                <a:spcPts val="600"/>
              </a:spcAft>
              <a:buNone/>
            </a:pPr>
            <a:r>
              <a:rPr lang="en-US" sz="1250" dirty="0">
                <a:solidFill>
                  <a:srgbClr val="0A1F33"/>
                </a:solidFill>
                <a:latin typeface="Calibri" pitchFamily="34" charset="0"/>
                <a:ea typeface="Calibri" pitchFamily="34" charset="-122"/>
                <a:cs typeface="Calibri" pitchFamily="34" charset="-120"/>
              </a:rPr>
              <a:t>My Chromebook also won't open Google Classroom. I'll bring it by after class.</a:t>
            </a:r>
            <a:endParaRPr lang="en-US" sz="1250" dirty="0"/>
          </a:p>
          <a:p>
            <a:pPr indent="0" marL="0">
              <a:spcAft>
                <a:spcPts val="600"/>
              </a:spcAft>
              <a:buNone/>
            </a:pPr>
            <a:r>
              <a:rPr lang="en-US" sz="1250" dirty="0">
                <a:solidFill>
                  <a:srgbClr val="0A1F33"/>
                </a:solidFill>
                <a:latin typeface="Calibri" pitchFamily="34" charset="0"/>
                <a:ea typeface="Calibri" pitchFamily="34" charset="-122"/>
                <a:cs typeface="Calibri" pitchFamily="34" charset="-120"/>
              </a:rPr>
              <a:t> </a:t>
            </a:r>
            <a:endParaRPr lang="en-US" sz="1250" dirty="0"/>
          </a:p>
          <a:p>
            <a:pPr indent="0" marL="0">
              <a:spcAft>
                <a:spcPts val="600"/>
              </a:spcAft>
              <a:buNone/>
            </a:pPr>
            <a:r>
              <a:rPr lang="en-US" sz="1250" dirty="0">
                <a:solidFill>
                  <a:srgbClr val="0A1F33"/>
                </a:solidFill>
                <a:latin typeface="Calibri" pitchFamily="34" charset="0"/>
                <a:ea typeface="Calibri" pitchFamily="34" charset="-122"/>
                <a:cs typeface="Calibri" pitchFamily="34" charset="-120"/>
              </a:rPr>
              <a:t>Thank you,</a:t>
            </a:r>
            <a:endParaRPr lang="en-US" sz="1250" dirty="0"/>
          </a:p>
          <a:p>
            <a:pPr indent="0" marL="0">
              <a:spcAft>
                <a:spcPts val="600"/>
              </a:spcAft>
              <a:buNone/>
            </a:pPr>
            <a:r>
              <a:rPr lang="en-US" sz="1250" dirty="0">
                <a:solidFill>
                  <a:srgbClr val="0A1F33"/>
                </a:solidFill>
                <a:latin typeface="Calibri" pitchFamily="34" charset="0"/>
                <a:ea typeface="Calibri" pitchFamily="34" charset="-122"/>
                <a:cs typeface="Calibri" pitchFamily="34" charset="-120"/>
              </a:rPr>
              <a:t>Jordan Smith</a:t>
            </a:r>
            <a:endParaRPr lang="en-US" sz="1250" dirty="0"/>
          </a:p>
        </p:txBody>
      </p:sp>
      <p:sp>
        <p:nvSpPr>
          <p:cNvPr id="8" name="Text 6"/>
          <p:cNvSpPr/>
          <p:nvPr/>
        </p:nvSpPr>
        <p:spPr>
          <a:xfrm>
            <a:off x="548640" y="5760720"/>
            <a:ext cx="11064240" cy="365760"/>
          </a:xfrm>
          <a:prstGeom prst="rect">
            <a:avLst/>
          </a:prstGeom>
          <a:noFill/>
          <a:ln/>
        </p:spPr>
        <p:txBody>
          <a:bodyPr wrap="square" lIns="0" tIns="0" rIns="0" bIns="0" rtlCol="0" anchor="ctr"/>
          <a:lstStyle/>
          <a:p>
            <a:pPr algn="ctr" indent="0" marL="0">
              <a:buNone/>
            </a:pPr>
            <a:r>
              <a:rPr lang="en-US" sz="1100" dirty="0">
                <a:solidFill>
                  <a:srgbClr val="5A6B7B"/>
                </a:solidFill>
                <a:latin typeface="Courier New" pitchFamily="34" charset="0"/>
                <a:ea typeface="Courier New" pitchFamily="34" charset="-122"/>
                <a:cs typeface="Courier New" pitchFamily="34" charset="-120"/>
              </a:rPr>
              <a:t>no subject  ·  "hey"  ·  one block of text  ·  text-speak and no capitals  ·  no name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One email a week</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Each lab adds one skill. Read it on the wiki, write it, send it to me.</a:t>
            </a:r>
            <a:endParaRPr lang="en-US" sz="1700" dirty="0"/>
          </a:p>
        </p:txBody>
      </p:sp>
      <p:sp>
        <p:nvSpPr>
          <p:cNvPr id="4" name="Shape 2"/>
          <p:cNvSpPr/>
          <p:nvPr/>
        </p:nvSpPr>
        <p:spPr>
          <a:xfrm>
            <a:off x="548640" y="1920240"/>
            <a:ext cx="1005840" cy="1005840"/>
          </a:xfrm>
          <a:prstGeom prst="roundRect">
            <a:avLst>
              <a:gd name="adj" fmla="val 7273"/>
            </a:avLst>
          </a:prstGeom>
          <a:solidFill>
            <a:srgbClr val="3DDC84"/>
          </a:solidFill>
          <a:ln/>
        </p:spPr>
      </p:sp>
      <p:sp>
        <p:nvSpPr>
          <p:cNvPr id="5" name="Text 3"/>
          <p:cNvSpPr/>
          <p:nvPr/>
        </p:nvSpPr>
        <p:spPr>
          <a:xfrm>
            <a:off x="548640" y="1920240"/>
            <a:ext cx="1005840" cy="1005840"/>
          </a:xfrm>
          <a:prstGeom prst="rect">
            <a:avLst/>
          </a:prstGeom>
          <a:noFill/>
          <a:ln/>
        </p:spPr>
        <p:txBody>
          <a:bodyPr wrap="square" lIns="0" tIns="0" rIns="0" bIns="0" rtlCol="0" anchor="ctr"/>
          <a:lstStyle/>
          <a:p>
            <a:pPr algn="ctr" indent="0" marL="0">
              <a:buNone/>
            </a:pPr>
            <a:r>
              <a:rPr lang="en-US" sz="1300" b="1" dirty="0">
                <a:solidFill>
                  <a:srgbClr val="0A1F33"/>
                </a:solidFill>
                <a:latin typeface="Calibri" pitchFamily="34" charset="0"/>
                <a:ea typeface="Calibri" pitchFamily="34" charset="-122"/>
                <a:cs typeface="Calibri" pitchFamily="34" charset="-120"/>
              </a:rPr>
              <a:t>format</a:t>
            </a:r>
            <a:endParaRPr lang="en-US" sz="1300" dirty="0"/>
          </a:p>
        </p:txBody>
      </p:sp>
      <p:sp>
        <p:nvSpPr>
          <p:cNvPr id="6" name="Shape 4"/>
          <p:cNvSpPr/>
          <p:nvPr/>
        </p:nvSpPr>
        <p:spPr>
          <a:xfrm>
            <a:off x="1659636" y="1920240"/>
            <a:ext cx="1005840" cy="1005840"/>
          </a:xfrm>
          <a:prstGeom prst="roundRect">
            <a:avLst>
              <a:gd name="adj" fmla="val 7273"/>
            </a:avLst>
          </a:prstGeom>
          <a:solidFill>
            <a:srgbClr val="13324F"/>
          </a:solidFill>
          <a:ln/>
        </p:spPr>
      </p:sp>
      <p:sp>
        <p:nvSpPr>
          <p:cNvPr id="7" name="Text 5"/>
          <p:cNvSpPr/>
          <p:nvPr/>
        </p:nvSpPr>
        <p:spPr>
          <a:xfrm>
            <a:off x="1659636" y="1920240"/>
            <a:ext cx="100584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tone</a:t>
            </a:r>
            <a:endParaRPr lang="en-US" sz="1300" dirty="0"/>
          </a:p>
        </p:txBody>
      </p:sp>
      <p:sp>
        <p:nvSpPr>
          <p:cNvPr id="8" name="Shape 6"/>
          <p:cNvSpPr/>
          <p:nvPr/>
        </p:nvSpPr>
        <p:spPr>
          <a:xfrm>
            <a:off x="2770632" y="1920240"/>
            <a:ext cx="1005840" cy="1005840"/>
          </a:xfrm>
          <a:prstGeom prst="roundRect">
            <a:avLst>
              <a:gd name="adj" fmla="val 7273"/>
            </a:avLst>
          </a:prstGeom>
          <a:solidFill>
            <a:srgbClr val="13324F"/>
          </a:solidFill>
          <a:ln/>
        </p:spPr>
      </p:sp>
      <p:sp>
        <p:nvSpPr>
          <p:cNvPr id="9" name="Text 7"/>
          <p:cNvSpPr/>
          <p:nvPr/>
        </p:nvSpPr>
        <p:spPr>
          <a:xfrm>
            <a:off x="2770632" y="1920240"/>
            <a:ext cx="100584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paragraphs</a:t>
            </a:r>
            <a:endParaRPr lang="en-US" sz="1300" dirty="0"/>
          </a:p>
        </p:txBody>
      </p:sp>
      <p:sp>
        <p:nvSpPr>
          <p:cNvPr id="10" name="Shape 8"/>
          <p:cNvSpPr/>
          <p:nvPr/>
        </p:nvSpPr>
        <p:spPr>
          <a:xfrm>
            <a:off x="3881628" y="1920240"/>
            <a:ext cx="1005840" cy="1005840"/>
          </a:xfrm>
          <a:prstGeom prst="roundRect">
            <a:avLst>
              <a:gd name="adj" fmla="val 7273"/>
            </a:avLst>
          </a:prstGeom>
          <a:solidFill>
            <a:srgbClr val="13324F"/>
          </a:solidFill>
          <a:ln/>
        </p:spPr>
      </p:sp>
      <p:sp>
        <p:nvSpPr>
          <p:cNvPr id="11" name="Text 9"/>
          <p:cNvSpPr/>
          <p:nvPr/>
        </p:nvSpPr>
        <p:spPr>
          <a:xfrm>
            <a:off x="3881628" y="1920240"/>
            <a:ext cx="100584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reply</a:t>
            </a:r>
            <a:endParaRPr lang="en-US" sz="1300" dirty="0"/>
          </a:p>
        </p:txBody>
      </p:sp>
      <p:sp>
        <p:nvSpPr>
          <p:cNvPr id="12" name="Shape 10"/>
          <p:cNvSpPr/>
          <p:nvPr/>
        </p:nvSpPr>
        <p:spPr>
          <a:xfrm>
            <a:off x="4992624" y="1920240"/>
            <a:ext cx="1005840" cy="1005840"/>
          </a:xfrm>
          <a:prstGeom prst="roundRect">
            <a:avLst>
              <a:gd name="adj" fmla="val 7273"/>
            </a:avLst>
          </a:prstGeom>
          <a:solidFill>
            <a:srgbClr val="13324F"/>
          </a:solidFill>
          <a:ln/>
        </p:spPr>
      </p:sp>
      <p:sp>
        <p:nvSpPr>
          <p:cNvPr id="13" name="Text 11"/>
          <p:cNvSpPr/>
          <p:nvPr/>
        </p:nvSpPr>
        <p:spPr>
          <a:xfrm>
            <a:off x="4992624" y="1920240"/>
            <a:ext cx="100584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attach</a:t>
            </a:r>
            <a:endParaRPr lang="en-US" sz="1300" dirty="0"/>
          </a:p>
        </p:txBody>
      </p:sp>
      <p:sp>
        <p:nvSpPr>
          <p:cNvPr id="14" name="Shape 12"/>
          <p:cNvSpPr/>
          <p:nvPr/>
        </p:nvSpPr>
        <p:spPr>
          <a:xfrm>
            <a:off x="6103620" y="1920240"/>
            <a:ext cx="1005840" cy="1005840"/>
          </a:xfrm>
          <a:prstGeom prst="roundRect">
            <a:avLst>
              <a:gd name="adj" fmla="val 7273"/>
            </a:avLst>
          </a:prstGeom>
          <a:solidFill>
            <a:srgbClr val="13324F"/>
          </a:solidFill>
          <a:ln/>
        </p:spPr>
      </p:sp>
      <p:sp>
        <p:nvSpPr>
          <p:cNvPr id="15" name="Text 13"/>
          <p:cNvSpPr/>
          <p:nvPr/>
        </p:nvSpPr>
        <p:spPr>
          <a:xfrm>
            <a:off x="6103620" y="1920240"/>
            <a:ext cx="100584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CC</a:t>
            </a:r>
            <a:endParaRPr lang="en-US" sz="1300" dirty="0"/>
          </a:p>
        </p:txBody>
      </p:sp>
      <p:sp>
        <p:nvSpPr>
          <p:cNvPr id="16" name="Shape 14"/>
          <p:cNvSpPr/>
          <p:nvPr/>
        </p:nvSpPr>
        <p:spPr>
          <a:xfrm>
            <a:off x="7214616" y="1920240"/>
            <a:ext cx="1005840" cy="1005840"/>
          </a:xfrm>
          <a:prstGeom prst="roundRect">
            <a:avLst>
              <a:gd name="adj" fmla="val 7273"/>
            </a:avLst>
          </a:prstGeom>
          <a:solidFill>
            <a:srgbClr val="13324F"/>
          </a:solidFill>
          <a:ln/>
        </p:spPr>
      </p:sp>
      <p:sp>
        <p:nvSpPr>
          <p:cNvPr id="17" name="Text 15"/>
          <p:cNvSpPr/>
          <p:nvPr/>
        </p:nvSpPr>
        <p:spPr>
          <a:xfrm>
            <a:off x="7214616" y="1920240"/>
            <a:ext cx="100584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lists</a:t>
            </a:r>
            <a:endParaRPr lang="en-US" sz="1300" dirty="0"/>
          </a:p>
        </p:txBody>
      </p:sp>
      <p:sp>
        <p:nvSpPr>
          <p:cNvPr id="18" name="Shape 16"/>
          <p:cNvSpPr/>
          <p:nvPr/>
        </p:nvSpPr>
        <p:spPr>
          <a:xfrm>
            <a:off x="8325612" y="1920240"/>
            <a:ext cx="1005840" cy="1005840"/>
          </a:xfrm>
          <a:prstGeom prst="roundRect">
            <a:avLst>
              <a:gd name="adj" fmla="val 7273"/>
            </a:avLst>
          </a:prstGeom>
          <a:solidFill>
            <a:srgbClr val="13324F"/>
          </a:solidFill>
          <a:ln/>
        </p:spPr>
      </p:sp>
      <p:sp>
        <p:nvSpPr>
          <p:cNvPr id="19" name="Text 17"/>
          <p:cNvSpPr/>
          <p:nvPr/>
        </p:nvSpPr>
        <p:spPr>
          <a:xfrm>
            <a:off x="8325612" y="1920240"/>
            <a:ext cx="100584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links</a:t>
            </a:r>
            <a:endParaRPr lang="en-US" sz="1300" dirty="0"/>
          </a:p>
        </p:txBody>
      </p:sp>
      <p:sp>
        <p:nvSpPr>
          <p:cNvPr id="20" name="Shape 18"/>
          <p:cNvSpPr/>
          <p:nvPr/>
        </p:nvSpPr>
        <p:spPr>
          <a:xfrm>
            <a:off x="9436608" y="1920240"/>
            <a:ext cx="1005840" cy="1005840"/>
          </a:xfrm>
          <a:prstGeom prst="roundRect">
            <a:avLst>
              <a:gd name="adj" fmla="val 7273"/>
            </a:avLst>
          </a:prstGeom>
          <a:solidFill>
            <a:srgbClr val="13324F"/>
          </a:solidFill>
          <a:ln/>
        </p:spPr>
      </p:sp>
      <p:sp>
        <p:nvSpPr>
          <p:cNvPr id="21" name="Text 19"/>
          <p:cNvSpPr/>
          <p:nvPr/>
        </p:nvSpPr>
        <p:spPr>
          <a:xfrm>
            <a:off x="9436608" y="1920240"/>
            <a:ext cx="100584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group</a:t>
            </a:r>
            <a:endParaRPr lang="en-US" sz="1300" dirty="0"/>
          </a:p>
        </p:txBody>
      </p:sp>
      <p:sp>
        <p:nvSpPr>
          <p:cNvPr id="22" name="Shape 20"/>
          <p:cNvSpPr/>
          <p:nvPr/>
        </p:nvSpPr>
        <p:spPr>
          <a:xfrm>
            <a:off x="10547604" y="1920240"/>
            <a:ext cx="1005840" cy="1005840"/>
          </a:xfrm>
          <a:prstGeom prst="roundRect">
            <a:avLst>
              <a:gd name="adj" fmla="val 7273"/>
            </a:avLst>
          </a:prstGeom>
          <a:solidFill>
            <a:srgbClr val="13324F"/>
          </a:solidFill>
          <a:ln/>
        </p:spPr>
      </p:sp>
      <p:sp>
        <p:nvSpPr>
          <p:cNvPr id="23" name="Text 21"/>
          <p:cNvSpPr/>
          <p:nvPr/>
        </p:nvSpPr>
        <p:spPr>
          <a:xfrm>
            <a:off x="10547604" y="1920240"/>
            <a:ext cx="100584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final</a:t>
            </a:r>
            <a:endParaRPr lang="en-US" sz="1300" dirty="0"/>
          </a:p>
        </p:txBody>
      </p:sp>
      <p:sp>
        <p:nvSpPr>
          <p:cNvPr id="24" name="Shape 22"/>
          <p:cNvSpPr/>
          <p:nvPr/>
        </p:nvSpPr>
        <p:spPr>
          <a:xfrm>
            <a:off x="548640" y="3291840"/>
            <a:ext cx="5394960" cy="2651760"/>
          </a:xfrm>
          <a:prstGeom prst="roundRect">
            <a:avLst>
              <a:gd name="adj" fmla="val 2759"/>
            </a:avLst>
          </a:prstGeom>
          <a:solidFill>
            <a:srgbClr val="FFFFFF"/>
          </a:solidFill>
          <a:ln w="12700">
            <a:solidFill>
              <a:srgbClr val="C7D2DC"/>
            </a:solidFill>
            <a:prstDash val="solid"/>
          </a:ln>
        </p:spPr>
      </p:sp>
      <p:sp>
        <p:nvSpPr>
          <p:cNvPr id="25" name="Text 23"/>
          <p:cNvSpPr/>
          <p:nvPr/>
        </p:nvSpPr>
        <p:spPr>
          <a:xfrm>
            <a:off x="822960" y="3429000"/>
            <a:ext cx="4846320" cy="411480"/>
          </a:xfrm>
          <a:prstGeom prst="rect">
            <a:avLst/>
          </a:prstGeom>
          <a:noFill/>
          <a:ln/>
        </p:spPr>
        <p:txBody>
          <a:bodyPr wrap="square" lIns="0" tIns="0" rIns="0" bIns="0" rtlCol="0" anchor="ctr"/>
          <a:lstStyle/>
          <a:p>
            <a:pPr indent="0" marL="0">
              <a:buNone/>
            </a:pPr>
            <a:r>
              <a:rPr lang="en-US" sz="1800" b="1" dirty="0">
                <a:solidFill>
                  <a:srgbClr val="0A1F33"/>
                </a:solidFill>
                <a:latin typeface="Calibri" pitchFamily="34" charset="0"/>
                <a:ea typeface="Calibri" pitchFamily="34" charset="-122"/>
                <a:cs typeface="Calibri" pitchFamily="34" charset="-120"/>
              </a:rPr>
              <a:t>How it works</a:t>
            </a:r>
            <a:endParaRPr lang="en-US" sz="1800" dirty="0"/>
          </a:p>
        </p:txBody>
      </p:sp>
      <p:sp>
        <p:nvSpPr>
          <p:cNvPr id="26" name="Text 24"/>
          <p:cNvSpPr/>
          <p:nvPr/>
        </p:nvSpPr>
        <p:spPr>
          <a:xfrm>
            <a:off x="822960" y="3886200"/>
            <a:ext cx="4846320" cy="201168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0A1F33"/>
                </a:solidFill>
                <a:latin typeface="Calibri" pitchFamily="34" charset="0"/>
                <a:ea typeface="Calibri" pitchFamily="34" charset="-122"/>
                <a:cs typeface="Calibri" pitchFamily="34" charset="-120"/>
              </a:rPr>
              <a:t>The lab page is the instructions. Read all of it.</a:t>
            </a:r>
            <a:endParaRPr lang="en-US" sz="1450" dirty="0"/>
          </a:p>
          <a:p>
            <a:pPr marL="342900" indent="-342900">
              <a:spcAft>
                <a:spcPts val="700"/>
              </a:spcAft>
              <a:buSzPct val="100000"/>
              <a:buChar char="•"/>
            </a:pPr>
            <a:r>
              <a:rPr lang="en-US" sz="1450" dirty="0">
                <a:solidFill>
                  <a:srgbClr val="0A1F33"/>
                </a:solidFill>
                <a:latin typeface="Calibri" pitchFamily="34" charset="0"/>
                <a:ea typeface="Calibri" pitchFamily="34" charset="-122"/>
                <a:cs typeface="Calibri" pitchFamily="34" charset="-120"/>
              </a:rPr>
              <a:t>"You've got it when…" is your checklist. Tick it before you send.</a:t>
            </a:r>
            <a:endParaRPr lang="en-US" sz="1450" dirty="0"/>
          </a:p>
          <a:p>
            <a:pPr marL="342900" indent="-342900">
              <a:spcAft>
                <a:spcPts val="700"/>
              </a:spcAft>
              <a:buSzPct val="100000"/>
              <a:buChar char="•"/>
            </a:pPr>
            <a:r>
              <a:rPr lang="en-US" sz="1450" dirty="0">
                <a:solidFill>
                  <a:srgbClr val="0A1F33"/>
                </a:solidFill>
                <a:latin typeface="Calibri" pitchFamily="34" charset="0"/>
                <a:ea typeface="Calibri" pitchFamily="34" charset="-122"/>
                <a:cs typeface="Calibri" pitchFamily="34" charset="-120"/>
              </a:rPr>
              <a:t>Stuck on a Gmail button? Every lab has a tip box for it.</a:t>
            </a:r>
            <a:endParaRPr lang="en-US" sz="1450" dirty="0"/>
          </a:p>
          <a:p>
            <a:pPr marL="342900" indent="-342900">
              <a:spcAft>
                <a:spcPts val="700"/>
              </a:spcAft>
              <a:buSzPct val="100000"/>
              <a:buChar char="•"/>
            </a:pPr>
            <a:r>
              <a:rPr lang="en-US" sz="1450" dirty="0">
                <a:solidFill>
                  <a:srgbClr val="0A1F33"/>
                </a:solidFill>
                <a:latin typeface="Calibri" pitchFamily="34" charset="0"/>
                <a:ea typeface="Calibri" pitchFamily="34" charset="-122"/>
                <a:cs typeface="Calibri" pitchFamily="34" charset="-120"/>
              </a:rPr>
              <a:t>If needed, go back to How to Format an Email.</a:t>
            </a:r>
            <a:endParaRPr lang="en-US" sz="1450" dirty="0"/>
          </a:p>
        </p:txBody>
      </p:sp>
      <p:sp>
        <p:nvSpPr>
          <p:cNvPr id="27" name="Shape 25"/>
          <p:cNvSpPr/>
          <p:nvPr/>
        </p:nvSpPr>
        <p:spPr>
          <a:xfrm>
            <a:off x="6263640" y="3291840"/>
            <a:ext cx="5394960" cy="2651760"/>
          </a:xfrm>
          <a:prstGeom prst="roundRect">
            <a:avLst>
              <a:gd name="adj" fmla="val 2759"/>
            </a:avLst>
          </a:prstGeom>
          <a:solidFill>
            <a:srgbClr val="FFFFFF"/>
          </a:solidFill>
          <a:ln w="12700">
            <a:solidFill>
              <a:srgbClr val="C7D2DC"/>
            </a:solidFill>
            <a:prstDash val="solid"/>
          </a:ln>
        </p:spPr>
      </p:sp>
      <p:sp>
        <p:nvSpPr>
          <p:cNvPr id="28" name="Text 26"/>
          <p:cNvSpPr/>
          <p:nvPr/>
        </p:nvSpPr>
        <p:spPr>
          <a:xfrm>
            <a:off x="6537960" y="3429000"/>
            <a:ext cx="4846320" cy="411480"/>
          </a:xfrm>
          <a:prstGeom prst="rect">
            <a:avLst/>
          </a:prstGeom>
          <a:noFill/>
          <a:ln/>
        </p:spPr>
        <p:txBody>
          <a:bodyPr wrap="square" lIns="0" tIns="0" rIns="0" bIns="0" rtlCol="0" anchor="ctr"/>
          <a:lstStyle/>
          <a:p>
            <a:pPr indent="0" marL="0">
              <a:buNone/>
            </a:pPr>
            <a:r>
              <a:rPr lang="en-US" sz="1800" b="1" dirty="0">
                <a:solidFill>
                  <a:srgbClr val="0A1F33"/>
                </a:solidFill>
                <a:latin typeface="Calibri" pitchFamily="34" charset="0"/>
                <a:ea typeface="Calibri" pitchFamily="34" charset="-122"/>
                <a:cs typeface="Calibri" pitchFamily="34" charset="-120"/>
              </a:rPr>
              <a:t>How it's scored (0–4)</a:t>
            </a:r>
            <a:endParaRPr lang="en-US" sz="1800" dirty="0"/>
          </a:p>
        </p:txBody>
      </p:sp>
      <p:sp>
        <p:nvSpPr>
          <p:cNvPr id="29" name="Text 27"/>
          <p:cNvSpPr/>
          <p:nvPr/>
        </p:nvSpPr>
        <p:spPr>
          <a:xfrm>
            <a:off x="6537960" y="3886200"/>
            <a:ext cx="4846320" cy="201168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0A1F33"/>
                </a:solidFill>
                <a:latin typeface="Calibri" pitchFamily="34" charset="0"/>
                <a:ea typeface="Calibri" pitchFamily="34" charset="-122"/>
                <a:cs typeface="Calibri" pitchFamily="34" charset="-120"/>
              </a:rPr>
              <a:t>4 — all four parts, every item the lab asked for, nothing misspelled</a:t>
            </a:r>
            <a:endParaRPr lang="en-US" sz="1450" dirty="0"/>
          </a:p>
          <a:p>
            <a:pPr marL="342900" indent="-342900">
              <a:spcAft>
                <a:spcPts val="600"/>
              </a:spcAft>
              <a:buSzPct val="100000"/>
              <a:buChar char="•"/>
            </a:pPr>
            <a:r>
              <a:rPr lang="en-US" sz="1450" dirty="0">
                <a:solidFill>
                  <a:srgbClr val="0A1F33"/>
                </a:solidFill>
                <a:latin typeface="Calibri" pitchFamily="34" charset="0"/>
                <a:ea typeface="Calibri" pitchFamily="34" charset="-122"/>
                <a:cs typeface="Calibri" pitchFamily="34" charset="-120"/>
              </a:rPr>
              <a:t>3 — all there, a few slips</a:t>
            </a:r>
            <a:endParaRPr lang="en-US" sz="1450" dirty="0"/>
          </a:p>
          <a:p>
            <a:pPr marL="342900" indent="-342900">
              <a:spcAft>
                <a:spcPts val="600"/>
              </a:spcAft>
              <a:buSzPct val="100000"/>
              <a:buChar char="•"/>
            </a:pPr>
            <a:r>
              <a:rPr lang="en-US" sz="1450" dirty="0">
                <a:solidFill>
                  <a:srgbClr val="0A1F33"/>
                </a:solidFill>
                <a:latin typeface="Calibri" pitchFamily="34" charset="0"/>
                <a:ea typeface="Calibri" pitchFamily="34" charset="-122"/>
                <a:cs typeface="Calibri" pitchFamily="34" charset="-120"/>
              </a:rPr>
              <a:t>2 — a part or an item missing</a:t>
            </a:r>
            <a:endParaRPr lang="en-US" sz="1450" dirty="0"/>
          </a:p>
          <a:p>
            <a:pPr marL="342900" indent="-342900">
              <a:spcAft>
                <a:spcPts val="600"/>
              </a:spcAft>
              <a:buSzPct val="100000"/>
              <a:buChar char="•"/>
            </a:pPr>
            <a:r>
              <a:rPr lang="en-US" sz="1450" dirty="0">
                <a:solidFill>
                  <a:srgbClr val="0A1F33"/>
                </a:solidFill>
                <a:latin typeface="Calibri" pitchFamily="34" charset="0"/>
                <a:ea typeface="Calibri" pitchFamily="34" charset="-122"/>
                <a:cs typeface="Calibri" pitchFamily="34" charset="-120"/>
              </a:rPr>
              <a:t>1 — a line or two, no structure</a:t>
            </a:r>
            <a:endParaRPr lang="en-US" sz="1450" dirty="0"/>
          </a:p>
          <a:p>
            <a:pPr marL="342900" indent="-342900">
              <a:spcAft>
                <a:spcPts val="600"/>
              </a:spcAft>
              <a:buSzPct val="100000"/>
              <a:buChar char="•"/>
            </a:pPr>
            <a:r>
              <a:rPr lang="en-US" sz="1450" dirty="0">
                <a:solidFill>
                  <a:srgbClr val="0A1F33"/>
                </a:solidFill>
                <a:latin typeface="Calibri" pitchFamily="34" charset="0"/>
                <a:ea typeface="Calibri" pitchFamily="34" charset="-122"/>
                <a:cs typeface="Calibri" pitchFamily="34" charset="-120"/>
              </a:rPr>
              <a:t>0 — no email</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Your mission: Checking In</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C7D2DC"/>
                </a:solidFill>
                <a:latin typeface="Calibri" pitchFamily="34" charset="0"/>
                <a:ea typeface="Calibri" pitchFamily="34" charset="-122"/>
                <a:cs typeface="Calibri" pitchFamily="34" charset="-120"/>
              </a:rPr>
              <a:t>Lab 10. Introduce yourself and tell me how the year is going.</a:t>
            </a:r>
            <a:endParaRPr lang="en-US" sz="1700" dirty="0"/>
          </a:p>
        </p:txBody>
      </p:sp>
      <p:sp>
        <p:nvSpPr>
          <p:cNvPr id="4" name="Shape 2"/>
          <p:cNvSpPr/>
          <p:nvPr/>
        </p:nvSpPr>
        <p:spPr>
          <a:xfrm>
            <a:off x="731520" y="2057400"/>
            <a:ext cx="502920" cy="502920"/>
          </a:xfrm>
          <a:prstGeom prst="roundRect">
            <a:avLst>
              <a:gd name="adj" fmla="val 10909"/>
            </a:avLst>
          </a:prstGeom>
          <a:solidFill>
            <a:srgbClr val="3DDC84"/>
          </a:solidFill>
          <a:ln/>
        </p:spPr>
      </p:sp>
      <p:sp>
        <p:nvSpPr>
          <p:cNvPr id="5" name="Text 3"/>
          <p:cNvSpPr/>
          <p:nvPr/>
        </p:nvSpPr>
        <p:spPr>
          <a:xfrm>
            <a:off x="731520" y="205740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463040" y="2029968"/>
            <a:ext cx="9966960" cy="56692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Send the email to swillis@northlandprep.org with the subject How the Year Is Going.</a:t>
            </a:r>
            <a:endParaRPr lang="en-US" sz="1800" dirty="0"/>
          </a:p>
        </p:txBody>
      </p:sp>
      <p:sp>
        <p:nvSpPr>
          <p:cNvPr id="7" name="Shape 5"/>
          <p:cNvSpPr/>
          <p:nvPr/>
        </p:nvSpPr>
        <p:spPr>
          <a:xfrm>
            <a:off x="731520" y="3017520"/>
            <a:ext cx="10698480" cy="2834640"/>
          </a:xfrm>
          <a:prstGeom prst="roundRect">
            <a:avLst>
              <a:gd name="adj" fmla="val 2581"/>
            </a:avLst>
          </a:prstGeom>
          <a:solidFill>
            <a:srgbClr val="13324F"/>
          </a:solidFill>
          <a:ln w="12700">
            <a:solidFill>
              <a:srgbClr val="13324F"/>
            </a:solidFill>
            <a:prstDash val="solid"/>
          </a:ln>
        </p:spPr>
      </p:sp>
      <p:sp>
        <p:nvSpPr>
          <p:cNvPr id="8" name="Text 6"/>
          <p:cNvSpPr/>
          <p:nvPr/>
        </p:nvSpPr>
        <p:spPr>
          <a:xfrm>
            <a:off x="1005840" y="3127248"/>
            <a:ext cx="10058400" cy="365760"/>
          </a:xfrm>
          <a:prstGeom prst="rect">
            <a:avLst/>
          </a:prstGeom>
          <a:noFill/>
          <a:ln/>
        </p:spPr>
        <p:txBody>
          <a:bodyPr wrap="square" lIns="0" tIns="0" rIns="0" bIns="0" rtlCol="0" anchor="ctr"/>
          <a:lstStyle/>
          <a:p>
            <a:pPr indent="0" marL="0">
              <a:buNone/>
            </a:pPr>
            <a:r>
              <a:rPr lang="en-US" sz="1700" b="1" dirty="0">
                <a:solidFill>
                  <a:srgbClr val="3DDC84"/>
                </a:solidFill>
                <a:latin typeface="Calibri" pitchFamily="34" charset="0"/>
                <a:ea typeface="Calibri" pitchFamily="34" charset="-122"/>
                <a:cs typeface="Calibri" pitchFamily="34" charset="-120"/>
              </a:rPr>
              <a:t>You've got it when…</a:t>
            </a:r>
            <a:endParaRPr lang="en-US" sz="1700" dirty="0"/>
          </a:p>
        </p:txBody>
      </p:sp>
      <p:sp>
        <p:nvSpPr>
          <p:cNvPr id="9" name="Text 7"/>
          <p:cNvSpPr/>
          <p:nvPr/>
        </p:nvSpPr>
        <p:spPr>
          <a:xfrm>
            <a:off x="1005840" y="3566160"/>
            <a:ext cx="10058400" cy="21945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E4EAF0"/>
                </a:solidFill>
                <a:latin typeface="Calibri" pitchFamily="34" charset="0"/>
                <a:ea typeface="Calibri" pitchFamily="34" charset="-122"/>
                <a:cs typeface="Calibri" pitchFamily="34" charset="-120"/>
              </a:rPr>
              <a:t>the subject line is How the Year Is Going</a:t>
            </a:r>
            <a:endParaRPr lang="en-US" sz="1500" dirty="0"/>
          </a:p>
          <a:p>
            <a:pPr marL="342900" indent="-342900">
              <a:spcAft>
                <a:spcPts val="500"/>
              </a:spcAft>
              <a:buSzPct val="100000"/>
              <a:buChar char="•"/>
            </a:pPr>
            <a:r>
              <a:rPr lang="en-US" sz="1500" dirty="0">
                <a:solidFill>
                  <a:srgbClr val="E4EAF0"/>
                </a:solidFill>
                <a:latin typeface="Calibri" pitchFamily="34" charset="0"/>
                <a:ea typeface="Calibri" pitchFamily="34" charset="-122"/>
                <a:cs typeface="Calibri" pitchFamily="34" charset="-120"/>
              </a:rPr>
              <a:t>the greeting names me</a:t>
            </a:r>
            <a:endParaRPr lang="en-US" sz="1500" dirty="0"/>
          </a:p>
          <a:p>
            <a:pPr marL="342900" indent="-342900">
              <a:spcAft>
                <a:spcPts val="500"/>
              </a:spcAft>
              <a:buSzPct val="100000"/>
              <a:buChar char="•"/>
            </a:pPr>
            <a:r>
              <a:rPr lang="en-US" sz="1500" dirty="0">
                <a:solidFill>
                  <a:srgbClr val="E4EAF0"/>
                </a:solidFill>
                <a:latin typeface="Calibri" pitchFamily="34" charset="0"/>
                <a:ea typeface="Calibri" pitchFamily="34" charset="-122"/>
                <a:cs typeface="Calibri" pitchFamily="34" charset="-120"/>
              </a:rPr>
              <a:t>the body introduces you (name and grade) and covers every item in the mission, in complete sentences</a:t>
            </a:r>
            <a:endParaRPr lang="en-US" sz="1500" dirty="0"/>
          </a:p>
          <a:p>
            <a:pPr marL="342900" indent="-342900">
              <a:spcAft>
                <a:spcPts val="500"/>
              </a:spcAft>
              <a:buSzPct val="100000"/>
              <a:buChar char="•"/>
            </a:pPr>
            <a:r>
              <a:rPr lang="en-US" sz="1500" dirty="0">
                <a:solidFill>
                  <a:srgbClr val="E4EAF0"/>
                </a:solidFill>
                <a:latin typeface="Calibri" pitchFamily="34" charset="0"/>
                <a:ea typeface="Calibri" pitchFamily="34" charset="-122"/>
                <a:cs typeface="Calibri" pitchFamily="34" charset="-120"/>
              </a:rPr>
              <a:t>the closing thanks me for reading and is followed by your name</a:t>
            </a:r>
            <a:endParaRPr lang="en-US" sz="1500" dirty="0"/>
          </a:p>
          <a:p>
            <a:pPr marL="342900" indent="-342900">
              <a:spcAft>
                <a:spcPts val="500"/>
              </a:spcAft>
              <a:buSzPct val="100000"/>
              <a:buChar char="•"/>
            </a:pPr>
            <a:r>
              <a:rPr lang="en-US" sz="1500" dirty="0">
                <a:solidFill>
                  <a:srgbClr val="E4EAF0"/>
                </a:solidFill>
                <a:latin typeface="Calibri" pitchFamily="34" charset="0"/>
                <a:ea typeface="Calibri" pitchFamily="34" charset="-122"/>
                <a:cs typeface="Calibri" pitchFamily="34" charset="-120"/>
              </a:rPr>
              <a:t>you proofread it before sending</a:t>
            </a:r>
            <a:endParaRPr lang="en-US" sz="1500" dirty="0"/>
          </a:p>
        </p:txBody>
      </p:sp>
      <p:sp>
        <p:nvSpPr>
          <p:cNvPr id="10" name="Text 8"/>
          <p:cNvSpPr/>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Next week: you've been out sick for three days. Ask for an extension like a professional.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Email</dc:title>
  <dc:subject>PptxGenJS Presentation</dc:subject>
  <dc:creator>Mr. Willis</dc:creator>
  <cp:lastModifiedBy>Mr. Willis</cp:lastModifiedBy>
  <cp:revision>1</cp:revision>
  <dcterms:created xsi:type="dcterms:W3CDTF">2026-10-12T03:03:08Z</dcterms:created>
  <dcterms:modified xsi:type="dcterms:W3CDTF">2026-10-12T03:03:08Z</dcterms:modified>
</cp:coreProperties>
</file>