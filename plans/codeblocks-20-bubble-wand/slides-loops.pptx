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Part One: the wand exists and every size is a variable — today that investment pays out. Three beats: a loop draws the ridges nobody wants to place by hand, one Thickness change rebuilds the whole wand, and the design leaves Tinkercad as an .STL bound for the 3D printer. One period; the export is clocked at the end — don't let the loop eat the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beat: last lab ended with a smooth parametric wand saved in their accounts — step 1 today is checking it still draws. Then the sales pitch for loops: have a student narrate placing ridges by hand until the class is bored, which takes about three ridges. That boredom is the lesson. The loop is the second big idea of the unit (variables were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out loud with the actual numbers: i is 0, draw a box, rotate 0. i is 10, draw, rotate 10. Ask 'what's in i on the third trip?' (20). The subtle point from the lab's blue box: the loop CREATES i for you. Common bug preview: forget to drag i into the Rotate and all the boxes stack in one spot, looking like one fat ridge. The lab changes 'by 10' to 'by 12' for spacing — that's the tuning move they'll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beat — the ratio is the point. One box block inside a loop becomes fifteen drawn boxes (0, 12, 24 ... 168 is fifteen stops). If someone asks why the ridges cover the WHOLE ring when the loop only goes to 179: hold that — it's on the practice slide, and it's a good one. Each box crosses the full ring, so 180 degrees of boxes wraps all 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Notebooks, two minutes, then neighbor-check. The left card is arithmetic; the right card is the thinker — each box spans the ring's full diameter, so a box at 0 degrees and a box at 180 degrees would be the same box. If a student gets that unprompted, you've found your future engineer. Reveal, then release: 'understand your mission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unit's promise, kept. Have students predict in notebooks BEFORE pressing Play: list what will get thicker. Then run it and audit. A piece that didn't rebuild is a treasure, not a failure — it means a hard-coded number survived Part One, and now they know how to find it. The rubric's 4-row says 'no piece left behind at the old size' — connect it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brisk — the export is three clicks (Share, .STL, submit). The amber card is the real trap: students edit, forget Play, and export yesterday's wand. The filename joke is also a real instruction; downloads-folder archaeology wastes minutes. This is the unit's first physical deliverable — these files actually go to the printer, so the stakes line lands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matches the lab's Turn It In exactly: the .STL submitted in Google Classroom. Rubric's 4: even ridges all the way around, centers trimmed clean, and a Thickness change that rebuilds everything. Tease the sk8board lab honestly: the next lab gives block screenshots instead of step-by-step sentences — reading them carefully becomes the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count i from 0 to 179 by 12</a:t>
            </a:r>
            <a:endParaRPr lang="en-US" sz="1200" dirty="0"/>
          </a:p>
        </p:txBody>
      </p:sp>
      <p:sp>
        <p:nvSpPr>
          <p:cNvPr id="3" name="Text 1"/>
          <p:cNvSpPr/>
          <p:nvPr/>
        </p:nvSpPr>
        <p:spPr>
          <a:xfrm>
            <a:off x="0" y="1554480"/>
            <a:ext cx="12191695" cy="822960"/>
          </a:xfrm>
          <a:prstGeom prst="rect">
            <a:avLst/>
          </a:prstGeom>
          <a:noFill/>
          <a:ln/>
        </p:spPr>
        <p:txBody>
          <a:bodyPr wrap="square" lIns="0" tIns="0" rIns="0" bIns="0" rtlCol="0" anchor="ctr"/>
          <a:lstStyle/>
          <a:p>
            <a:pPr algn="ctr" indent="0" marL="0">
              <a:buNone/>
            </a:pPr>
            <a:r>
              <a:rPr lang="en-US" sz="3800" b="1" dirty="0">
                <a:solidFill>
                  <a:srgbClr val="5A6B7B"/>
                </a:solidFill>
                <a:latin typeface="Courier New" pitchFamily="34" charset="0"/>
                <a:ea typeface="Courier New" pitchFamily="34" charset="-122"/>
                <a:cs typeface="Courier New" pitchFamily="34" charset="-120"/>
              </a:rPr>
              <a:t>1 box</a:t>
            </a:r>
            <a:pPr algn="ctr" indent="0" marL="0">
              <a:buNone/>
            </a:pPr>
            <a:r>
              <a:rPr lang="en-US" sz="3800" b="1" dirty="0">
                <a:solidFill>
                  <a:srgbClr val="1B3A5C"/>
                </a:solidFill>
                <a:latin typeface="Courier New" pitchFamily="34" charset="0"/>
                <a:ea typeface="Courier New" pitchFamily="34" charset="-122"/>
                <a:cs typeface="Courier New" pitchFamily="34" charset="-120"/>
              </a:rPr>
              <a:t>  →  </a:t>
            </a:r>
            <a:pPr algn="ctr" indent="0" marL="0">
              <a:buNone/>
            </a:pPr>
            <a:r>
              <a:rPr lang="en-US" sz="3800" b="1" dirty="0">
                <a:solidFill>
                  <a:srgbClr val="3DDC84"/>
                </a:solidFill>
                <a:latin typeface="Courier New" pitchFamily="34" charset="0"/>
                <a:ea typeface="Courier New" pitchFamily="34" charset="-122"/>
                <a:cs typeface="Courier New" pitchFamily="34" charset="-120"/>
              </a:rPr>
              <a:t>15 ridges</a:t>
            </a:r>
            <a:endParaRPr lang="en-US" sz="3800" dirty="0"/>
          </a:p>
        </p:txBody>
      </p:sp>
      <p:sp>
        <p:nvSpPr>
          <p:cNvPr id="4" name="Text 2"/>
          <p:cNvSpPr/>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Bubble Wand, Part 2</a:t>
            </a:r>
            <a:endParaRPr lang="en-US" sz="5400" dirty="0"/>
          </a:p>
        </p:txBody>
      </p:sp>
      <p:sp>
        <p:nvSpPr>
          <p:cNvPr id="5" name="Text 3"/>
          <p:cNvSpPr/>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Loops, the one-change rebuild, and a file the printer can read</a:t>
            </a:r>
            <a:endParaRPr lang="en-US" sz="2200" dirty="0"/>
          </a:p>
        </p:txBody>
      </p:sp>
      <p:sp>
        <p:nvSpPr>
          <p:cNvPr id="6" name="Text 4"/>
          <p:cNvSpPr/>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Computer Science 6  •  Tinkercad Codeblocks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job nobody wants</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Fifteen ridges, evenly spaced, all the way around.</a:t>
            </a:r>
            <a:endParaRPr lang="en-US" sz="1700" dirty="0"/>
          </a:p>
        </p:txBody>
      </p:sp>
      <p:sp>
        <p:nvSpPr>
          <p:cNvPr id="4" name="Shape 2"/>
          <p:cNvSpPr/>
          <p:nvPr/>
        </p:nvSpPr>
        <p:spPr>
          <a:xfrm>
            <a:off x="640080" y="2011680"/>
            <a:ext cx="5394960" cy="3291840"/>
          </a:xfrm>
          <a:prstGeom prst="roundRect">
            <a:avLst>
              <a:gd name="adj" fmla="val 2222"/>
            </a:avLst>
          </a:prstGeom>
          <a:solidFill>
            <a:srgbClr val="FFFFFF"/>
          </a:solidFill>
          <a:ln w="12700">
            <a:solidFill>
              <a:srgbClr val="C7D2DC"/>
            </a:solidFill>
            <a:prstDash val="solid"/>
          </a:ln>
        </p:spPr>
      </p:sp>
      <p:sp>
        <p:nvSpPr>
          <p:cNvPr id="5" name="Text 3"/>
          <p:cNvSpPr/>
          <p:nvPr/>
        </p:nvSpPr>
        <p:spPr>
          <a:xfrm>
            <a:off x="91440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By hand</a:t>
            </a:r>
            <a:endParaRPr lang="en-US" sz="1700" dirty="0"/>
          </a:p>
        </p:txBody>
      </p:sp>
      <p:sp>
        <p:nvSpPr>
          <p:cNvPr id="6" name="Text 4"/>
          <p:cNvSpPr/>
          <p:nvPr/>
        </p:nvSpPr>
        <p:spPr>
          <a:xfrm>
            <a:off x="914400" y="2651760"/>
            <a:ext cx="4846320" cy="246888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Place a box. Rotate it 12 degrees. Place another. Rotate 24. Again. And again... any mistake, start over. This is a job for someone with infinite patience.</a:t>
            </a:r>
            <a:endParaRPr lang="en-US" sz="1400" dirty="0"/>
          </a:p>
        </p:txBody>
      </p:sp>
      <p:sp>
        <p:nvSpPr>
          <p:cNvPr id="7" name="Shape 5"/>
          <p:cNvSpPr/>
          <p:nvPr/>
        </p:nvSpPr>
        <p:spPr>
          <a:xfrm>
            <a:off x="6400800" y="2011680"/>
            <a:ext cx="5394960" cy="3291840"/>
          </a:xfrm>
          <a:prstGeom prst="roundRect">
            <a:avLst>
              <a:gd name="adj" fmla="val 2222"/>
            </a:avLst>
          </a:prstGeom>
          <a:solidFill>
            <a:srgbClr val="FFFFFF"/>
          </a:solidFill>
          <a:ln w="12700">
            <a:solidFill>
              <a:srgbClr val="3DDC84"/>
            </a:solidFill>
            <a:prstDash val="solid"/>
          </a:ln>
        </p:spPr>
      </p:sp>
      <p:sp>
        <p:nvSpPr>
          <p:cNvPr id="8" name="Text 6"/>
          <p:cNvSpPr/>
          <p:nvPr/>
        </p:nvSpPr>
        <p:spPr>
          <a:xfrm>
            <a:off x="667512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With a loop</a:t>
            </a:r>
            <a:endParaRPr lang="en-US" sz="1700" dirty="0"/>
          </a:p>
        </p:txBody>
      </p:sp>
      <p:sp>
        <p:nvSpPr>
          <p:cNvPr id="9" name="Text 7"/>
          <p:cNvSpPr/>
          <p:nvPr/>
        </p:nvSpPr>
        <p:spPr>
          <a:xfrm>
            <a:off x="6675120" y="2651760"/>
            <a:ext cx="4846320" cy="246888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Tell the computer: “for every angle from 0 to 179, counting by 12 — draw a box and rotate it there.” Four blocks. The computer HAS infinite patience.</a:t>
            </a:r>
            <a:endParaRPr lang="en-US" sz="1400" dirty="0"/>
          </a:p>
        </p:txBody>
      </p:sp>
      <p:sp>
        <p:nvSpPr>
          <p:cNvPr id="10" name="Text 8"/>
          <p:cNvSpPr/>
          <p:nvPr/>
        </p:nvSpPr>
        <p:spPr>
          <a:xfrm>
            <a:off x="640080" y="5577840"/>
            <a:ext cx="10972800" cy="457200"/>
          </a:xfrm>
          <a:prstGeom prst="rect">
            <a:avLst/>
          </a:prstGeom>
          <a:noFill/>
          <a:ln/>
        </p:spPr>
        <p:txBody>
          <a:bodyPr wrap="square" lIns="0" tIns="0" rIns="0" bIns="0" rtlCol="0" anchor="ctr"/>
          <a:lstStyle/>
          <a:p>
            <a:pPr algn="ctr" indent="0" marL="0">
              <a:buNone/>
            </a:pPr>
            <a:r>
              <a:rPr lang="en-US" sz="1600" b="1" dirty="0">
                <a:solidFill>
                  <a:srgbClr val="0A1F33"/>
                </a:solidFill>
                <a:latin typeface="Calibri" pitchFamily="34" charset="0"/>
                <a:ea typeface="Calibri" pitchFamily="34" charset="-122"/>
                <a:cs typeface="Calibri" pitchFamily="34" charset="-120"/>
              </a:rPr>
              <a:t>Repetitive work with a pattern is exactly what loops are for.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Anatomy of a Count-with loop</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Three settings and a free variable named i.</a:t>
            </a:r>
            <a:endParaRPr lang="en-US" sz="1700" dirty="0"/>
          </a:p>
        </p:txBody>
      </p:sp>
      <p:sp>
        <p:nvSpPr>
          <p:cNvPr id="4" name="Shape 2"/>
          <p:cNvSpPr/>
          <p:nvPr/>
        </p:nvSpPr>
        <p:spPr>
          <a:xfrm>
            <a:off x="640080" y="2103120"/>
            <a:ext cx="3291840" cy="2377440"/>
          </a:xfrm>
          <a:prstGeom prst="roundRect">
            <a:avLst>
              <a:gd name="adj" fmla="val 3077"/>
            </a:avLst>
          </a:prstGeom>
          <a:solidFill>
            <a:srgbClr val="13324F"/>
          </a:solidFill>
          <a:ln w="12700">
            <a:solidFill>
              <a:srgbClr val="13324F"/>
            </a:solidFill>
            <a:prstDash val="solid"/>
          </a:ln>
        </p:spPr>
      </p:sp>
      <p:sp>
        <p:nvSpPr>
          <p:cNvPr id="5" name="Text 3"/>
          <p:cNvSpPr/>
          <p:nvPr/>
        </p:nvSpPr>
        <p:spPr>
          <a:xfrm>
            <a:off x="640080" y="2212848"/>
            <a:ext cx="3291840" cy="1236269"/>
          </a:xfrm>
          <a:prstGeom prst="rect">
            <a:avLst/>
          </a:prstGeom>
          <a:no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from 0</a:t>
            </a:r>
            <a:endParaRPr lang="en-US" sz="3000" dirty="0"/>
          </a:p>
        </p:txBody>
      </p:sp>
      <p:sp>
        <p:nvSpPr>
          <p:cNvPr id="6" name="Text 4"/>
          <p:cNvSpPr/>
          <p:nvPr/>
        </p:nvSpPr>
        <p:spPr>
          <a:xfrm>
            <a:off x="640080" y="3482035"/>
            <a:ext cx="3291840" cy="411480"/>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start here</a:t>
            </a:r>
            <a:endParaRPr lang="en-US" sz="1600" dirty="0"/>
          </a:p>
        </p:txBody>
      </p:sp>
      <p:sp>
        <p:nvSpPr>
          <p:cNvPr id="7" name="Shape 5"/>
          <p:cNvSpPr/>
          <p:nvPr/>
        </p:nvSpPr>
        <p:spPr>
          <a:xfrm>
            <a:off x="4206240" y="2103120"/>
            <a:ext cx="3291840" cy="2377440"/>
          </a:xfrm>
          <a:prstGeom prst="roundRect">
            <a:avLst>
              <a:gd name="adj" fmla="val 3077"/>
            </a:avLst>
          </a:prstGeom>
          <a:solidFill>
            <a:srgbClr val="13324F"/>
          </a:solidFill>
          <a:ln w="12700">
            <a:solidFill>
              <a:srgbClr val="13324F"/>
            </a:solidFill>
            <a:prstDash val="solid"/>
          </a:ln>
        </p:spPr>
      </p:sp>
      <p:sp>
        <p:nvSpPr>
          <p:cNvPr id="8" name="Text 6"/>
          <p:cNvSpPr/>
          <p:nvPr/>
        </p:nvSpPr>
        <p:spPr>
          <a:xfrm>
            <a:off x="4206240" y="2212848"/>
            <a:ext cx="3291840" cy="1236269"/>
          </a:xfrm>
          <a:prstGeom prst="rect">
            <a:avLst/>
          </a:prstGeom>
          <a:no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to 179</a:t>
            </a:r>
            <a:endParaRPr lang="en-US" sz="3000" dirty="0"/>
          </a:p>
        </p:txBody>
      </p:sp>
      <p:sp>
        <p:nvSpPr>
          <p:cNvPr id="9" name="Text 7"/>
          <p:cNvSpPr/>
          <p:nvPr/>
        </p:nvSpPr>
        <p:spPr>
          <a:xfrm>
            <a:off x="4206240" y="3482035"/>
            <a:ext cx="3291840" cy="411480"/>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stop by here</a:t>
            </a:r>
            <a:endParaRPr lang="en-US" sz="1600" dirty="0"/>
          </a:p>
        </p:txBody>
      </p:sp>
      <p:sp>
        <p:nvSpPr>
          <p:cNvPr id="10" name="Shape 8"/>
          <p:cNvSpPr/>
          <p:nvPr/>
        </p:nvSpPr>
        <p:spPr>
          <a:xfrm>
            <a:off x="7772400" y="2103120"/>
            <a:ext cx="3291840" cy="2377440"/>
          </a:xfrm>
          <a:prstGeom prst="roundRect">
            <a:avLst>
              <a:gd name="adj" fmla="val 3077"/>
            </a:avLst>
          </a:prstGeom>
          <a:solidFill>
            <a:srgbClr val="13324F"/>
          </a:solidFill>
          <a:ln w="12700">
            <a:solidFill>
              <a:srgbClr val="13324F"/>
            </a:solidFill>
            <a:prstDash val="solid"/>
          </a:ln>
        </p:spPr>
      </p:sp>
      <p:sp>
        <p:nvSpPr>
          <p:cNvPr id="11" name="Text 9"/>
          <p:cNvSpPr/>
          <p:nvPr/>
        </p:nvSpPr>
        <p:spPr>
          <a:xfrm>
            <a:off x="7772400" y="2212848"/>
            <a:ext cx="3291840" cy="1236269"/>
          </a:xfrm>
          <a:prstGeom prst="rect">
            <a:avLst/>
          </a:prstGeom>
          <a:noFill/>
          <a:ln/>
        </p:spPr>
        <p:txBody>
          <a:bodyPr wrap="square" lIns="0" tIns="0" rIns="0" bIns="0" rtlCol="0" anchor="ctr"/>
          <a:lstStyle/>
          <a:p>
            <a:pPr algn="ctr" indent="0" marL="0">
              <a:buNone/>
            </a:pPr>
            <a:r>
              <a:rPr lang="en-US" sz="3000" b="1" dirty="0">
                <a:solidFill>
                  <a:srgbClr val="3DDC84"/>
                </a:solidFill>
                <a:latin typeface="Courier New" pitchFamily="34" charset="0"/>
                <a:ea typeface="Courier New" pitchFamily="34" charset="-122"/>
                <a:cs typeface="Courier New" pitchFamily="34" charset="-120"/>
              </a:rPr>
              <a:t>by 10</a:t>
            </a:r>
            <a:endParaRPr lang="en-US" sz="3000" dirty="0"/>
          </a:p>
        </p:txBody>
      </p:sp>
      <p:sp>
        <p:nvSpPr>
          <p:cNvPr id="12" name="Text 10"/>
          <p:cNvSpPr/>
          <p:nvPr/>
        </p:nvSpPr>
        <p:spPr>
          <a:xfrm>
            <a:off x="7772400" y="3482035"/>
            <a:ext cx="3291840" cy="411480"/>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step size</a:t>
            </a:r>
            <a:endParaRPr lang="en-US" sz="1600" dirty="0"/>
          </a:p>
        </p:txBody>
      </p:sp>
      <p:sp>
        <p:nvSpPr>
          <p:cNvPr id="13" name="Text 11"/>
          <p:cNvSpPr/>
          <p:nvPr/>
        </p:nvSpPr>
        <p:spPr>
          <a:xfrm>
            <a:off x="640080" y="4846320"/>
            <a:ext cx="10972800" cy="731520"/>
          </a:xfrm>
          <a:prstGeom prst="rect">
            <a:avLst/>
          </a:prstGeom>
          <a:noFill/>
          <a:ln/>
        </p:spPr>
        <p:txBody>
          <a:bodyPr wrap="square" lIns="0" tIns="0" rIns="0" bIns="0" rtlCol="0" anchor="ctr"/>
          <a:lstStyle/>
          <a:p>
            <a:pPr algn="ctr" indent="0" marL="0">
              <a:buNone/>
            </a:pPr>
            <a:r>
              <a:rPr lang="en-US" sz="1600" b="1" dirty="0">
                <a:solidFill>
                  <a:srgbClr val="0A1F33"/>
                </a:solidFill>
                <a:latin typeface="Calibri" pitchFamily="34" charset="0"/>
                <a:ea typeface="Calibri" pitchFamily="34" charset="-122"/>
                <a:cs typeface="Calibri" pitchFamily="34" charset="-120"/>
              </a:rPr>
              <a:t>Each trip through the loop, i holds the next number: 0, 10, 20, ... 170. Drag i into the Rotate block and every box lands at its own angle.</a:t>
            </a:r>
            <a:endParaRPr lang="en-US" sz="1600" dirty="0"/>
          </a:p>
        </p:txBody>
      </p:sp>
      <p:sp>
        <p:nvSpPr>
          <p:cNvPr id="14" name="Text 12"/>
          <p:cNvSpPr/>
          <p:nvPr/>
        </p:nvSpPr>
        <p:spPr>
          <a:xfrm>
            <a:off x="640080" y="5669280"/>
            <a:ext cx="10972800" cy="41148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You didn't create i — the loop did. It lives in the Variables section like the others.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exchange rate</a:t>
            </a:r>
            <a:endParaRPr lang="en-US" sz="3400" dirty="0"/>
          </a:p>
        </p:txBody>
      </p:sp>
      <p:sp>
        <p:nvSpPr>
          <p:cNvPr id="3" name="Text 1"/>
          <p:cNvSpPr/>
          <p:nvPr/>
        </p:nvSpPr>
        <p:spPr>
          <a:xfrm>
            <a:off x="0" y="2194560"/>
            <a:ext cx="12191695" cy="1097280"/>
          </a:xfrm>
          <a:prstGeom prst="rect">
            <a:avLst/>
          </a:prstGeom>
          <a:noFill/>
          <a:ln/>
        </p:spPr>
        <p:txBody>
          <a:bodyPr wrap="square" lIns="0" tIns="0" rIns="0" bIns="0" rtlCol="0" anchor="ctr"/>
          <a:lstStyle/>
          <a:p>
            <a:pPr algn="ctr" indent="0" marL="0">
              <a:buNone/>
            </a:pPr>
            <a:r>
              <a:rPr lang="en-US" sz="5400" b="1" dirty="0">
                <a:solidFill>
                  <a:srgbClr val="3DDC84"/>
                </a:solidFill>
                <a:latin typeface="Courier New" pitchFamily="34" charset="0"/>
                <a:ea typeface="Courier New" pitchFamily="34" charset="-122"/>
                <a:cs typeface="Courier New" pitchFamily="34" charset="-120"/>
              </a:rPr>
              <a:t>1</a:t>
            </a:r>
            <a:pPr algn="ctr" indent="0" marL="0">
              <a:buNone/>
            </a:pPr>
            <a:r>
              <a:rPr lang="en-US" sz="5400" b="1" dirty="0">
                <a:solidFill>
                  <a:srgbClr val="C7D2DC"/>
                </a:solidFill>
                <a:latin typeface="Courier New" pitchFamily="34" charset="0"/>
                <a:ea typeface="Courier New" pitchFamily="34" charset="-122"/>
                <a:cs typeface="Courier New" pitchFamily="34" charset="-120"/>
              </a:rPr>
              <a:t> box block  →  </a:t>
            </a:r>
            <a:pPr algn="ctr" indent="0" marL="0">
              <a:buNone/>
            </a:pPr>
            <a:r>
              <a:rPr lang="en-US" sz="5400" b="1" dirty="0">
                <a:solidFill>
                  <a:srgbClr val="F4B740"/>
                </a:solidFill>
                <a:latin typeface="Courier New" pitchFamily="34" charset="0"/>
                <a:ea typeface="Courier New" pitchFamily="34" charset="-122"/>
                <a:cs typeface="Courier New" pitchFamily="34" charset="-120"/>
              </a:rPr>
              <a:t>15</a:t>
            </a:r>
            <a:pPr algn="ctr" indent="0" marL="0">
              <a:buNone/>
            </a:pPr>
            <a:r>
              <a:rPr lang="en-US" sz="5400" b="1" dirty="0">
                <a:solidFill>
                  <a:srgbClr val="C7D2DC"/>
                </a:solidFill>
                <a:latin typeface="Courier New" pitchFamily="34" charset="0"/>
                <a:ea typeface="Courier New" pitchFamily="34" charset="-122"/>
                <a:cs typeface="Courier New" pitchFamily="34" charset="-120"/>
              </a:rPr>
              <a:t> ridges</a:t>
            </a:r>
            <a:endParaRPr lang="en-US" sz="5400" dirty="0"/>
          </a:p>
        </p:txBody>
      </p:sp>
      <p:sp>
        <p:nvSpPr>
          <p:cNvPr id="4" name="Text 2"/>
          <p:cNvSpPr/>
          <p:nvPr/>
        </p:nvSpPr>
        <p:spPr>
          <a:xfrm>
            <a:off x="0" y="3657600"/>
            <a:ext cx="12191695" cy="457200"/>
          </a:xfrm>
          <a:prstGeom prst="rect">
            <a:avLst/>
          </a:prstGeom>
          <a:noFill/>
          <a:ln/>
        </p:spPr>
        <p:txBody>
          <a:bodyPr wrap="square" lIns="0" tIns="0" rIns="0" bIns="0" rtlCol="0" anchor="ctr"/>
          <a:lstStyle/>
          <a:p>
            <a:pPr algn="ctr" indent="0" marL="0">
              <a:buNone/>
            </a:pPr>
            <a:r>
              <a:rPr lang="en-US" sz="1800" dirty="0">
                <a:solidFill>
                  <a:srgbClr val="C7D2DC"/>
                </a:solidFill>
                <a:latin typeface="Calibri" pitchFamily="34" charset="0"/>
                <a:ea typeface="Calibri" pitchFamily="34" charset="-122"/>
                <a:cs typeface="Calibri" pitchFamily="34" charset="-120"/>
              </a:rPr>
              <a:t>The loop draws a fresh box every 12 degrees, from 0 to 179.</a:t>
            </a:r>
            <a:endParaRPr lang="en-US" sz="1800" dirty="0"/>
          </a:p>
        </p:txBody>
      </p:sp>
      <p:sp>
        <p:nvSpPr>
          <p:cNvPr id="5" name="Text 3"/>
          <p:cNvSpPr/>
          <p:nvPr/>
        </p:nvSpPr>
        <p:spPr>
          <a:xfrm>
            <a:off x="0" y="4480560"/>
            <a:ext cx="12191695" cy="457200"/>
          </a:xfrm>
          <a:prstGeom prst="rect">
            <a:avLst/>
          </a:prstGeom>
          <a:noFill/>
          <a:ln/>
        </p:spPr>
        <p:txBody>
          <a:bodyPr wrap="square" lIns="0" tIns="0" rIns="0" bIns="0" rtlCol="0" anchor="ctr"/>
          <a:lstStyle/>
          <a:p>
            <a:pPr algn="ctr" indent="0" marL="0">
              <a:buNone/>
            </a:pPr>
            <a:r>
              <a:rPr lang="en-US" sz="1600" i="1" dirty="0">
                <a:solidFill>
                  <a:srgbClr val="5A6B7B"/>
                </a:solidFill>
                <a:latin typeface="Calibri" pitchFamily="34" charset="0"/>
                <a:ea typeface="Calibri" pitchFamily="34" charset="-122"/>
                <a:cs typeface="Calibri" pitchFamily="34" charset="-120"/>
              </a:rPr>
              <a:t>Write the work once. Let the computer repeat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Your turn — before lab</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Predict the loop before you build it.</a:t>
            </a:r>
            <a:endParaRPr lang="en-US" sz="1700" dirty="0"/>
          </a:p>
        </p:txBody>
      </p:sp>
      <p:sp>
        <p:nvSpPr>
          <p:cNvPr id="4" name="Shape 2"/>
          <p:cNvSpPr/>
          <p:nvPr/>
        </p:nvSpPr>
        <p:spPr>
          <a:xfrm>
            <a:off x="640080" y="2011680"/>
            <a:ext cx="5394960" cy="3566160"/>
          </a:xfrm>
          <a:prstGeom prst="roundRect">
            <a:avLst>
              <a:gd name="adj" fmla="val 2051"/>
            </a:avLst>
          </a:prstGeom>
          <a:solidFill>
            <a:srgbClr val="FFFFFF"/>
          </a:solidFill>
          <a:ln w="12700">
            <a:solidFill>
              <a:srgbClr val="C7D2DC"/>
            </a:solidFill>
            <a:prstDash val="solid"/>
          </a:ln>
        </p:spPr>
      </p:sp>
      <p:sp>
        <p:nvSpPr>
          <p:cNvPr id="5" name="Text 3"/>
          <p:cNvSpPr/>
          <p:nvPr/>
        </p:nvSpPr>
        <p:spPr>
          <a:xfrm>
            <a:off x="91440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Count the boxes</a:t>
            </a:r>
            <a:endParaRPr lang="en-US" sz="1700" dirty="0"/>
          </a:p>
        </p:txBody>
      </p:sp>
      <p:sp>
        <p:nvSpPr>
          <p:cNvPr id="6" name="Text 4"/>
          <p:cNvSpPr/>
          <p:nvPr/>
        </p:nvSpPr>
        <p:spPr>
          <a:xfrm>
            <a:off x="914400" y="2651760"/>
            <a:ext cx="4846320" cy="274320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count i from 0 to 179 by 12</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How many boxes does this loop draw? List the first three values of i and the last one.</a:t>
            </a:r>
            <a:endParaRPr lang="en-US" sz="1400" dirty="0"/>
          </a:p>
        </p:txBody>
      </p:sp>
      <p:sp>
        <p:nvSpPr>
          <p:cNvPr id="7" name="Shape 5"/>
          <p:cNvSpPr/>
          <p:nvPr/>
        </p:nvSpPr>
        <p:spPr>
          <a:xfrm>
            <a:off x="6400800" y="2011680"/>
            <a:ext cx="5394960" cy="3566160"/>
          </a:xfrm>
          <a:prstGeom prst="roundRect">
            <a:avLst>
              <a:gd name="adj" fmla="val 2051"/>
            </a:avLst>
          </a:prstGeom>
          <a:solidFill>
            <a:srgbClr val="FFFFFF"/>
          </a:solidFill>
          <a:ln w="12700">
            <a:solidFill>
              <a:srgbClr val="C7D2DC"/>
            </a:solidFill>
            <a:prstDash val="solid"/>
          </a:ln>
        </p:spPr>
      </p:sp>
      <p:sp>
        <p:nvSpPr>
          <p:cNvPr id="8" name="Text 6"/>
          <p:cNvSpPr/>
          <p:nvPr/>
        </p:nvSpPr>
        <p:spPr>
          <a:xfrm>
            <a:off x="667512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The missing half</a:t>
            </a:r>
            <a:endParaRPr lang="en-US" sz="1700" dirty="0"/>
          </a:p>
        </p:txBody>
      </p:sp>
      <p:sp>
        <p:nvSpPr>
          <p:cNvPr id="9" name="Text 7"/>
          <p:cNvSpPr/>
          <p:nvPr/>
        </p:nvSpPr>
        <p:spPr>
          <a:xfrm>
            <a:off x="6675120" y="2651760"/>
            <a:ext cx="4846320" cy="274320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The ridges go all the way around the ring — 360 degrees. So why does the loop stop at 179?</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Hint: look at how long each box is.</a:t>
            </a:r>
            <a:endParaRPr lang="en-US" sz="1400" dirty="0"/>
          </a:p>
        </p:txBody>
      </p:sp>
      <p:sp>
        <p:nvSpPr>
          <p:cNvPr id="10" name="Text 8"/>
          <p:cNvSpPr/>
          <p:nvPr/>
        </p:nvSpPr>
        <p:spPr>
          <a:xfrm>
            <a:off x="320040" y="5897880"/>
            <a:ext cx="11521440" cy="365760"/>
          </a:xfrm>
          <a:prstGeom prst="rect">
            <a:avLst/>
          </a:prstGeom>
          <a:noFill/>
          <a:ln/>
        </p:spPr>
        <p:txBody>
          <a:bodyPr wrap="square" lIns="0" tIns="0" rIns="0" bIns="0" rtlCol="0" anchor="ctr"/>
          <a:lstStyle/>
          <a:p>
            <a:pPr algn="ctr" indent="0" marL="0">
              <a:buNone/>
            </a:pPr>
            <a:r>
              <a:rPr lang="en-US" sz="1050" dirty="0">
                <a:solidFill>
                  <a:srgbClr val="5A6B7B"/>
                </a:solidFill>
                <a:latin typeface="Courier New" pitchFamily="34" charset="0"/>
                <a:ea typeface="Courier New" pitchFamily="34" charset="-122"/>
                <a:cs typeface="Courier New" pitchFamily="34" charset="-120"/>
              </a:rPr>
              <a:t>Answers: 15 boxes · i = 0, 12, 24 ... 168 · each box crosses the whole ring, so 180° of boxes covers all 360°</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payoff: change one number</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This is why Part One made you use variables.</a:t>
            </a:r>
            <a:endParaRPr lang="en-US" sz="1700" dirty="0"/>
          </a:p>
        </p:txBody>
      </p:sp>
      <p:sp>
        <p:nvSpPr>
          <p:cNvPr id="4" name="Shape 2"/>
          <p:cNvSpPr/>
          <p:nvPr/>
        </p:nvSpPr>
        <p:spPr>
          <a:xfrm>
            <a:off x="640080" y="2194560"/>
            <a:ext cx="3108960" cy="2560320"/>
          </a:xfrm>
          <a:prstGeom prst="roundRect">
            <a:avLst>
              <a:gd name="adj" fmla="val 2857"/>
            </a:avLst>
          </a:prstGeom>
          <a:solidFill>
            <a:srgbClr val="13324F"/>
          </a:solidFill>
          <a:ln w="12700">
            <a:solidFill>
              <a:srgbClr val="13324F"/>
            </a:solidFill>
            <a:prstDash val="solid"/>
          </a:ln>
        </p:spPr>
      </p:sp>
      <p:sp>
        <p:nvSpPr>
          <p:cNvPr id="5" name="Text 3"/>
          <p:cNvSpPr/>
          <p:nvPr/>
        </p:nvSpPr>
        <p:spPr>
          <a:xfrm>
            <a:off x="640080" y="2304288"/>
            <a:ext cx="3108960" cy="1331366"/>
          </a:xfrm>
          <a:prstGeom prst="rect">
            <a:avLst/>
          </a:prstGeom>
          <a:noFill/>
          <a:ln/>
        </p:spPr>
        <p:txBody>
          <a:bodyPr wrap="square" lIns="0" tIns="0" rIns="0" bIns="0" rtlCol="0" anchor="ctr"/>
          <a:lstStyle/>
          <a:p>
            <a:pPr algn="ctr" indent="0" marL="0">
              <a:buNone/>
            </a:pPr>
            <a:r>
              <a:rPr lang="en-US" sz="4000" b="1" dirty="0">
                <a:solidFill>
                  <a:srgbClr val="3DDC84"/>
                </a:solidFill>
                <a:latin typeface="Courier New" pitchFamily="34" charset="0"/>
                <a:ea typeface="Courier New" pitchFamily="34" charset="-122"/>
                <a:cs typeface="Courier New" pitchFamily="34" charset="-120"/>
              </a:rPr>
              <a:t>1 → 2</a:t>
            </a:r>
            <a:endParaRPr lang="en-US" sz="4000" dirty="0"/>
          </a:p>
        </p:txBody>
      </p:sp>
      <p:sp>
        <p:nvSpPr>
          <p:cNvPr id="6" name="Text 4"/>
          <p:cNvSpPr/>
          <p:nvPr/>
        </p:nvSpPr>
        <p:spPr>
          <a:xfrm>
            <a:off x="640080" y="3679546"/>
            <a:ext cx="3108960" cy="411480"/>
          </a:xfrm>
          <a:prstGeom prst="rect">
            <a:avLst/>
          </a:prstGeom>
          <a:noFill/>
          <a:ln/>
        </p:spPr>
        <p:txBody>
          <a:bodyPr wrap="square" lIns="0" tIns="0" rIns="0" bIns="0" rtlCol="0" anchor="ctr"/>
          <a:lstStyle/>
          <a:p>
            <a:pPr algn="ctr" indent="0" marL="0">
              <a:buNone/>
            </a:pPr>
            <a:r>
              <a:rPr lang="en-US" sz="1800" b="1" dirty="0">
                <a:solidFill>
                  <a:srgbClr val="3DDC84"/>
                </a:solidFill>
                <a:latin typeface="Calibri" pitchFamily="34" charset="0"/>
                <a:ea typeface="Calibri" pitchFamily="34" charset="-122"/>
                <a:cs typeface="Calibri" pitchFamily="34" charset="-120"/>
              </a:rPr>
              <a:t>Thickness</a:t>
            </a:r>
            <a:endParaRPr lang="en-US" sz="1800" dirty="0"/>
          </a:p>
        </p:txBody>
      </p:sp>
      <p:sp>
        <p:nvSpPr>
          <p:cNvPr id="7" name="Shape 5"/>
          <p:cNvSpPr/>
          <p:nvPr/>
        </p:nvSpPr>
        <p:spPr>
          <a:xfrm>
            <a:off x="4114800" y="2194560"/>
            <a:ext cx="7498080" cy="2560320"/>
          </a:xfrm>
          <a:prstGeom prst="roundRect">
            <a:avLst>
              <a:gd name="adj" fmla="val 2857"/>
            </a:avLst>
          </a:prstGeom>
          <a:solidFill>
            <a:srgbClr val="FFFFFF"/>
          </a:solidFill>
          <a:ln w="12700">
            <a:solidFill>
              <a:srgbClr val="C7D2DC"/>
            </a:solidFill>
            <a:prstDash val="solid"/>
          </a:ln>
        </p:spPr>
      </p:sp>
      <p:sp>
        <p:nvSpPr>
          <p:cNvPr id="8" name="Text 6"/>
          <p:cNvSpPr/>
          <p:nvPr/>
        </p:nvSpPr>
        <p:spPr>
          <a:xfrm>
            <a:off x="4389120" y="2377440"/>
            <a:ext cx="694944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What rebuilds?</a:t>
            </a:r>
            <a:endParaRPr lang="en-US" sz="1700" dirty="0"/>
          </a:p>
        </p:txBody>
      </p:sp>
      <p:sp>
        <p:nvSpPr>
          <p:cNvPr id="9" name="Text 7"/>
          <p:cNvSpPr/>
          <p:nvPr/>
        </p:nvSpPr>
        <p:spPr>
          <a:xfrm>
            <a:off x="4389120" y="2834640"/>
            <a:ext cx="6949440" cy="173736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The ring's cylinders. The tube. The ridge boxes (their math uses Thickness). The handle's radius. The base's tube size.</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Everything — because every size traces back to the name.</a:t>
            </a:r>
            <a:endParaRPr lang="en-US" sz="1400" dirty="0"/>
          </a:p>
        </p:txBody>
      </p:sp>
      <p:sp>
        <p:nvSpPr>
          <p:cNvPr id="10" name="Text 8"/>
          <p:cNvSpPr/>
          <p:nvPr/>
        </p:nvSpPr>
        <p:spPr>
          <a:xfrm>
            <a:off x="640080" y="5212080"/>
            <a:ext cx="10972800" cy="640080"/>
          </a:xfrm>
          <a:prstGeom prst="rect">
            <a:avLst/>
          </a:prstGeom>
          <a:noFill/>
          <a:ln/>
        </p:spPr>
        <p:txBody>
          <a:bodyPr wrap="square" lIns="0" tIns="0" rIns="0" bIns="0" rtlCol="0" anchor="ctr"/>
          <a:lstStyle/>
          <a:p>
            <a:pPr algn="ctr" indent="0" marL="0">
              <a:buNone/>
            </a:pPr>
            <a:r>
              <a:rPr lang="en-US" sz="1500" b="1" dirty="0">
                <a:solidFill>
                  <a:srgbClr val="0A1F33"/>
                </a:solidFill>
                <a:latin typeface="Calibri" pitchFamily="34" charset="0"/>
                <a:ea typeface="Calibri" pitchFamily="34" charset="-122"/>
                <a:cs typeface="Calibri" pitchFamily="34" charset="-120"/>
              </a:rPr>
              <a:t>If one piece stays skinny, a plain number snuck back in. That's the difference between a 4 and a 3 on the rubric.</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From screen to printer: the .STL file</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Share → .STL → Google Classroom.</a:t>
            </a:r>
            <a:endParaRPr lang="en-US" sz="1700" dirty="0"/>
          </a:p>
        </p:txBody>
      </p:sp>
      <p:sp>
        <p:nvSpPr>
          <p:cNvPr id="4" name="Shape 2"/>
          <p:cNvSpPr/>
          <p:nvPr/>
        </p:nvSpPr>
        <p:spPr>
          <a:xfrm>
            <a:off x="640080" y="2011680"/>
            <a:ext cx="5394960" cy="3200400"/>
          </a:xfrm>
          <a:prstGeom prst="roundRect">
            <a:avLst>
              <a:gd name="adj" fmla="val 2286"/>
            </a:avLst>
          </a:prstGeom>
          <a:solidFill>
            <a:srgbClr val="FFFFFF"/>
          </a:solidFill>
          <a:ln w="12700">
            <a:solidFill>
              <a:srgbClr val="C7D2DC"/>
            </a:solidFill>
            <a:prstDash val="solid"/>
          </a:ln>
        </p:spPr>
      </p:sp>
      <p:sp>
        <p:nvSpPr>
          <p:cNvPr id="5" name="Text 3"/>
          <p:cNvSpPr/>
          <p:nvPr/>
        </p:nvSpPr>
        <p:spPr>
          <a:xfrm>
            <a:off x="91440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What an .STL is</a:t>
            </a:r>
            <a:endParaRPr lang="en-US" sz="1700" dirty="0"/>
          </a:p>
        </p:txBody>
      </p:sp>
      <p:sp>
        <p:nvSpPr>
          <p:cNvPr id="6" name="Text 4"/>
          <p:cNvSpPr/>
          <p:nvPr/>
        </p:nvSpPr>
        <p:spPr>
          <a:xfrm>
            <a:off x="914400" y="2651760"/>
            <a:ext cx="4846320" cy="237744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A mesh of tiny triangles describing your wand's surface — the one format every 3D-printing program reads. Your blocks don't go in the file; the drawn model does.</a:t>
            </a:r>
            <a:endParaRPr lang="en-US" sz="1400" dirty="0"/>
          </a:p>
        </p:txBody>
      </p:sp>
      <p:sp>
        <p:nvSpPr>
          <p:cNvPr id="7" name="Shape 5"/>
          <p:cNvSpPr/>
          <p:nvPr/>
        </p:nvSpPr>
        <p:spPr>
          <a:xfrm>
            <a:off x="6400800" y="2011680"/>
            <a:ext cx="5394960" cy="3200400"/>
          </a:xfrm>
          <a:prstGeom prst="roundRect">
            <a:avLst>
              <a:gd name="adj" fmla="val 2286"/>
            </a:avLst>
          </a:prstGeom>
          <a:solidFill>
            <a:srgbClr val="FFFFFF"/>
          </a:solidFill>
          <a:ln w="12700">
            <a:solidFill>
              <a:srgbClr val="F4B740"/>
            </a:solidFill>
            <a:prstDash val="solid"/>
          </a:ln>
        </p:spPr>
      </p:sp>
      <p:sp>
        <p:nvSpPr>
          <p:cNvPr id="8" name="Text 6"/>
          <p:cNvSpPr/>
          <p:nvPr/>
        </p:nvSpPr>
        <p:spPr>
          <a:xfrm>
            <a:off x="667512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The one rule of exporting</a:t>
            </a:r>
            <a:endParaRPr lang="en-US" sz="1700" dirty="0"/>
          </a:p>
        </p:txBody>
      </p:sp>
      <p:sp>
        <p:nvSpPr>
          <p:cNvPr id="9" name="Text 7"/>
          <p:cNvSpPr/>
          <p:nvPr/>
        </p:nvSpPr>
        <p:spPr>
          <a:xfrm>
            <a:off x="6675120" y="2651760"/>
            <a:ext cx="4846320" cy="237744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Press Play one last time BEFORE you export. The .STL captures the last thing drawn — not the blocks you just edited.</a:t>
            </a:r>
            <a:endParaRPr lang="en-US" sz="1400" dirty="0"/>
          </a:p>
        </p:txBody>
      </p:sp>
      <p:sp>
        <p:nvSpPr>
          <p:cNvPr id="10" name="Text 8"/>
          <p:cNvSpPr/>
          <p:nvPr/>
        </p:nvSpPr>
        <p:spPr>
          <a:xfrm>
            <a:off x="640080" y="5486400"/>
            <a:ext cx="10972800" cy="548640"/>
          </a:xfrm>
          <a:prstGeom prst="rect">
            <a:avLst/>
          </a:prstGeom>
          <a:noFill/>
          <a:ln/>
        </p:spPr>
        <p:txBody>
          <a:bodyPr wrap="square" lIns="0" tIns="0" rIns="0" bIns="0" rtlCol="0" anchor="ctr"/>
          <a:lstStyle/>
          <a:p>
            <a:pPr algn="ctr" indent="0" marL="0">
              <a:buNone/>
            </a:pPr>
            <a:r>
              <a:rPr lang="en-US" sz="1500" b="1" dirty="0">
                <a:solidFill>
                  <a:srgbClr val="0A1F33"/>
                </a:solidFill>
                <a:latin typeface="Calibri" pitchFamily="34" charset="0"/>
                <a:ea typeface="Calibri" pitchFamily="34" charset="-122"/>
                <a:cs typeface="Calibri" pitchFamily="34" charset="-120"/>
              </a:rPr>
              <a:t>Then submit the downloaded file in Google Classroom. Filename tip: it should not be called download (3).stl.</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731520" y="109728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mission</a:t>
            </a:r>
            <a:endParaRPr lang="en-US" sz="4000" dirty="0"/>
          </a:p>
        </p:txBody>
      </p:sp>
      <p:sp>
        <p:nvSpPr>
          <p:cNvPr id="3" name="Shape 1"/>
          <p:cNvSpPr/>
          <p:nvPr/>
        </p:nvSpPr>
        <p:spPr>
          <a:xfrm>
            <a:off x="731520" y="2286000"/>
            <a:ext cx="502920" cy="502920"/>
          </a:xfrm>
          <a:prstGeom prst="roundRect">
            <a:avLst>
              <a:gd name="adj" fmla="val 10909"/>
            </a:avLst>
          </a:prstGeom>
          <a:solidFill>
            <a:srgbClr val="3DDC84"/>
          </a:solidFill>
          <a:ln/>
        </p:spPr>
      </p:sp>
      <p:sp>
        <p:nvSpPr>
          <p:cNvPr id="4" name="Text 2"/>
          <p:cNvSpPr/>
          <p:nvPr/>
        </p:nvSpPr>
        <p:spPr>
          <a:xfrm>
            <a:off x="731520" y="22860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463040" y="2258568"/>
            <a:ext cx="9966960" cy="566928"/>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Loop a ring of evenly spaced ridges around the blower — then trim the centers clean.</a:t>
            </a:r>
            <a:endParaRPr lang="en-US" sz="1650" dirty="0"/>
          </a:p>
        </p:txBody>
      </p:sp>
      <p:sp>
        <p:nvSpPr>
          <p:cNvPr id="6" name="Shape 4"/>
          <p:cNvSpPr/>
          <p:nvPr/>
        </p:nvSpPr>
        <p:spPr>
          <a:xfrm>
            <a:off x="731520" y="3200400"/>
            <a:ext cx="502920" cy="502920"/>
          </a:xfrm>
          <a:prstGeom prst="roundRect">
            <a:avLst>
              <a:gd name="adj" fmla="val 10909"/>
            </a:avLst>
          </a:prstGeom>
          <a:solidFill>
            <a:srgbClr val="3DDC84"/>
          </a:solidFill>
          <a:ln/>
        </p:spPr>
      </p:sp>
      <p:sp>
        <p:nvSpPr>
          <p:cNvPr id="7" name="Text 5"/>
          <p:cNvSpPr/>
          <p:nvPr/>
        </p:nvSpPr>
        <p:spPr>
          <a:xfrm>
            <a:off x="731520" y="32004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463040" y="3172968"/>
            <a:ext cx="9966960" cy="566928"/>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Change Thickness once and watch the whole wand rebuild. No piece left behind.</a:t>
            </a:r>
            <a:endParaRPr lang="en-US" sz="1650" dirty="0"/>
          </a:p>
        </p:txBody>
      </p:sp>
      <p:sp>
        <p:nvSpPr>
          <p:cNvPr id="9" name="Shape 7"/>
          <p:cNvSpPr/>
          <p:nvPr/>
        </p:nvSpPr>
        <p:spPr>
          <a:xfrm>
            <a:off x="731520" y="4114800"/>
            <a:ext cx="502920" cy="502920"/>
          </a:xfrm>
          <a:prstGeom prst="roundRect">
            <a:avLst>
              <a:gd name="adj" fmla="val 10909"/>
            </a:avLst>
          </a:prstGeom>
          <a:solidFill>
            <a:srgbClr val="3DDC84"/>
          </a:solidFill>
          <a:ln/>
        </p:spPr>
      </p:sp>
      <p:sp>
        <p:nvSpPr>
          <p:cNvPr id="10" name="Text 8"/>
          <p:cNvSpPr/>
          <p:nvPr/>
        </p:nvSpPr>
        <p:spPr>
          <a:xfrm>
            <a:off x="731520" y="41148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463040" y="4087368"/>
            <a:ext cx="9966960" cy="566928"/>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Turn it in: your bubble wand's .STL file, submitted in Google Classroom.</a:t>
            </a:r>
            <a:endParaRPr lang="en-US" sz="1650" dirty="0"/>
          </a:p>
        </p:txBody>
      </p:sp>
      <p:sp>
        <p:nvSpPr>
          <p:cNvPr id="12" name="Text 10"/>
          <p:cNvSpPr/>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a fingerboard with trucks, axles, and snap-on wheels — and the training wheels come off.</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2026-08-19T15:28:16Z</dcterms:created>
  <dcterms:modified xsi:type="dcterms:W3CDTF">2026-08-19T15:28:16Z</dcterms:modified>
</cp:coreProperties>
</file>